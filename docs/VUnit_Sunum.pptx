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6"/>
  </p:sldMasterIdLst>
  <p:notesMasterIdLst>
    <p:notesMasterId r:id="rId49"/>
  </p:notesMasterIdLst>
  <p:handoutMasterIdLst>
    <p:handoutMasterId r:id="rId50"/>
  </p:handout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2000" cy="6858000"/>
  <p:notesSz cx="6797675" cy="9926638"/>
  <p:embeddedFontLst>
    <p:embeddedFont>
      <p:font typeface="Calibri" panose="020F0502020204030204" pitchFamily="34" charset="0"/>
      <p:regular r:id="rId51"/>
      <p:bold r:id="rId52"/>
      <p:italic r:id="rId53"/>
      <p:boldItalic r:id="rId54"/>
    </p:embeddedFont>
    <p:embeddedFont>
      <p:font typeface="Consolas" panose="020B0609020204030204" pitchFamily="49" charset="0"/>
      <p:regular r:id="rId55"/>
      <p:bold r:id="rId56"/>
      <p:italic r:id="rId57"/>
      <p:boldItalic r:id="rId58"/>
    </p:embeddedFont>
    <p:embeddedFont>
      <p:font typeface="Posterama" panose="020B0504020200020000" pitchFamily="34" charset="0"/>
      <p:regular r:id="rId59"/>
      <p:bold r:id="rId60"/>
      <p:italic r:id="rId61"/>
      <p:boldItalic r:id="rId62"/>
    </p:embeddedFont>
    <p:embeddedFont>
      <p:font typeface="Segoe UI" panose="020B0502040204020203" pitchFamily="34" charset="0"/>
      <p:regular r:id="rId63"/>
      <p:bold r:id="rId64"/>
      <p:italic r:id="rId65"/>
      <p:boldItalic r:id="rId66"/>
    </p:embeddedFont>
    <p:embeddedFont>
      <p:font typeface="Segoe UI Black" panose="020B0A02040204020203" pitchFamily="34" charset="0"/>
      <p:bold r:id="rId67"/>
      <p:boldItalic r:id="rId68"/>
    </p:embeddedFont>
    <p:embeddedFont>
      <p:font typeface="Segoe UI Semibold" panose="020B0702040204020203" pitchFamily="34" charset="0"/>
      <p:bold r:id="rId69"/>
      <p:boldItalic r:id="rId70"/>
    </p:embeddedFont>
    <p:embeddedFont>
      <p:font typeface="Source Sans Pro" panose="020B0503030403020204" pitchFamily="34" charset="0"/>
      <p:regular r:id="rId71"/>
      <p:bold r:id="rId72"/>
      <p:italic r:id="rId73"/>
      <p:boldItalic r:id="rId74"/>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SELSAN" id="{93DD7066-AEC4-4222-8AF9-CDFEECF47427}">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CF38"/>
    <a:srgbClr val="003087"/>
    <a:srgbClr val="FF6635"/>
    <a:srgbClr val="FF5620"/>
    <a:srgbClr val="002543"/>
    <a:srgbClr val="077780"/>
    <a:srgbClr val="FF8022"/>
    <a:srgbClr val="EBEBEE"/>
    <a:srgbClr val="002D7A"/>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42" autoAdjust="0"/>
    <p:restoredTop sz="96410" autoAdjust="0"/>
  </p:normalViewPr>
  <p:slideViewPr>
    <p:cSldViewPr snapToGrid="0">
      <p:cViewPr varScale="1">
        <p:scale>
          <a:sx n="129" d="100"/>
          <a:sy n="129" d="100"/>
        </p:scale>
        <p:origin x="708" y="102"/>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font" Target="fonts/font13.fntdata"/><Relationship Id="rId68" Type="http://schemas.openxmlformats.org/officeDocument/2006/relationships/font" Target="fonts/font18.fntdata"/><Relationship Id="rId16" Type="http://schemas.openxmlformats.org/officeDocument/2006/relationships/slide" Target="slides/slide10.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74" Type="http://schemas.openxmlformats.org/officeDocument/2006/relationships/font" Target="fonts/font24.fntdata"/><Relationship Id="rId5" Type="http://schemas.openxmlformats.org/officeDocument/2006/relationships/customXml" Target="../customXml/item5.xml"/><Relationship Id="rId61" Type="http://schemas.openxmlformats.org/officeDocument/2006/relationships/font" Target="fonts/font11.fntdata"/><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font" Target="fonts/font19.fntdata"/><Relationship Id="rId77"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font" Target="fonts/font1.fntdata"/><Relationship Id="rId72" Type="http://schemas.openxmlformats.org/officeDocument/2006/relationships/font" Target="fonts/font22.fntdata"/><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font" Target="fonts/font9.fntdata"/><Relationship Id="rId67" Type="http://schemas.openxmlformats.org/officeDocument/2006/relationships/font" Target="fonts/font17.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font" Target="fonts/font20.fntdata"/><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notesMaster" Target="notesMasters/notesMaster1.xml"/><Relationship Id="rId57" Type="http://schemas.openxmlformats.org/officeDocument/2006/relationships/font" Target="fonts/font7.fntdata"/><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schemas.openxmlformats.org/officeDocument/2006/relationships/font" Target="fonts/font23.fntdata"/><Relationship Id="rId78"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handoutMaster" Target="handoutMasters/handoutMaster1.xml"/><Relationship Id="rId55" Type="http://schemas.openxmlformats.org/officeDocument/2006/relationships/font" Target="fonts/font5.fntdata"/><Relationship Id="rId76" Type="http://schemas.openxmlformats.org/officeDocument/2006/relationships/viewProps" Target="viewProps.xml"/><Relationship Id="rId7" Type="http://schemas.openxmlformats.org/officeDocument/2006/relationships/slide" Target="slides/slide1.xml"/><Relationship Id="rId71" Type="http://schemas.openxmlformats.org/officeDocument/2006/relationships/font" Target="fonts/font21.fntdata"/><Relationship Id="rId2" Type="http://schemas.openxmlformats.org/officeDocument/2006/relationships/customXml" Target="../customXml/item2.xml"/><Relationship Id="rId29" Type="http://schemas.openxmlformats.org/officeDocument/2006/relationships/slide" Target="slides/slide2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8E6431-A79F-4691-AEA7-6E09E7B1FF0D}"/>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Date Placeholder 2">
            <a:extLst>
              <a:ext uri="{FF2B5EF4-FFF2-40B4-BE49-F238E27FC236}">
                <a16:creationId xmlns:a16="http://schemas.microsoft.com/office/drawing/2014/main" id="{C00843A7-623F-4CBE-BDDF-33813BBAEFE2}"/>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0AB740B6-646D-4A4C-AEDE-E73833C6E508}" type="datetimeFigureOut">
              <a:rPr lang="tr-TR" smtClean="0"/>
              <a:t>23.08.2026</a:t>
            </a:fld>
            <a:endParaRPr lang="tr-TR"/>
          </a:p>
        </p:txBody>
      </p:sp>
      <p:sp>
        <p:nvSpPr>
          <p:cNvPr id="4" name="Footer Placeholder 3">
            <a:extLst>
              <a:ext uri="{FF2B5EF4-FFF2-40B4-BE49-F238E27FC236}">
                <a16:creationId xmlns:a16="http://schemas.microsoft.com/office/drawing/2014/main" id="{5A51A982-76FD-43B3-89D7-8121928D1225}"/>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5" name="Slide Number Placeholder 4">
            <a:extLst>
              <a:ext uri="{FF2B5EF4-FFF2-40B4-BE49-F238E27FC236}">
                <a16:creationId xmlns:a16="http://schemas.microsoft.com/office/drawing/2014/main" id="{56960F27-9299-4461-9481-B66A2F1BF762}"/>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D12C0598-3F49-47EA-A73A-00936C53184B}" type="slidenum">
              <a:rPr lang="tr-TR" smtClean="0"/>
              <a:t>‹#›</a:t>
            </a:fld>
            <a:endParaRPr lang="tr-TR"/>
          </a:p>
        </p:txBody>
      </p:sp>
    </p:spTree>
    <p:extLst>
      <p:ext uri="{BB962C8B-B14F-4D97-AF65-F5344CB8AC3E}">
        <p14:creationId xmlns:p14="http://schemas.microsoft.com/office/powerpoint/2010/main" val="161085023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3D126F64-650B-4185-81A8-0D0989901828}" type="datetimeFigureOut">
              <a:rPr lang="tr-TR" smtClean="0"/>
              <a:t>23.08.2026</a:t>
            </a:fld>
            <a:endParaRPr lang="tr-TR"/>
          </a:p>
        </p:txBody>
      </p:sp>
      <p:sp>
        <p:nvSpPr>
          <p:cNvPr id="4" name="Slayt Resmi Yer Tutucusu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145DDAFB-7AE0-4170-B9CE-C1E67ACBDE43}" type="slidenum">
              <a:rPr lang="tr-TR" smtClean="0"/>
              <a:t>‹#›</a:t>
            </a:fld>
            <a:endParaRPr lang="tr-TR"/>
          </a:p>
        </p:txBody>
      </p:sp>
    </p:spTree>
    <p:extLst>
      <p:ext uri="{BB962C8B-B14F-4D97-AF65-F5344CB8AC3E}">
        <p14:creationId xmlns:p14="http://schemas.microsoft.com/office/powerpoint/2010/main" val="137572283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SELSAN_MAST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C4A3F6-F0EE-4B67-9AE7-538725797B9C}"/>
              </a:ext>
            </a:extLst>
          </p:cNvPr>
          <p:cNvSpPr/>
          <p:nvPr userDrawn="1"/>
        </p:nvSpPr>
        <p:spPr>
          <a:xfrm>
            <a:off x="0" y="1"/>
            <a:ext cx="12192000"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Rectangle 10">
            <a:extLst>
              <a:ext uri="{FF2B5EF4-FFF2-40B4-BE49-F238E27FC236}">
                <a16:creationId xmlns:a16="http://schemas.microsoft.com/office/drawing/2014/main" id="{0F9493B5-CA16-4EBB-A083-B213EF16796C}"/>
              </a:ext>
            </a:extLst>
          </p:cNvPr>
          <p:cNvSpPr/>
          <p:nvPr userDrawn="1"/>
        </p:nvSpPr>
        <p:spPr>
          <a:xfrm>
            <a:off x="0" y="-8805"/>
            <a:ext cx="12192000" cy="6865882"/>
          </a:xfrm>
          <a:prstGeom prst="rect">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77" name="Rounded Rectangle 10">
            <a:extLst>
              <a:ext uri="{FF2B5EF4-FFF2-40B4-BE49-F238E27FC236}">
                <a16:creationId xmlns:a16="http://schemas.microsoft.com/office/drawing/2014/main" id="{EF6AA81D-52A3-47E3-A296-08352AF39B88}"/>
              </a:ext>
            </a:extLst>
          </p:cNvPr>
          <p:cNvSpPr/>
          <p:nvPr userDrawn="1"/>
        </p:nvSpPr>
        <p:spPr>
          <a:xfrm>
            <a:off x="4766553" y="291830"/>
            <a:ext cx="7062281" cy="6264613"/>
          </a:xfrm>
          <a:prstGeom prst="roundRect">
            <a:avLst>
              <a:gd name="adj" fmla="val 6457"/>
            </a:avLst>
          </a:prstGeom>
          <a:solidFill>
            <a:srgbClr val="FFFFFF"/>
          </a:solidFill>
          <a:effectLst>
            <a:outerShdw blurRad="1087927"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78" name="Rectangle: Rounded Corners 40">
            <a:extLst>
              <a:ext uri="{FF2B5EF4-FFF2-40B4-BE49-F238E27FC236}">
                <a16:creationId xmlns:a16="http://schemas.microsoft.com/office/drawing/2014/main" id="{4D1EF7EB-55D3-4EE7-A1DA-2327835C2ACD}"/>
              </a:ext>
            </a:extLst>
          </p:cNvPr>
          <p:cNvSpPr/>
          <p:nvPr userDrawn="1"/>
        </p:nvSpPr>
        <p:spPr>
          <a:xfrm>
            <a:off x="5407103" y="4720353"/>
            <a:ext cx="5799161" cy="1306154"/>
          </a:xfrm>
          <a:prstGeom prst="roundRect">
            <a:avLst>
              <a:gd name="adj" fmla="val 10322"/>
            </a:avLst>
          </a:prstGeom>
          <a:solidFill>
            <a:srgbClr val="FF5620"/>
          </a:solidFill>
          <a:ln w="19050">
            <a:noFill/>
          </a:ln>
          <a:effectLst/>
        </p:spPr>
        <p:txBody>
          <a:bodyPr vert="horz" wrap="square" lIns="91440" tIns="45720" rIns="91440" bIns="45720" numCol="1" anchor="t" anchorCtr="0" compatLnSpc="1">
            <a:prstTxWarp prst="textNoShape">
              <a:avLst/>
            </a:prstTxWarp>
          </a:bodyPr>
          <a:lstStyle/>
          <a:p>
            <a:endParaRPr lang="en-ID" kern="0" dirty="0">
              <a:solidFill>
                <a:prstClr val="black"/>
              </a:solidFill>
              <a:latin typeface="Calibri" panose="020F0502020204030204" pitchFamily="34" charset="0"/>
            </a:endParaRPr>
          </a:p>
        </p:txBody>
      </p:sp>
    </p:spTree>
    <p:extLst>
      <p:ext uri="{BB962C8B-B14F-4D97-AF65-F5344CB8AC3E}">
        <p14:creationId xmlns:p14="http://schemas.microsoft.com/office/powerpoint/2010/main" val="1187062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ÜNDEM">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3444B44-4A70-4031-9D03-BBCBCC73B5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66" y="3806"/>
            <a:ext cx="12178468" cy="6850388"/>
          </a:xfrm>
          <a:prstGeom prst="rect">
            <a:avLst/>
          </a:prstGeom>
          <a:blipFill>
            <a:blip r:embed="rId3"/>
            <a:stretch>
              <a:fillRect/>
            </a:stretch>
          </a:blipFill>
        </p:spPr>
      </p:pic>
      <p:cxnSp>
        <p:nvCxnSpPr>
          <p:cNvPr id="7" name="Straight Connector 6">
            <a:extLst>
              <a:ext uri="{FF2B5EF4-FFF2-40B4-BE49-F238E27FC236}">
                <a16:creationId xmlns:a16="http://schemas.microsoft.com/office/drawing/2014/main" id="{B0189CC1-5D7A-41BE-A905-EC72AF42E5DF}"/>
              </a:ext>
            </a:extLst>
          </p:cNvPr>
          <p:cNvCxnSpPr>
            <a:cxnSpLocks/>
          </p:cNvCxnSpPr>
          <p:nvPr userDrawn="1"/>
        </p:nvCxnSpPr>
        <p:spPr>
          <a:xfrm>
            <a:off x="738504" y="959618"/>
            <a:ext cx="0" cy="5175175"/>
          </a:xfrm>
          <a:prstGeom prst="line">
            <a:avLst/>
          </a:prstGeom>
          <a:ln w="28575">
            <a:solidFill>
              <a:srgbClr val="003087"/>
            </a:solidFill>
          </a:ln>
        </p:spPr>
        <p:style>
          <a:lnRef idx="1">
            <a:schemeClr val="accent1"/>
          </a:lnRef>
          <a:fillRef idx="0">
            <a:schemeClr val="accent1"/>
          </a:fillRef>
          <a:effectRef idx="0">
            <a:schemeClr val="accent1"/>
          </a:effectRef>
          <a:fontRef idx="minor">
            <a:schemeClr val="tx1"/>
          </a:fontRef>
        </p:style>
      </p:cxnSp>
      <p:sp>
        <p:nvSpPr>
          <p:cNvPr id="8" name="Rounded Rectangle 10">
            <a:extLst>
              <a:ext uri="{FF2B5EF4-FFF2-40B4-BE49-F238E27FC236}">
                <a16:creationId xmlns:a16="http://schemas.microsoft.com/office/drawing/2014/main" id="{E69E8E51-13B1-4BE7-A04A-0B29449B4A0C}"/>
              </a:ext>
            </a:extLst>
          </p:cNvPr>
          <p:cNvSpPr/>
          <p:nvPr userDrawn="1"/>
        </p:nvSpPr>
        <p:spPr>
          <a:xfrm>
            <a:off x="0" y="0"/>
            <a:ext cx="12191993" cy="1190649"/>
          </a:xfrm>
          <a:prstGeom prst="roundRect">
            <a:avLst>
              <a:gd name="adj" fmla="val 6457"/>
            </a:avLst>
          </a:prstGeom>
          <a:solidFill>
            <a:srgbClr val="FFFFFF"/>
          </a:solidFill>
          <a:effectLst>
            <a:outerShdw blurRad="381000"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&lt;?xml version="1.0" encoding="UTF-8"?&gt;&lt;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svg</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 id="Layer_1" data-name="Layer 1" </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xmlns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="http://www.w3.org/2000/svg" </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viewBox</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="0 0 3200 1801.62"&gt;  &lt;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defs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    &lt;style&gt;      .cls-1 {        fill: #c1c1c1;      }    &lt;/style&gt;  &lt;/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defs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  &lt;path class="cls-1" d="M4309.61,1314.68l664.45-833.19c56.16-70.43,77.2-162.59,57.16-250.41l-237.14-1038.97c-20.04-87.82-78.99-161.73-160.15-200.82l-960.16-462.39c-81.16-39.08-175.7-39.08-256.85,0l-960.16,462.39c-81.16,39.08-140.1,113-160.15,200.82l-237.14,1038.97c-20.04,87.82,.99,179.99,57.16,250.41l664.45,833.19c56.16,70.43,141.34,111.44,231.42,111.44h1065.69c90.08,0,175.25-41.02,231.42-111.45Z"/&gt;&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svg</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a:t>
            </a:r>
          </a:p>
        </p:txBody>
      </p:sp>
      <p:sp>
        <p:nvSpPr>
          <p:cNvPr id="6" name="TextBox 5">
            <a:extLst>
              <a:ext uri="{FF2B5EF4-FFF2-40B4-BE49-F238E27FC236}">
                <a16:creationId xmlns:a16="http://schemas.microsoft.com/office/drawing/2014/main" id="{352D322E-CFAD-4302-98BF-20F17256178F}"/>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4052853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R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BBE562-3E9B-4289-8444-32FE050C7B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itle 3">
            <a:extLst>
              <a:ext uri="{FF2B5EF4-FFF2-40B4-BE49-F238E27FC236}">
                <a16:creationId xmlns:a16="http://schemas.microsoft.com/office/drawing/2014/main" id="{D276C3F1-7F8D-4F73-82CE-EB8562DB187C}"/>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latin typeface="Segoe UI Black" panose="020B0A02040204020203" pitchFamily="34" charset="0"/>
                <a:ea typeface="Segoe UI Black" panose="020B0A02040204020203" pitchFamily="34" charset="0"/>
              </a:defRPr>
            </a:lvl1pPr>
          </a:lstStyle>
          <a:p>
            <a:pPr lvl="0"/>
            <a:r>
              <a:rPr lang="en-US" dirty="0"/>
              <a:t>Click to edit Master title style</a:t>
            </a:r>
            <a:endParaRPr lang="tr-TR" dirty="0"/>
          </a:p>
        </p:txBody>
      </p:sp>
      <p:sp>
        <p:nvSpPr>
          <p:cNvPr id="8" name="Text Placeholder 5">
            <a:extLst>
              <a:ext uri="{FF2B5EF4-FFF2-40B4-BE49-F238E27FC236}">
                <a16:creationId xmlns:a16="http://schemas.microsoft.com/office/drawing/2014/main" id="{CB192974-564B-4CB6-8403-B748517647B2}"/>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2" name="TextBox 11">
            <a:extLst>
              <a:ext uri="{FF2B5EF4-FFF2-40B4-BE49-F238E27FC236}">
                <a16:creationId xmlns:a16="http://schemas.microsoft.com/office/drawing/2014/main" id="{D47051C9-0D3C-4A28-8D21-5619826A7E24}"/>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1859072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SELSAN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A778907C-1DE9-410A-B218-F36AE6BFA189}"/>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EE6B1F48-14DC-43AB-A8AF-1E381E4EA43D}"/>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1" name="TextBox 10">
            <a:extLst>
              <a:ext uri="{FF2B5EF4-FFF2-40B4-BE49-F238E27FC236}">
                <a16:creationId xmlns:a16="http://schemas.microsoft.com/office/drawing/2014/main" id="{1632DA59-EDF8-4457-8CF3-758EB32ED887}"/>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pic>
        <p:nvPicPr>
          <p:cNvPr id="5" name="Picture 4">
            <a:extLst>
              <a:ext uri="{FF2B5EF4-FFF2-40B4-BE49-F238E27FC236}">
                <a16:creationId xmlns:a16="http://schemas.microsoft.com/office/drawing/2014/main" id="{90E4F763-14BC-4DC2-9CBF-B0A3C81DF0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7211" y="6366320"/>
            <a:ext cx="438546" cy="439017"/>
          </a:xfrm>
          <a:prstGeom prst="rect">
            <a:avLst/>
          </a:prstGeom>
        </p:spPr>
      </p:pic>
    </p:spTree>
    <p:extLst>
      <p:ext uri="{BB962C8B-B14F-4D97-AF65-F5344CB8AC3E}">
        <p14:creationId xmlns:p14="http://schemas.microsoft.com/office/powerpoint/2010/main" val="712765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İZMETE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870BEECA-EC1A-4F4C-814A-D962AA4777D1}"/>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698A1369-A41B-4771-8ADB-8BC54D35FBCC}"/>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0" name="TextBox 9">
            <a:extLst>
              <a:ext uri="{FF2B5EF4-FFF2-40B4-BE49-F238E27FC236}">
                <a16:creationId xmlns:a16="http://schemas.microsoft.com/office/drawing/2014/main" id="{F53DA368-FF7B-4E95-A00F-1CD188007566}"/>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TASNİF DIŞI</a:t>
            </a:r>
          </a:p>
        </p:txBody>
      </p:sp>
      <p:pic>
        <p:nvPicPr>
          <p:cNvPr id="5" name="Picture 4">
            <a:extLst>
              <a:ext uri="{FF2B5EF4-FFF2-40B4-BE49-F238E27FC236}">
                <a16:creationId xmlns:a16="http://schemas.microsoft.com/office/drawing/2014/main" id="{B9A11C57-41BE-4318-9598-DDF713763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7211" y="6366320"/>
            <a:ext cx="438546" cy="439017"/>
          </a:xfrm>
          <a:prstGeom prst="rect">
            <a:avLst/>
          </a:prstGeom>
        </p:spPr>
      </p:pic>
    </p:spTree>
    <p:extLst>
      <p:ext uri="{BB962C8B-B14F-4D97-AF65-F5344CB8AC3E}">
        <p14:creationId xmlns:p14="http://schemas.microsoft.com/office/powerpoint/2010/main" val="301517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 name="Picture 2">
            <a:extLst>
              <a:ext uri="{FF2B5EF4-FFF2-40B4-BE49-F238E27FC236}">
                <a16:creationId xmlns:a16="http://schemas.microsoft.com/office/drawing/2014/main" id="{FF60B213-FE2D-41FD-9B4A-8C2A887299F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02154" y="4567830"/>
            <a:ext cx="4387693" cy="1638751"/>
          </a:xfrm>
          <a:prstGeom prst="rect">
            <a:avLst/>
          </a:prstGeom>
        </p:spPr>
      </p:pic>
    </p:spTree>
    <p:extLst>
      <p:ext uri="{BB962C8B-B14F-4D97-AF65-F5344CB8AC3E}">
        <p14:creationId xmlns:p14="http://schemas.microsoft.com/office/powerpoint/2010/main" val="714990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con se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504978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E764F9-DD66-45F3-8B8C-B3E3FD9829BD}"/>
              </a:ext>
            </a:extLst>
          </p:cNvPr>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34DAA0DA-4370-4950-932B-0F797D019F1F}"/>
              </a:ext>
            </a:extLst>
          </p:cNvPr>
          <p:cNvSpPr/>
          <p:nvPr userDrawn="1"/>
        </p:nvSpPr>
        <p:spPr>
          <a:xfrm>
            <a:off x="10603788" y="6460258"/>
            <a:ext cx="665567" cy="307777"/>
          </a:xfrm>
          <a:prstGeom prst="rect">
            <a:avLst/>
          </a:prstGeom>
        </p:spPr>
        <p:txBody>
          <a:bodyPr wrap="none">
            <a:spAutoFit/>
          </a:bodyPr>
          <a:lstStyle/>
          <a:p>
            <a:pPr algn="ctr"/>
            <a:fld id="{98D512E5-7CAC-4FDD-81A1-D37F136070B3}" type="slidenum">
              <a:rPr lang="tr-TR" sz="1400" smtClean="0">
                <a:solidFill>
                  <a:schemeClr val="bg1"/>
                </a:solidFill>
                <a:latin typeface="Segoe UI" panose="020B0502040204020203" pitchFamily="34" charset="0"/>
                <a:cs typeface="Segoe UI" panose="020B0502040204020203" pitchFamily="34" charset="0"/>
              </a:rPr>
              <a:t>‹#›</a:t>
            </a:fld>
            <a:r>
              <a:rPr lang="tr-TR" sz="1400" dirty="0">
                <a:solidFill>
                  <a:schemeClr val="bg1"/>
                </a:solidFill>
                <a:latin typeface="Segoe UI" panose="020B0502040204020203" pitchFamily="34" charset="0"/>
                <a:cs typeface="Segoe UI" panose="020B0502040204020203" pitchFamily="34" charset="0"/>
              </a:rPr>
              <a:t>/22</a:t>
            </a:r>
          </a:p>
        </p:txBody>
      </p:sp>
    </p:spTree>
    <p:extLst>
      <p:ext uri="{BB962C8B-B14F-4D97-AF65-F5344CB8AC3E}">
        <p14:creationId xmlns:p14="http://schemas.microsoft.com/office/powerpoint/2010/main" val="1031558323"/>
      </p:ext>
    </p:extLst>
  </p:cSld>
  <p:clrMap bg1="lt1" tx1="dk1" bg2="lt2" tx2="dk2" accent1="accent1" accent2="accent2" accent3="accent3" accent4="accent4" accent5="accent5" accent6="accent6" hlink="hlink" folHlink="folHlink"/>
  <p:sldLayoutIdLst>
    <p:sldLayoutId id="2147483653" r:id="rId1"/>
    <p:sldLayoutId id="2147483651" r:id="rId2"/>
    <p:sldLayoutId id="2147483650" r:id="rId3"/>
    <p:sldLayoutId id="2147483654" r:id="rId4"/>
    <p:sldLayoutId id="2147483657" r:id="rId5"/>
    <p:sldLayoutId id="2147483652" r:id="rId6"/>
    <p:sldLayoutId id="2147483656" r:id="rId7"/>
  </p:sldLayoutIdLst>
  <p:hf hdr="0" ftr="0" dt="0"/>
  <p:txStyles>
    <p:titleStyle>
      <a:lvl1pPr marL="0" marR="0" indent="0" algn="l" defTabSz="914400" rtl="0" eaLnBrk="1" fontAlgn="auto" latinLnBrk="0" hangingPunct="1">
        <a:lnSpc>
          <a:spcPts val="4500"/>
        </a:lnSpc>
        <a:spcBef>
          <a:spcPts val="0"/>
        </a:spcBef>
        <a:spcAft>
          <a:spcPts val="0"/>
        </a:spcAft>
        <a:buClrTx/>
        <a:buSzTx/>
        <a:buFontTx/>
        <a:buNone/>
        <a:tabLst/>
        <a:defRPr kumimoji="0" lang="tr-TR" sz="3200" b="1" i="0" u="none" strike="noStrike" kern="1200" cap="none" spc="0" normalizeH="0" baseline="0" noProof="0">
          <a:ln>
            <a:noFill/>
          </a:ln>
          <a:noFill/>
          <a:effectLst/>
          <a:uLnTx/>
          <a:uFillTx/>
          <a:latin typeface="Posterama" panose="020B0504020200020000" pitchFamily="34" charset="0"/>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13248" y="1234440"/>
            <a:ext cx="5760720" cy="2194560"/>
          </a:xfrm>
          <a:prstGeom prst="rect">
            <a:avLst/>
          </a:prstGeom>
          <a:noFill/>
        </p:spPr>
        <p:txBody>
          <a:bodyPr wrap="square" lIns="0" tIns="0" rIns="0" bIns="0">
            <a:spAutoFit/>
          </a:bodyPr>
          <a:lstStyle/>
          <a:p>
            <a:pPr algn="l">
              <a:lnSpc>
                <a:spcPct val="105000"/>
              </a:lnSpc>
              <a:spcAft>
                <a:spcPts val="200"/>
              </a:spcAft>
            </a:pPr>
            <a:r>
              <a:rPr sz="4000" b="1" i="0">
                <a:solidFill>
                  <a:srgbClr val="002D7A"/>
                </a:solidFill>
                <a:latin typeface="Segoe UI Black"/>
              </a:rPr>
              <a:t>PYTHON İLE</a:t>
            </a:r>
          </a:p>
          <a:p>
            <a:pPr algn="l">
              <a:lnSpc>
                <a:spcPct val="105000"/>
              </a:lnSpc>
              <a:spcAft>
                <a:spcPts val="200"/>
              </a:spcAft>
            </a:pPr>
            <a:r>
              <a:rPr sz="4000" b="1" i="0">
                <a:solidFill>
                  <a:srgbClr val="002D7A"/>
                </a:solidFill>
                <a:latin typeface="Segoe UI Black"/>
              </a:rPr>
              <a:t>VHDL DOĞRULAMA</a:t>
            </a:r>
          </a:p>
        </p:txBody>
      </p:sp>
      <p:sp>
        <p:nvSpPr>
          <p:cNvPr id="3" name="TextBox 2"/>
          <p:cNvSpPr txBox="1"/>
          <p:nvPr/>
        </p:nvSpPr>
        <p:spPr>
          <a:xfrm>
            <a:off x="5413248" y="3154680"/>
            <a:ext cx="5760720" cy="685800"/>
          </a:xfrm>
          <a:prstGeom prst="rect">
            <a:avLst/>
          </a:prstGeom>
          <a:noFill/>
        </p:spPr>
        <p:txBody>
          <a:bodyPr wrap="square" lIns="0" tIns="0" rIns="0" bIns="0">
            <a:spAutoFit/>
          </a:bodyPr>
          <a:lstStyle/>
          <a:p>
            <a:pPr algn="l">
              <a:spcAft>
                <a:spcPts val="600"/>
              </a:spcAft>
            </a:pPr>
            <a:r>
              <a:rPr sz="5400" b="1" i="0">
                <a:solidFill>
                  <a:srgbClr val="FF5620"/>
                </a:solidFill>
                <a:latin typeface="Segoe UI Black"/>
              </a:rPr>
              <a:t>VUnit</a:t>
            </a:r>
          </a:p>
        </p:txBody>
      </p:sp>
      <p:sp>
        <p:nvSpPr>
          <p:cNvPr id="4" name="TextBox 3"/>
          <p:cNvSpPr txBox="1"/>
          <p:nvPr/>
        </p:nvSpPr>
        <p:spPr>
          <a:xfrm>
            <a:off x="5440680" y="3950208"/>
            <a:ext cx="5760720" cy="457200"/>
          </a:xfrm>
          <a:prstGeom prst="rect">
            <a:avLst/>
          </a:prstGeom>
          <a:noFill/>
        </p:spPr>
        <p:txBody>
          <a:bodyPr wrap="square" lIns="0" tIns="0" rIns="0" bIns="0">
            <a:spAutoFit/>
          </a:bodyPr>
          <a:lstStyle/>
          <a:p>
            <a:pPr algn="l">
              <a:spcAft>
                <a:spcPts val="600"/>
              </a:spcAft>
            </a:pPr>
            <a:r>
              <a:rPr sz="1500" b="0" i="0">
                <a:solidFill>
                  <a:srgbClr val="4D4D4D"/>
                </a:solidFill>
                <a:latin typeface="Calibri"/>
              </a:rPr>
              <a:t>Test koşucusu, doğrulama kütüphanesi ve sürekli entegrasyon</a:t>
            </a:r>
          </a:p>
        </p:txBody>
      </p:sp>
      <p:sp>
        <p:nvSpPr>
          <p:cNvPr id="5" name="TextBox 4"/>
          <p:cNvSpPr txBox="1"/>
          <p:nvPr/>
        </p:nvSpPr>
        <p:spPr>
          <a:xfrm>
            <a:off x="5760720" y="5074920"/>
            <a:ext cx="5120640" cy="411480"/>
          </a:xfrm>
          <a:prstGeom prst="rect">
            <a:avLst/>
          </a:prstGeom>
          <a:noFill/>
        </p:spPr>
        <p:txBody>
          <a:bodyPr wrap="square" lIns="0" tIns="0" rIns="0" bIns="0">
            <a:spAutoFit/>
          </a:bodyPr>
          <a:lstStyle/>
          <a:p>
            <a:pPr algn="l">
              <a:spcAft>
                <a:spcPts val="600"/>
              </a:spcAft>
            </a:pPr>
            <a:r>
              <a:rPr sz="2200" b="1" i="0">
                <a:solidFill>
                  <a:srgbClr val="FFFFFF"/>
                </a:solidFill>
                <a:latin typeface="Segoe UI Black"/>
              </a:rPr>
              <a:t>Eren</a:t>
            </a:r>
          </a:p>
        </p:txBody>
      </p:sp>
      <p:sp>
        <p:nvSpPr>
          <p:cNvPr id="6" name="TextBox 5"/>
          <p:cNvSpPr txBox="1"/>
          <p:nvPr/>
        </p:nvSpPr>
        <p:spPr>
          <a:xfrm>
            <a:off x="5760720" y="5486400"/>
            <a:ext cx="5120640" cy="320040"/>
          </a:xfrm>
          <a:prstGeom prst="rect">
            <a:avLst/>
          </a:prstGeom>
          <a:noFill/>
        </p:spPr>
        <p:txBody>
          <a:bodyPr wrap="square" lIns="0" tIns="0" rIns="0" bIns="0">
            <a:spAutoFit/>
          </a:bodyPr>
          <a:lstStyle/>
          <a:p>
            <a:pPr algn="l">
              <a:spcAft>
                <a:spcPts val="600"/>
              </a:spcAft>
            </a:pPr>
            <a:r>
              <a:rPr sz="1400" b="0" i="0">
                <a:solidFill>
                  <a:srgbClr val="FFFFFF"/>
                </a:solidFill>
                <a:latin typeface="Calibri"/>
              </a:rPr>
              <a:t>Donanım Doğrulama</a:t>
            </a:r>
          </a:p>
        </p:txBody>
      </p:sp>
      <p:sp>
        <p:nvSpPr>
          <p:cNvPr id="7" name="TextBox 6"/>
          <p:cNvSpPr txBox="1"/>
          <p:nvPr/>
        </p:nvSpPr>
        <p:spPr>
          <a:xfrm>
            <a:off x="5413248" y="6144768"/>
            <a:ext cx="2743200" cy="320040"/>
          </a:xfrm>
          <a:prstGeom prst="rect">
            <a:avLst/>
          </a:prstGeom>
          <a:noFill/>
        </p:spPr>
        <p:txBody>
          <a:bodyPr wrap="square" lIns="0" tIns="0" rIns="0" bIns="0">
            <a:spAutoFit/>
          </a:bodyPr>
          <a:lstStyle/>
          <a:p>
            <a:pPr algn="l">
              <a:spcAft>
                <a:spcPts val="600"/>
              </a:spcAft>
            </a:pPr>
            <a:r>
              <a:rPr sz="1300" b="0" i="0">
                <a:solidFill>
                  <a:srgbClr val="8A8A8A"/>
                </a:solidFill>
                <a:latin typeface="Calibri"/>
              </a:rPr>
              <a:t>Ağustos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9184"/>
            <a:ext cx="5486400" cy="548640"/>
          </a:xfrm>
          <a:prstGeom prst="rect">
            <a:avLst/>
          </a:prstGeom>
          <a:noFill/>
        </p:spPr>
        <p:txBody>
          <a:bodyPr wrap="square" lIns="0" tIns="0" rIns="0" bIns="0">
            <a:spAutoFit/>
          </a:bodyPr>
          <a:lstStyle/>
          <a:p>
            <a:pPr algn="l">
              <a:spcAft>
                <a:spcPts val="600"/>
              </a:spcAft>
            </a:pPr>
            <a:r>
              <a:rPr sz="2600" b="1" i="0">
                <a:solidFill>
                  <a:srgbClr val="002D7A"/>
                </a:solidFill>
                <a:latin typeface="Segoe UI Black"/>
              </a:rPr>
              <a:t>GÜNDEM</a:t>
            </a:r>
          </a:p>
        </p:txBody>
      </p:sp>
      <p:sp>
        <p:nvSpPr>
          <p:cNvPr id="3" name="Oval 2"/>
          <p:cNvSpPr/>
          <p:nvPr/>
        </p:nvSpPr>
        <p:spPr>
          <a:xfrm>
            <a:off x="635508" y="1394460"/>
            <a:ext cx="210312" cy="210312"/>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1325880"/>
            <a:ext cx="914400" cy="365760"/>
          </a:xfrm>
          <a:prstGeom prst="rect">
            <a:avLst/>
          </a:prstGeom>
          <a:noFill/>
        </p:spPr>
        <p:txBody>
          <a:bodyPr wrap="square" lIns="0" tIns="0" rIns="0" bIns="0">
            <a:spAutoFit/>
          </a:bodyPr>
          <a:lstStyle/>
          <a:p>
            <a:pPr algn="l">
              <a:spcAft>
                <a:spcPts val="600"/>
              </a:spcAft>
            </a:pPr>
            <a:r>
              <a:rPr sz="2000" b="1" i="0">
                <a:solidFill>
                  <a:srgbClr val="F7931D"/>
                </a:solidFill>
                <a:latin typeface="Segoe UI Black"/>
              </a:rPr>
              <a:t>01</a:t>
            </a:r>
          </a:p>
        </p:txBody>
      </p:sp>
      <p:sp>
        <p:nvSpPr>
          <p:cNvPr id="5" name="TextBox 4"/>
          <p:cNvSpPr txBox="1"/>
          <p:nvPr/>
        </p:nvSpPr>
        <p:spPr>
          <a:xfrm>
            <a:off x="1783080" y="1344168"/>
            <a:ext cx="8229600" cy="411480"/>
          </a:xfrm>
          <a:prstGeom prst="rect">
            <a:avLst/>
          </a:prstGeom>
          <a:noFill/>
        </p:spPr>
        <p:txBody>
          <a:bodyPr wrap="square" lIns="0" tIns="0" rIns="0" bIns="0">
            <a:spAutoFit/>
          </a:bodyPr>
          <a:lstStyle/>
          <a:p>
            <a:pPr algn="l">
              <a:spcAft>
                <a:spcPts val="600"/>
              </a:spcAft>
            </a:pPr>
            <a:r>
              <a:rPr sz="2000" b="1" i="0">
                <a:solidFill>
                  <a:srgbClr val="002D7A"/>
                </a:solidFill>
                <a:latin typeface="Segoe UI Semibold"/>
              </a:rPr>
              <a:t>VUnit nedir, ne işe yarar</a:t>
            </a:r>
          </a:p>
        </p:txBody>
      </p:sp>
      <p:sp>
        <p:nvSpPr>
          <p:cNvPr id="6" name="Oval 5"/>
          <p:cNvSpPr/>
          <p:nvPr/>
        </p:nvSpPr>
        <p:spPr>
          <a:xfrm>
            <a:off x="635508" y="2308860"/>
            <a:ext cx="210312" cy="210312"/>
          </a:xfrm>
          <a:prstGeom prst="ellipse">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240280"/>
            <a:ext cx="914400" cy="365760"/>
          </a:xfrm>
          <a:prstGeom prst="rect">
            <a:avLst/>
          </a:prstGeom>
          <a:noFill/>
        </p:spPr>
        <p:txBody>
          <a:bodyPr wrap="square" lIns="0" tIns="0" rIns="0" bIns="0">
            <a:spAutoFit/>
          </a:bodyPr>
          <a:lstStyle/>
          <a:p>
            <a:pPr algn="l">
              <a:spcAft>
                <a:spcPts val="600"/>
              </a:spcAft>
            </a:pPr>
            <a:r>
              <a:rPr sz="2000" b="1" i="0">
                <a:solidFill>
                  <a:srgbClr val="F7931D"/>
                </a:solidFill>
                <a:latin typeface="Segoe UI Black"/>
              </a:rPr>
              <a:t>02</a:t>
            </a:r>
          </a:p>
        </p:txBody>
      </p:sp>
      <p:sp>
        <p:nvSpPr>
          <p:cNvPr id="8" name="TextBox 7"/>
          <p:cNvSpPr txBox="1"/>
          <p:nvPr/>
        </p:nvSpPr>
        <p:spPr>
          <a:xfrm>
            <a:off x="1783080" y="2258568"/>
            <a:ext cx="8229600" cy="411480"/>
          </a:xfrm>
          <a:prstGeom prst="rect">
            <a:avLst/>
          </a:prstGeom>
          <a:noFill/>
        </p:spPr>
        <p:txBody>
          <a:bodyPr wrap="square" lIns="0" tIns="0" rIns="0" bIns="0">
            <a:spAutoFit/>
          </a:bodyPr>
          <a:lstStyle/>
          <a:p>
            <a:pPr algn="l">
              <a:spcAft>
                <a:spcPts val="600"/>
              </a:spcAft>
            </a:pPr>
            <a:r>
              <a:rPr sz="2000" b="1" i="0">
                <a:solidFill>
                  <a:srgbClr val="002D7A"/>
                </a:solidFill>
                <a:latin typeface="Segoe UI Semibold"/>
              </a:rPr>
              <a:t>Neler yapılabilir</a:t>
            </a:r>
          </a:p>
        </p:txBody>
      </p:sp>
      <p:sp>
        <p:nvSpPr>
          <p:cNvPr id="9" name="Oval 8"/>
          <p:cNvSpPr/>
          <p:nvPr/>
        </p:nvSpPr>
        <p:spPr>
          <a:xfrm>
            <a:off x="635508" y="3223260"/>
            <a:ext cx="210312" cy="210312"/>
          </a:xfrm>
          <a:prstGeom prst="ellipse">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3154680"/>
            <a:ext cx="914400" cy="365760"/>
          </a:xfrm>
          <a:prstGeom prst="rect">
            <a:avLst/>
          </a:prstGeom>
          <a:noFill/>
        </p:spPr>
        <p:txBody>
          <a:bodyPr wrap="square" lIns="0" tIns="0" rIns="0" bIns="0">
            <a:spAutoFit/>
          </a:bodyPr>
          <a:lstStyle/>
          <a:p>
            <a:pPr algn="l">
              <a:spcAft>
                <a:spcPts val="600"/>
              </a:spcAft>
            </a:pPr>
            <a:r>
              <a:rPr sz="2000" b="1" i="0">
                <a:solidFill>
                  <a:srgbClr val="F7931D"/>
                </a:solidFill>
                <a:latin typeface="Segoe UI Black"/>
              </a:rPr>
              <a:t>03</a:t>
            </a:r>
          </a:p>
        </p:txBody>
      </p:sp>
      <p:sp>
        <p:nvSpPr>
          <p:cNvPr id="11" name="TextBox 10"/>
          <p:cNvSpPr txBox="1"/>
          <p:nvPr/>
        </p:nvSpPr>
        <p:spPr>
          <a:xfrm>
            <a:off x="1783080" y="3172968"/>
            <a:ext cx="8229600" cy="411480"/>
          </a:xfrm>
          <a:prstGeom prst="rect">
            <a:avLst/>
          </a:prstGeom>
          <a:noFill/>
        </p:spPr>
        <p:txBody>
          <a:bodyPr wrap="square" lIns="0" tIns="0" rIns="0" bIns="0">
            <a:spAutoFit/>
          </a:bodyPr>
          <a:lstStyle/>
          <a:p>
            <a:pPr algn="l">
              <a:spcAft>
                <a:spcPts val="600"/>
              </a:spcAft>
            </a:pPr>
            <a:r>
              <a:rPr sz="2000" b="1" i="0">
                <a:solidFill>
                  <a:srgbClr val="002D7A"/>
                </a:solidFill>
                <a:latin typeface="Segoe UI Semibold"/>
              </a:rPr>
              <a:t>Nerede kullanmalıyız</a:t>
            </a:r>
          </a:p>
        </p:txBody>
      </p:sp>
      <p:sp>
        <p:nvSpPr>
          <p:cNvPr id="12" name="Oval 11"/>
          <p:cNvSpPr/>
          <p:nvPr/>
        </p:nvSpPr>
        <p:spPr>
          <a:xfrm>
            <a:off x="635508" y="4137660"/>
            <a:ext cx="210312" cy="210312"/>
          </a:xfrm>
          <a:prstGeom prst="ellipse">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4069080"/>
            <a:ext cx="914400" cy="365760"/>
          </a:xfrm>
          <a:prstGeom prst="rect">
            <a:avLst/>
          </a:prstGeom>
          <a:noFill/>
        </p:spPr>
        <p:txBody>
          <a:bodyPr wrap="square" lIns="0" tIns="0" rIns="0" bIns="0">
            <a:spAutoFit/>
          </a:bodyPr>
          <a:lstStyle/>
          <a:p>
            <a:pPr algn="l">
              <a:spcAft>
                <a:spcPts val="600"/>
              </a:spcAft>
            </a:pPr>
            <a:r>
              <a:rPr sz="2000" b="1" i="0">
                <a:solidFill>
                  <a:srgbClr val="F7931D"/>
                </a:solidFill>
                <a:latin typeface="Segoe UI Black"/>
              </a:rPr>
              <a:t>04</a:t>
            </a:r>
          </a:p>
        </p:txBody>
      </p:sp>
      <p:sp>
        <p:nvSpPr>
          <p:cNvPr id="14" name="TextBox 13"/>
          <p:cNvSpPr txBox="1"/>
          <p:nvPr/>
        </p:nvSpPr>
        <p:spPr>
          <a:xfrm>
            <a:off x="1783080" y="4087368"/>
            <a:ext cx="8229600" cy="411480"/>
          </a:xfrm>
          <a:prstGeom prst="rect">
            <a:avLst/>
          </a:prstGeom>
          <a:noFill/>
        </p:spPr>
        <p:txBody>
          <a:bodyPr wrap="square" lIns="0" tIns="0" rIns="0" bIns="0">
            <a:spAutoFit/>
          </a:bodyPr>
          <a:lstStyle/>
          <a:p>
            <a:pPr algn="l">
              <a:spcAft>
                <a:spcPts val="600"/>
              </a:spcAft>
            </a:pPr>
            <a:r>
              <a:rPr sz="2000" b="1" i="0">
                <a:solidFill>
                  <a:srgbClr val="002D7A"/>
                </a:solidFill>
                <a:latin typeface="Segoe UI Semibold"/>
              </a:rPr>
              <a:t>Nasıl başlanır</a:t>
            </a:r>
          </a:p>
        </p:txBody>
      </p:sp>
      <p:sp>
        <p:nvSpPr>
          <p:cNvPr id="15" name="Oval 14"/>
          <p:cNvSpPr/>
          <p:nvPr/>
        </p:nvSpPr>
        <p:spPr>
          <a:xfrm>
            <a:off x="635508" y="5052060"/>
            <a:ext cx="210312" cy="210312"/>
          </a:xfrm>
          <a:prstGeom prst="ellipse">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4983480"/>
            <a:ext cx="914400" cy="365760"/>
          </a:xfrm>
          <a:prstGeom prst="rect">
            <a:avLst/>
          </a:prstGeom>
          <a:noFill/>
        </p:spPr>
        <p:txBody>
          <a:bodyPr wrap="square" lIns="0" tIns="0" rIns="0" bIns="0">
            <a:spAutoFit/>
          </a:bodyPr>
          <a:lstStyle/>
          <a:p>
            <a:pPr algn="l">
              <a:spcAft>
                <a:spcPts val="600"/>
              </a:spcAft>
            </a:pPr>
            <a:r>
              <a:rPr sz="2000" b="1" i="0">
                <a:solidFill>
                  <a:srgbClr val="F7931D"/>
                </a:solidFill>
                <a:latin typeface="Segoe UI Black"/>
              </a:rPr>
              <a:t>05</a:t>
            </a:r>
          </a:p>
        </p:txBody>
      </p:sp>
      <p:sp>
        <p:nvSpPr>
          <p:cNvPr id="17" name="TextBox 16"/>
          <p:cNvSpPr txBox="1"/>
          <p:nvPr/>
        </p:nvSpPr>
        <p:spPr>
          <a:xfrm>
            <a:off x="1783080" y="5001768"/>
            <a:ext cx="8229600" cy="411480"/>
          </a:xfrm>
          <a:prstGeom prst="rect">
            <a:avLst/>
          </a:prstGeom>
          <a:noFill/>
        </p:spPr>
        <p:txBody>
          <a:bodyPr wrap="square" lIns="0" tIns="0" rIns="0" bIns="0">
            <a:spAutoFit/>
          </a:bodyPr>
          <a:lstStyle/>
          <a:p>
            <a:pPr algn="l">
              <a:spcAft>
                <a:spcPts val="600"/>
              </a:spcAft>
            </a:pPr>
            <a:r>
              <a:rPr sz="2000" b="1" i="0">
                <a:solidFill>
                  <a:srgbClr val="002D7A"/>
                </a:solidFill>
                <a:latin typeface="Segoe UI Semibold"/>
              </a:rPr>
              <a:t>Tam örnek: rb_mapper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BUGÜN NASIL DOĞRULUYORUZ?</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Elle yazılan testbench'in dört yapısal sorunu</a:t>
            </a:r>
          </a:p>
        </p:txBody>
      </p:sp>
      <p:sp>
        <p:nvSpPr>
          <p:cNvPr id="4" name="Oval 3"/>
          <p:cNvSpPr/>
          <p:nvPr/>
        </p:nvSpPr>
        <p:spPr>
          <a:xfrm>
            <a:off x="438912" y="2002054"/>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920240"/>
            <a:ext cx="9418319" cy="563880"/>
          </a:xfrm>
          <a:prstGeom prst="rect">
            <a:avLst/>
          </a:prstGeom>
          <a:noFill/>
        </p:spPr>
        <p:txBody>
          <a:bodyPr wrap="square" lIns="0" tIns="0" rIns="0" bIns="0">
            <a:spAutoFit/>
          </a:bodyPr>
          <a:lstStyle/>
          <a:p>
            <a:pPr algn="l">
              <a:lnSpc>
                <a:spcPct val="118000"/>
              </a:lnSpc>
              <a:spcAft>
                <a:spcPts val="0"/>
              </a:spcAft>
            </a:pPr>
            <a:r>
              <a:rPr sz="1700" b="1">
                <a:solidFill>
                  <a:srgbClr val="002D7A"/>
                </a:solidFill>
                <a:latin typeface="Segoe UI"/>
              </a:rPr>
              <a:t>Sonuca insan karar veriyor. </a:t>
            </a:r>
            <a:r>
              <a:rPr sz="1700">
                <a:solidFill>
                  <a:srgbClr val="4D4D4D"/>
                </a:solidFill>
                <a:latin typeface="Calibri"/>
              </a:rPr>
              <a:t>Konsol çıktısına bakıp "tamam gibi" demek bir ölçüm değil.</a:t>
            </a:r>
          </a:p>
        </p:txBody>
      </p:sp>
      <p:sp>
        <p:nvSpPr>
          <p:cNvPr id="6" name="Oval 5"/>
          <p:cNvSpPr/>
          <p:nvPr/>
        </p:nvSpPr>
        <p:spPr>
          <a:xfrm>
            <a:off x="438912" y="2919502"/>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837688"/>
            <a:ext cx="9418319" cy="304800"/>
          </a:xfrm>
          <a:prstGeom prst="rect">
            <a:avLst/>
          </a:prstGeom>
          <a:noFill/>
        </p:spPr>
        <p:txBody>
          <a:bodyPr wrap="square" lIns="0" tIns="0" rIns="0" bIns="0">
            <a:spAutoFit/>
          </a:bodyPr>
          <a:lstStyle/>
          <a:p>
            <a:pPr algn="l">
              <a:lnSpc>
                <a:spcPct val="118000"/>
              </a:lnSpc>
              <a:spcAft>
                <a:spcPts val="0"/>
              </a:spcAft>
            </a:pPr>
            <a:r>
              <a:rPr sz="1700" b="1">
                <a:solidFill>
                  <a:srgbClr val="002D7A"/>
                </a:solidFill>
                <a:latin typeface="Segoe UI"/>
              </a:rPr>
              <a:t>Regresyon yok. </a:t>
            </a:r>
            <a:r>
              <a:rPr sz="1700">
                <a:solidFill>
                  <a:srgbClr val="4D4D4D"/>
                </a:solidFill>
                <a:latin typeface="Calibri"/>
              </a:rPr>
              <a:t>Bir modülü değiştirdiğinizde diğer otuz testi kim koşuyor?</a:t>
            </a:r>
          </a:p>
        </p:txBody>
      </p:sp>
      <p:sp>
        <p:nvSpPr>
          <p:cNvPr id="8" name="Oval 7"/>
          <p:cNvSpPr/>
          <p:nvPr/>
        </p:nvSpPr>
        <p:spPr>
          <a:xfrm>
            <a:off x="438912" y="3577870"/>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3496056"/>
            <a:ext cx="9418319" cy="563880"/>
          </a:xfrm>
          <a:prstGeom prst="rect">
            <a:avLst/>
          </a:prstGeom>
          <a:noFill/>
        </p:spPr>
        <p:txBody>
          <a:bodyPr wrap="square" lIns="0" tIns="0" rIns="0" bIns="0">
            <a:spAutoFit/>
          </a:bodyPr>
          <a:lstStyle/>
          <a:p>
            <a:pPr algn="l">
              <a:lnSpc>
                <a:spcPct val="118000"/>
              </a:lnSpc>
              <a:spcAft>
                <a:spcPts val="0"/>
              </a:spcAft>
            </a:pPr>
            <a:r>
              <a:rPr sz="1700" b="1">
                <a:solidFill>
                  <a:srgbClr val="002D7A"/>
                </a:solidFill>
                <a:latin typeface="Segoe UI"/>
              </a:rPr>
              <a:t>Parametre değişince kopyala-yapıştır. </a:t>
            </a:r>
            <a:r>
              <a:rPr sz="1700">
                <a:solidFill>
                  <a:srgbClr val="4D4D4D"/>
                </a:solidFill>
                <a:latin typeface="Calibri"/>
              </a:rPr>
              <a:t>Aynı testbench'in beş varyantı, beşi de ayrı ayrı bakım istiyor.</a:t>
            </a:r>
          </a:p>
        </p:txBody>
      </p:sp>
      <p:sp>
        <p:nvSpPr>
          <p:cNvPr id="10" name="Oval 9"/>
          <p:cNvSpPr/>
          <p:nvPr/>
        </p:nvSpPr>
        <p:spPr>
          <a:xfrm>
            <a:off x="438912" y="4495318"/>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4413504"/>
            <a:ext cx="9418319" cy="563880"/>
          </a:xfrm>
          <a:prstGeom prst="rect">
            <a:avLst/>
          </a:prstGeom>
          <a:noFill/>
        </p:spPr>
        <p:txBody>
          <a:bodyPr wrap="square" lIns="0" tIns="0" rIns="0" bIns="0">
            <a:spAutoFit/>
          </a:bodyPr>
          <a:lstStyle/>
          <a:p>
            <a:pPr algn="l">
              <a:lnSpc>
                <a:spcPct val="118000"/>
              </a:lnSpc>
              <a:spcAft>
                <a:spcPts val="0"/>
              </a:spcAft>
            </a:pPr>
            <a:r>
              <a:rPr sz="1700" b="1">
                <a:solidFill>
                  <a:srgbClr val="002D7A"/>
                </a:solidFill>
                <a:latin typeface="Segoe UI"/>
              </a:rPr>
              <a:t>Hiçbir şey ölçmeyen test sessizce geçiyor. </a:t>
            </a:r>
            <a:r>
              <a:rPr sz="1700">
                <a:solidFill>
                  <a:srgbClr val="4D4D4D"/>
                </a:solidFill>
                <a:latin typeface="Calibri"/>
              </a:rPr>
              <a:t>Sıfır assert çağıran bir test de yeşil görünür.</a:t>
            </a:r>
          </a:p>
        </p:txBody>
      </p:sp>
      <p:sp>
        <p:nvSpPr>
          <p:cNvPr id="12" name="Rounded Rectangle 11"/>
          <p:cNvSpPr/>
          <p:nvPr/>
        </p:nvSpPr>
        <p:spPr>
          <a:xfrm>
            <a:off x="411480" y="5074920"/>
            <a:ext cx="9692640" cy="868680"/>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67512" y="5230368"/>
            <a:ext cx="9144000" cy="594360"/>
          </a:xfrm>
          <a:prstGeom prst="rect">
            <a:avLst/>
          </a:prstGeom>
          <a:noFill/>
        </p:spPr>
        <p:txBody>
          <a:bodyPr wrap="square" lIns="0" tIns="0" rIns="0" bIns="0">
            <a:spAutoFit/>
          </a:bodyPr>
          <a:lstStyle/>
          <a:p>
            <a:pPr algn="l">
              <a:spcAft>
                <a:spcPts val="600"/>
              </a:spcAft>
            </a:pPr>
            <a:r>
              <a:rPr sz="1700" b="1" i="0">
                <a:solidFill>
                  <a:srgbClr val="FF5620"/>
                </a:solidFill>
                <a:latin typeface="Segoe UI Semibold"/>
              </a:rPr>
              <a:t>Dördü de aynı kök nedene çıkıyor: testin sonucu makine tarafından okunabilir değil.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AYNI İŞ, VUNİT İLE</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Değişen tek şey: sonucu kimin okuduğu</a:t>
            </a:r>
          </a:p>
        </p:txBody>
      </p:sp>
      <p:sp>
        <p:nvSpPr>
          <p:cNvPr id="4" name="Rounded Rectangle 3"/>
          <p:cNvSpPr/>
          <p:nvPr/>
        </p:nvSpPr>
        <p:spPr>
          <a:xfrm>
            <a:off x="411480" y="1874519"/>
            <a:ext cx="4709160" cy="251460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2075688"/>
            <a:ext cx="4306824" cy="384048"/>
          </a:xfrm>
          <a:prstGeom prst="rect">
            <a:avLst/>
          </a:prstGeom>
          <a:noFill/>
        </p:spPr>
        <p:txBody>
          <a:bodyPr wrap="square" lIns="0" tIns="0" rIns="0" bIns="0">
            <a:spAutoFit/>
          </a:bodyPr>
          <a:lstStyle/>
          <a:p>
            <a:pPr algn="l">
              <a:spcAft>
                <a:spcPts val="600"/>
              </a:spcAft>
            </a:pPr>
            <a:r>
              <a:rPr sz="1700" b="1" i="0">
                <a:solidFill>
                  <a:srgbClr val="4D4D4D"/>
                </a:solidFill>
                <a:latin typeface="Segoe UI"/>
              </a:rPr>
              <a:t>BUGÜN</a:t>
            </a:r>
          </a:p>
        </p:txBody>
      </p:sp>
      <p:sp>
        <p:nvSpPr>
          <p:cNvPr id="6" name="TextBox 5"/>
          <p:cNvSpPr txBox="1"/>
          <p:nvPr/>
        </p:nvSpPr>
        <p:spPr>
          <a:xfrm>
            <a:off x="612648" y="2459736"/>
            <a:ext cx="4306824" cy="1412240"/>
          </a:xfrm>
          <a:prstGeom prst="rect">
            <a:avLst/>
          </a:prstGeom>
          <a:noFill/>
        </p:spPr>
        <p:txBody>
          <a:bodyPr wrap="square" lIns="0" tIns="0" rIns="0" bIns="0">
            <a:spAutoFit/>
          </a:bodyPr>
          <a:lstStyle/>
          <a:p>
            <a:pPr algn="l">
              <a:lnSpc>
                <a:spcPct val="112000"/>
              </a:lnSpc>
              <a:spcAft>
                <a:spcPts val="400"/>
              </a:spcAft>
            </a:pPr>
            <a:r>
              <a:rPr sz="1500" b="0" i="0">
                <a:solidFill>
                  <a:srgbClr val="4D4D4D"/>
                </a:solidFill>
                <a:latin typeface="Calibri"/>
              </a:rPr>
              <a:t>Testbench'i simülatörde elle aç</a:t>
            </a:r>
          </a:p>
          <a:p>
            <a:pPr algn="l">
              <a:lnSpc>
                <a:spcPct val="112000"/>
              </a:lnSpc>
              <a:spcAft>
                <a:spcPts val="400"/>
              </a:spcAft>
            </a:pPr>
            <a:r>
              <a:rPr sz="1500" b="0" i="0">
                <a:solidFill>
                  <a:srgbClr val="4D4D4D"/>
                </a:solidFill>
                <a:latin typeface="Calibri"/>
              </a:rPr>
              <a:t>Dalga formuna bak, log'u gözden geçir</a:t>
            </a:r>
          </a:p>
          <a:p>
            <a:pPr algn="l">
              <a:lnSpc>
                <a:spcPct val="112000"/>
              </a:lnSpc>
              <a:spcAft>
                <a:spcPts val="400"/>
              </a:spcAft>
            </a:pPr>
            <a:r>
              <a:rPr sz="1500" b="0" i="0">
                <a:solidFill>
                  <a:srgbClr val="4D4D4D"/>
                </a:solidFill>
                <a:latin typeface="Calibri"/>
              </a:rPr>
              <a:t>"Geçti" kararını sen ver</a:t>
            </a:r>
          </a:p>
          <a:p>
            <a:pPr algn="l">
              <a:lnSpc>
                <a:spcPct val="112000"/>
              </a:lnSpc>
              <a:spcAft>
                <a:spcPts val="400"/>
              </a:spcAft>
            </a:pPr>
            <a:r>
              <a:rPr sz="1500" b="0" i="0">
                <a:solidFill>
                  <a:srgbClr val="4D4D4D"/>
                </a:solidFill>
                <a:latin typeface="Calibri"/>
              </a:rPr>
              <a:t>Diğer modüllerin testlerini koşmayı unut</a:t>
            </a:r>
          </a:p>
          <a:p>
            <a:pPr algn="l">
              <a:lnSpc>
                <a:spcPct val="112000"/>
              </a:lnSpc>
              <a:spcAft>
                <a:spcPts val="400"/>
              </a:spcAft>
            </a:pPr>
            <a:r>
              <a:rPr sz="1500" b="0" i="0">
                <a:solidFill>
                  <a:srgbClr val="4D4D4D"/>
                </a:solidFill>
                <a:latin typeface="Calibri"/>
              </a:rPr>
              <a:t>Sonucu kimseyle paylaşma</a:t>
            </a:r>
          </a:p>
        </p:txBody>
      </p:sp>
      <p:sp>
        <p:nvSpPr>
          <p:cNvPr id="7" name="Right Arrow 6"/>
          <p:cNvSpPr/>
          <p:nvPr/>
        </p:nvSpPr>
        <p:spPr>
          <a:xfrm>
            <a:off x="5303520" y="2999232"/>
            <a:ext cx="566928" cy="274320"/>
          </a:xfrm>
          <a:prstGeom prst="rightArrow">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035040" y="1874519"/>
            <a:ext cx="4709160" cy="2514600"/>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236207" y="2075688"/>
            <a:ext cx="4306824" cy="384048"/>
          </a:xfrm>
          <a:prstGeom prst="rect">
            <a:avLst/>
          </a:prstGeom>
          <a:noFill/>
        </p:spPr>
        <p:txBody>
          <a:bodyPr wrap="square" lIns="0" tIns="0" rIns="0" bIns="0">
            <a:spAutoFit/>
          </a:bodyPr>
          <a:lstStyle/>
          <a:p>
            <a:pPr algn="l">
              <a:spcAft>
                <a:spcPts val="600"/>
              </a:spcAft>
            </a:pPr>
            <a:r>
              <a:rPr sz="1700" b="1" i="0">
                <a:solidFill>
                  <a:srgbClr val="FF5620"/>
                </a:solidFill>
                <a:latin typeface="Segoe UI"/>
              </a:rPr>
              <a:t>VUnit İLE</a:t>
            </a:r>
          </a:p>
        </p:txBody>
      </p:sp>
      <p:sp>
        <p:nvSpPr>
          <p:cNvPr id="10" name="TextBox 9"/>
          <p:cNvSpPr txBox="1"/>
          <p:nvPr/>
        </p:nvSpPr>
        <p:spPr>
          <a:xfrm>
            <a:off x="6236207" y="2459736"/>
            <a:ext cx="4306824" cy="1412240"/>
          </a:xfrm>
          <a:prstGeom prst="rect">
            <a:avLst/>
          </a:prstGeom>
          <a:noFill/>
        </p:spPr>
        <p:txBody>
          <a:bodyPr wrap="square" lIns="0" tIns="0" rIns="0" bIns="0">
            <a:spAutoFit/>
          </a:bodyPr>
          <a:lstStyle/>
          <a:p>
            <a:pPr algn="l">
              <a:lnSpc>
                <a:spcPct val="112000"/>
              </a:lnSpc>
              <a:spcAft>
                <a:spcPts val="400"/>
              </a:spcAft>
            </a:pPr>
            <a:r>
              <a:rPr sz="1500" b="0" i="0">
                <a:solidFill>
                  <a:srgbClr val="4D4D4D"/>
                </a:solidFill>
                <a:latin typeface="Calibri"/>
              </a:rPr>
              <a:t>python run.py</a:t>
            </a:r>
          </a:p>
          <a:p>
            <a:pPr algn="l">
              <a:lnSpc>
                <a:spcPct val="112000"/>
              </a:lnSpc>
              <a:spcAft>
                <a:spcPts val="400"/>
              </a:spcAft>
            </a:pPr>
            <a:r>
              <a:rPr sz="1500" b="0" i="0">
                <a:solidFill>
                  <a:srgbClr val="4D4D4D"/>
                </a:solidFill>
                <a:latin typeface="Calibri"/>
              </a:rPr>
              <a:t>Her test kendi sonucunu kendisi söyler</a:t>
            </a:r>
          </a:p>
          <a:p>
            <a:pPr algn="l">
              <a:lnSpc>
                <a:spcPct val="112000"/>
              </a:lnSpc>
              <a:spcAft>
                <a:spcPts val="400"/>
              </a:spcAft>
            </a:pPr>
            <a:r>
              <a:rPr sz="1500" b="0" i="0">
                <a:solidFill>
                  <a:srgbClr val="4D4D4D"/>
                </a:solidFill>
                <a:latin typeface="Calibri"/>
              </a:rPr>
              <a:t>Exit code 0 veya 1 — makine okur</a:t>
            </a:r>
          </a:p>
          <a:p>
            <a:pPr algn="l">
              <a:lnSpc>
                <a:spcPct val="112000"/>
              </a:lnSpc>
              <a:spcAft>
                <a:spcPts val="400"/>
              </a:spcAft>
            </a:pPr>
            <a:r>
              <a:rPr sz="1500" b="0" i="0">
                <a:solidFill>
                  <a:srgbClr val="4D4D4D"/>
                </a:solidFill>
                <a:latin typeface="Calibri"/>
              </a:rPr>
              <a:t>Tüm testler her seferinde koşar</a:t>
            </a:r>
          </a:p>
          <a:p>
            <a:pPr algn="l">
              <a:lnSpc>
                <a:spcPct val="112000"/>
              </a:lnSpc>
              <a:spcAft>
                <a:spcPts val="400"/>
              </a:spcAft>
            </a:pPr>
            <a:r>
              <a:rPr sz="1500" b="0" i="0">
                <a:solidFill>
                  <a:srgbClr val="4D4D4D"/>
                </a:solidFill>
                <a:latin typeface="Calibri"/>
              </a:rPr>
              <a:t>CI raporu otomatik üretilir</a:t>
            </a:r>
          </a:p>
        </p:txBody>
      </p:sp>
      <p:sp>
        <p:nvSpPr>
          <p:cNvPr id="11" name="Rounded Rectangle 10"/>
          <p:cNvSpPr/>
          <p:nvPr/>
        </p:nvSpPr>
        <p:spPr>
          <a:xfrm>
            <a:off x="411480" y="4617720"/>
            <a:ext cx="10332720" cy="145542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94360" y="4800600"/>
            <a:ext cx="9966960" cy="1089660"/>
          </a:xfrm>
          <a:prstGeom prst="rect">
            <a:avLst/>
          </a:prstGeom>
          <a:noFill/>
        </p:spPr>
        <p:txBody>
          <a:bodyPr wrap="square" lIns="0" tIns="0" rIns="0" bIns="0">
            <a:spAutoFit/>
          </a:bodyPr>
          <a:lstStyle/>
          <a:p>
            <a:pPr algn="l">
              <a:lnSpc>
                <a:spcPct val="115000"/>
              </a:lnSpc>
              <a:spcAft>
                <a:spcPts val="0"/>
              </a:spcAft>
            </a:pPr>
            <a:r>
              <a:rPr sz="1100" i="0">
                <a:solidFill>
                  <a:srgbClr val="1C273A"/>
                </a:solidFill>
                <a:latin typeface="Consolas"/>
              </a:rPr>
              <a:t>==== Summary =====================================================</a:t>
            </a:r>
          </a:p>
          <a:p>
            <a:pPr algn="l">
              <a:lnSpc>
                <a:spcPct val="115000"/>
              </a:lnSpc>
              <a:spcAft>
                <a:spcPts val="0"/>
              </a:spcAft>
            </a:pPr>
            <a:r>
              <a:rPr sz="1100" i="0">
                <a:solidFill>
                  <a:srgbClr val="1C273A"/>
                </a:solidFill>
                <a:latin typeface="Consolas"/>
              </a:rPr>
              <a:t>pass lib.tb_rb_mapper.config_sc4_sym2       (0.4 s)</a:t>
            </a:r>
          </a:p>
          <a:p>
            <a:pPr algn="l">
              <a:lnSpc>
                <a:spcPct val="115000"/>
              </a:lnSpc>
              <a:spcAft>
                <a:spcPts val="0"/>
              </a:spcAft>
            </a:pPr>
            <a:r>
              <a:rPr sz="1100" i="0">
                <a:solidFill>
                  <a:srgbClr val="1C273A"/>
                </a:solidFill>
                <a:latin typeface="Consolas"/>
              </a:rPr>
              <a:t>pass lib.tb_rb_mapper.tlast_indeksi_sifirlar (0.3 s)</a:t>
            </a:r>
          </a:p>
          <a:p>
            <a:pPr algn="l">
              <a:lnSpc>
                <a:spcPct val="115000"/>
              </a:lnSpc>
              <a:spcAft>
                <a:spcPts val="0"/>
              </a:spcAft>
            </a:pPr>
            <a:r>
              <a:rPr sz="1100" i="0">
                <a:solidFill>
                  <a:srgbClr val="1C273A"/>
                </a:solidFill>
                <a:latin typeface="Consolas"/>
              </a:rPr>
              <a:t>fail lib.tb_rb_mapper.backpressure_...       (0.5 s)</a:t>
            </a:r>
          </a:p>
          <a:p>
            <a:pPr algn="l">
              <a:lnSpc>
                <a:spcPct val="115000"/>
              </a:lnSpc>
              <a:spcAft>
                <a:spcPts val="0"/>
              </a:spcAft>
            </a:pPr>
            <a:r>
              <a:rPr sz="1100" i="0">
                <a:solidFill>
                  <a:srgbClr val="1C273A"/>
                </a:solidFill>
                <a:latin typeface="Consolas"/>
              </a:rPr>
              <a:t>==================================================================</a:t>
            </a:r>
          </a:p>
          <a:p>
            <a:pPr algn="l">
              <a:lnSpc>
                <a:spcPct val="115000"/>
              </a:lnSpc>
              <a:spcAft>
                <a:spcPts val="0"/>
              </a:spcAft>
            </a:pPr>
            <a:r>
              <a:rPr sz="1100" i="0">
                <a:solidFill>
                  <a:srgbClr val="1C273A"/>
                </a:solidFill>
                <a:latin typeface="Consolas"/>
              </a:rPr>
              <a:t>pass 2 of 3   fail 1 of 3     Total time 1.2 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VUNİT NEDİR?</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Python tarafında bir test koşucusu, HDL tarafında bir kontrol kütüphanesi</a:t>
            </a:r>
          </a:p>
        </p:txBody>
      </p:sp>
      <p:sp>
        <p:nvSpPr>
          <p:cNvPr id="4" name="Rounded Rectangle 3"/>
          <p:cNvSpPr/>
          <p:nvPr/>
        </p:nvSpPr>
        <p:spPr>
          <a:xfrm>
            <a:off x="411480" y="1920240"/>
            <a:ext cx="4709160" cy="269748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612648" y="2121408"/>
            <a:ext cx="365760" cy="365760"/>
          </a:xfrm>
          <a:prstGeom prst="ellipse">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300" b="1" i="0">
                <a:solidFill>
                  <a:srgbClr val="FFFFFF"/>
                </a:solidFill>
                <a:latin typeface="Segoe UI Black"/>
              </a:rPr>
              <a:t>Py</a:t>
            </a:r>
          </a:p>
        </p:txBody>
      </p:sp>
      <p:sp>
        <p:nvSpPr>
          <p:cNvPr id="6" name="TextBox 5"/>
          <p:cNvSpPr txBox="1"/>
          <p:nvPr/>
        </p:nvSpPr>
        <p:spPr>
          <a:xfrm>
            <a:off x="1088136" y="2157984"/>
            <a:ext cx="3831335" cy="512064"/>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PYTHON TARAFI</a:t>
            </a:r>
          </a:p>
        </p:txBody>
      </p:sp>
      <p:sp>
        <p:nvSpPr>
          <p:cNvPr id="7" name="TextBox 6"/>
          <p:cNvSpPr txBox="1"/>
          <p:nvPr/>
        </p:nvSpPr>
        <p:spPr>
          <a:xfrm>
            <a:off x="612648" y="2633472"/>
            <a:ext cx="4306824" cy="1838960"/>
          </a:xfrm>
          <a:prstGeom prst="rect">
            <a:avLst/>
          </a:prstGeom>
          <a:noFill/>
        </p:spPr>
        <p:txBody>
          <a:bodyPr wrap="square" lIns="0" tIns="0" rIns="0" bIns="0">
            <a:spAutoFit/>
          </a:bodyPr>
          <a:lstStyle/>
          <a:p>
            <a:pPr algn="l">
              <a:lnSpc>
                <a:spcPct val="112000"/>
              </a:lnSpc>
              <a:spcAft>
                <a:spcPts val="400"/>
              </a:spcAft>
            </a:pPr>
            <a:r>
              <a:rPr sz="1500" b="0" i="0">
                <a:solidFill>
                  <a:srgbClr val="4D4D4D"/>
                </a:solidFill>
                <a:latin typeface="Calibri"/>
              </a:rPr>
              <a:t>Kaynak dosyaları ve kütüphaneleri tanımlar</a:t>
            </a:r>
          </a:p>
          <a:p>
            <a:pPr algn="l">
              <a:lnSpc>
                <a:spcPct val="112000"/>
              </a:lnSpc>
              <a:spcAft>
                <a:spcPts val="400"/>
              </a:spcAft>
            </a:pPr>
            <a:r>
              <a:rPr sz="1500" b="0" i="0">
                <a:solidFill>
                  <a:srgbClr val="4D4D4D"/>
                </a:solidFill>
                <a:latin typeface="Calibri"/>
              </a:rPr>
              <a:t>Bağımlılıkları çözer, artımlı derler</a:t>
            </a:r>
          </a:p>
          <a:p>
            <a:pPr algn="l">
              <a:lnSpc>
                <a:spcPct val="112000"/>
              </a:lnSpc>
              <a:spcAft>
                <a:spcPts val="400"/>
              </a:spcAft>
            </a:pPr>
            <a:r>
              <a:rPr sz="1500" b="0" i="0">
                <a:solidFill>
                  <a:srgbClr val="4D4D4D"/>
                </a:solidFill>
                <a:latin typeface="Calibri"/>
              </a:rPr>
              <a:t>Testleri keşfeder, filtreler, paralel koşar</a:t>
            </a:r>
          </a:p>
          <a:p>
            <a:pPr algn="l">
              <a:lnSpc>
                <a:spcPct val="112000"/>
              </a:lnSpc>
              <a:spcAft>
                <a:spcPts val="400"/>
              </a:spcAft>
            </a:pPr>
            <a:r>
              <a:rPr sz="1500" b="0" i="0">
                <a:solidFill>
                  <a:srgbClr val="4D4D4D"/>
                </a:solidFill>
                <a:latin typeface="Calibri"/>
              </a:rPr>
              <a:t>Simülatörü çağırır</a:t>
            </a:r>
          </a:p>
          <a:p>
            <a:pPr algn="l">
              <a:lnSpc>
                <a:spcPct val="112000"/>
              </a:lnSpc>
              <a:spcAft>
                <a:spcPts val="400"/>
              </a:spcAft>
            </a:pPr>
            <a:r>
              <a:rPr sz="1500" b="0" i="0">
                <a:solidFill>
                  <a:srgbClr val="4D4D4D"/>
                </a:solidFill>
                <a:latin typeface="Calibri"/>
              </a:rPr>
              <a:t>Raporu ve exit code'u üretir</a:t>
            </a:r>
          </a:p>
        </p:txBody>
      </p:sp>
      <p:sp>
        <p:nvSpPr>
          <p:cNvPr id="8" name="Rounded Rectangle 7"/>
          <p:cNvSpPr/>
          <p:nvPr/>
        </p:nvSpPr>
        <p:spPr>
          <a:xfrm>
            <a:off x="6035040" y="1920240"/>
            <a:ext cx="4709160" cy="269748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236207" y="2121408"/>
            <a:ext cx="365760" cy="365760"/>
          </a:xfrm>
          <a:prstGeom prst="ellipse">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300" b="1" i="0">
                <a:solidFill>
                  <a:srgbClr val="FFFFFF"/>
                </a:solidFill>
                <a:latin typeface="Segoe UI Black"/>
              </a:rPr>
              <a:t>HDL</a:t>
            </a:r>
          </a:p>
        </p:txBody>
      </p:sp>
      <p:sp>
        <p:nvSpPr>
          <p:cNvPr id="10" name="TextBox 9"/>
          <p:cNvSpPr txBox="1"/>
          <p:nvPr/>
        </p:nvSpPr>
        <p:spPr>
          <a:xfrm>
            <a:off x="6711696" y="2157984"/>
            <a:ext cx="3831335" cy="512064"/>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VHDL TARAFI</a:t>
            </a:r>
          </a:p>
        </p:txBody>
      </p:sp>
      <p:sp>
        <p:nvSpPr>
          <p:cNvPr id="11" name="TextBox 10"/>
          <p:cNvSpPr txBox="1"/>
          <p:nvPr/>
        </p:nvSpPr>
        <p:spPr>
          <a:xfrm>
            <a:off x="6236207" y="2633472"/>
            <a:ext cx="4306824" cy="1412240"/>
          </a:xfrm>
          <a:prstGeom prst="rect">
            <a:avLst/>
          </a:prstGeom>
          <a:noFill/>
        </p:spPr>
        <p:txBody>
          <a:bodyPr wrap="square" lIns="0" tIns="0" rIns="0" bIns="0">
            <a:spAutoFit/>
          </a:bodyPr>
          <a:lstStyle/>
          <a:p>
            <a:pPr algn="l">
              <a:lnSpc>
                <a:spcPct val="112000"/>
              </a:lnSpc>
              <a:spcAft>
                <a:spcPts val="400"/>
              </a:spcAft>
            </a:pPr>
            <a:r>
              <a:rPr sz="1500" b="0" i="0">
                <a:solidFill>
                  <a:srgbClr val="4D4D4D"/>
                </a:solidFill>
                <a:latin typeface="Calibri"/>
              </a:rPr>
              <a:t>run() ile test sınırlarını çizer</a:t>
            </a:r>
          </a:p>
          <a:p>
            <a:pPr algn="l">
              <a:lnSpc>
                <a:spcPct val="112000"/>
              </a:lnSpc>
              <a:spcAft>
                <a:spcPts val="400"/>
              </a:spcAft>
            </a:pPr>
            <a:r>
              <a:rPr sz="1500" b="0" i="0">
                <a:solidFill>
                  <a:srgbClr val="4D4D4D"/>
                </a:solidFill>
                <a:latin typeface="Calibri"/>
              </a:rPr>
              <a:t>check_equal, check_stable ile iddia kurar</a:t>
            </a:r>
          </a:p>
          <a:p>
            <a:pPr algn="l">
              <a:lnSpc>
                <a:spcPct val="112000"/>
              </a:lnSpc>
              <a:spcAft>
                <a:spcPts val="400"/>
              </a:spcAft>
            </a:pPr>
            <a:r>
              <a:rPr sz="1500" b="0" i="0">
                <a:solidFill>
                  <a:srgbClr val="4D4D4D"/>
                </a:solidFill>
                <a:latin typeface="Calibri"/>
              </a:rPr>
              <a:t>log/info ile izlenebilir çıktı verir</a:t>
            </a:r>
          </a:p>
          <a:p>
            <a:pPr algn="l">
              <a:lnSpc>
                <a:spcPct val="112000"/>
              </a:lnSpc>
              <a:spcAft>
                <a:spcPts val="400"/>
              </a:spcAft>
            </a:pPr>
            <a:r>
              <a:rPr sz="1500" b="0" i="0">
                <a:solidFill>
                  <a:srgbClr val="4D4D4D"/>
                </a:solidFill>
                <a:latin typeface="Calibri"/>
              </a:rPr>
              <a:t>queue_t ile scoreboard kurar</a:t>
            </a:r>
          </a:p>
          <a:p>
            <a:pPr algn="l">
              <a:lnSpc>
                <a:spcPct val="112000"/>
              </a:lnSpc>
              <a:spcAft>
                <a:spcPts val="400"/>
              </a:spcAft>
            </a:pPr>
            <a:r>
              <a:rPr sz="1500" b="0" i="0">
                <a:solidFill>
                  <a:srgbClr val="4D4D4D"/>
                </a:solidFill>
                <a:latin typeface="Calibri"/>
              </a:rPr>
              <a:t>Verification Component'ları barındırır</a:t>
            </a:r>
          </a:p>
        </p:txBody>
      </p:sp>
      <p:sp>
        <p:nvSpPr>
          <p:cNvPr id="12" name="TextBox 11"/>
          <p:cNvSpPr txBox="1"/>
          <p:nvPr/>
        </p:nvSpPr>
        <p:spPr>
          <a:xfrm>
            <a:off x="411480" y="4892040"/>
            <a:ext cx="10332720" cy="411480"/>
          </a:xfrm>
          <a:prstGeom prst="rect">
            <a:avLst/>
          </a:prstGeom>
          <a:noFill/>
        </p:spPr>
        <p:txBody>
          <a:bodyPr wrap="square" lIns="0" tIns="0" rIns="0" bIns="0">
            <a:spAutoFit/>
          </a:bodyPr>
          <a:lstStyle/>
          <a:p>
            <a:pPr algn="l">
              <a:spcAft>
                <a:spcPts val="600"/>
              </a:spcAft>
            </a:pPr>
            <a:r>
              <a:rPr sz="1700" b="1" i="0">
                <a:solidFill>
                  <a:srgbClr val="FF5620"/>
                </a:solidFill>
                <a:latin typeface="Segoe UI Semibold"/>
              </a:rPr>
              <a:t>İkisi arasındaki köprü: runner_cfg generic'i</a:t>
            </a:r>
          </a:p>
        </p:txBody>
      </p:sp>
      <p:sp>
        <p:nvSpPr>
          <p:cNvPr id="13" name="TextBox 12"/>
          <p:cNvSpPr txBox="1"/>
          <p:nvPr/>
        </p:nvSpPr>
        <p:spPr>
          <a:xfrm>
            <a:off x="411480" y="5285232"/>
            <a:ext cx="10332720" cy="731520"/>
          </a:xfrm>
          <a:prstGeom prst="rect">
            <a:avLst/>
          </a:prstGeom>
          <a:noFill/>
        </p:spPr>
        <p:txBody>
          <a:bodyPr wrap="square" lIns="0" tIns="0" rIns="0" bIns="0">
            <a:spAutoFit/>
          </a:bodyPr>
          <a:lstStyle/>
          <a:p>
            <a:pPr algn="l">
              <a:lnSpc>
                <a:spcPct val="115000"/>
              </a:lnSpc>
              <a:spcAft>
                <a:spcPts val="600"/>
              </a:spcAft>
            </a:pPr>
            <a:r>
              <a:rPr sz="1500" b="0" i="0">
                <a:solidFill>
                  <a:srgbClr val="4D4D4D"/>
                </a:solidFill>
                <a:latin typeface="Calibri"/>
              </a:rPr>
              <a:t>Python hangi testin koşacağını ve çıktının nereye yazılacağını bu string üzerinden testbench'e bildirir. Testbench de sonucu aynı kanaldan geri verir. Başka bağ yok — bu yüzden herhangi bir simülatörle çalışabiliyor.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EN KÜÇÜK ÇALIŞAN ÖRNEK — TESTBENCH</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Bir VHDL testbench'ini VUnit testbench'i yapan üç satır</a:t>
            </a:r>
          </a:p>
        </p:txBody>
      </p:sp>
      <p:sp>
        <p:nvSpPr>
          <p:cNvPr id="4" name="Rounded Rectangle 3"/>
          <p:cNvSpPr/>
          <p:nvPr/>
        </p:nvSpPr>
        <p:spPr>
          <a:xfrm>
            <a:off x="411480" y="1874519"/>
            <a:ext cx="6537960" cy="413004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057400"/>
            <a:ext cx="6172200" cy="3764280"/>
          </a:xfrm>
          <a:prstGeom prst="rect">
            <a:avLst/>
          </a:prstGeom>
          <a:noFill/>
        </p:spPr>
        <p:txBody>
          <a:bodyPr wrap="square" lIns="0" tIns="0" rIns="0" bIns="0">
            <a:spAutoFit/>
          </a:bodyPr>
          <a:lstStyle/>
          <a:p>
            <a:pPr algn="l">
              <a:lnSpc>
                <a:spcPct val="115000"/>
              </a:lnSpc>
              <a:spcAft>
                <a:spcPts val="0"/>
              </a:spcAft>
            </a:pPr>
            <a:r>
              <a:rPr sz="950" i="0">
                <a:solidFill>
                  <a:srgbClr val="1C273A"/>
                </a:solidFill>
                <a:latin typeface="Consolas"/>
              </a:rPr>
              <a:t>library vunit_lib;</a:t>
            </a:r>
          </a:p>
          <a:p>
            <a:pPr algn="l">
              <a:lnSpc>
                <a:spcPct val="115000"/>
              </a:lnSpc>
              <a:spcAft>
                <a:spcPts val="0"/>
              </a:spcAft>
            </a:pPr>
            <a:r>
              <a:rPr sz="950" i="0">
                <a:solidFill>
                  <a:srgbClr val="1C273A"/>
                </a:solidFill>
                <a:latin typeface="Consolas"/>
              </a:rPr>
              <a:t>context vunit_lib.vunit_context;        -- 1) baglam</a:t>
            </a:r>
          </a:p>
          <a:p>
            <a:pPr algn="l">
              <a:lnSpc>
                <a:spcPct val="115000"/>
              </a:lnSpc>
              <a:spcAft>
                <a:spcPts val="0"/>
              </a:spcAft>
            </a:pPr>
            <a:r>
              <a:rPr sz="950" i="0">
                <a:solidFill>
                  <a:srgbClr val="1C273A"/>
                </a:solidFill>
                <a:latin typeface="Consolas"/>
              </a:rPr>
              <a:t> </a:t>
            </a:r>
          </a:p>
          <a:p>
            <a:pPr algn="l">
              <a:lnSpc>
                <a:spcPct val="115000"/>
              </a:lnSpc>
              <a:spcAft>
                <a:spcPts val="0"/>
              </a:spcAft>
            </a:pPr>
            <a:r>
              <a:rPr sz="950" i="0">
                <a:solidFill>
                  <a:srgbClr val="1C273A"/>
                </a:solidFill>
                <a:latin typeface="Consolas"/>
              </a:rPr>
              <a:t>entity tb_ornek is</a:t>
            </a:r>
          </a:p>
          <a:p>
            <a:pPr algn="l">
              <a:lnSpc>
                <a:spcPct val="115000"/>
              </a:lnSpc>
              <a:spcAft>
                <a:spcPts val="0"/>
              </a:spcAft>
            </a:pPr>
            <a:r>
              <a:rPr sz="950" i="0">
                <a:solidFill>
                  <a:srgbClr val="1C273A"/>
                </a:solidFill>
                <a:latin typeface="Consolas"/>
              </a:rPr>
              <a:t>    generic (runner_cfg : string);      -- 2) Python ile tek bag</a:t>
            </a:r>
          </a:p>
          <a:p>
            <a:pPr algn="l">
              <a:lnSpc>
                <a:spcPct val="115000"/>
              </a:lnSpc>
              <a:spcAft>
                <a:spcPts val="0"/>
              </a:spcAft>
            </a:pPr>
            <a:r>
              <a:rPr sz="950" i="0">
                <a:solidFill>
                  <a:srgbClr val="1C273A"/>
                </a:solidFill>
                <a:latin typeface="Consolas"/>
              </a:rPr>
              <a:t>end entity;</a:t>
            </a:r>
          </a:p>
          <a:p>
            <a:pPr algn="l">
              <a:lnSpc>
                <a:spcPct val="115000"/>
              </a:lnSpc>
              <a:spcAft>
                <a:spcPts val="0"/>
              </a:spcAft>
            </a:pPr>
            <a:r>
              <a:rPr sz="950" i="0">
                <a:solidFill>
                  <a:srgbClr val="1C273A"/>
                </a:solidFill>
                <a:latin typeface="Consolas"/>
              </a:rPr>
              <a:t> </a:t>
            </a:r>
          </a:p>
          <a:p>
            <a:pPr algn="l">
              <a:lnSpc>
                <a:spcPct val="115000"/>
              </a:lnSpc>
              <a:spcAft>
                <a:spcPts val="0"/>
              </a:spcAft>
            </a:pPr>
            <a:r>
              <a:rPr sz="950" i="0">
                <a:solidFill>
                  <a:srgbClr val="1C273A"/>
                </a:solidFill>
                <a:latin typeface="Consolas"/>
              </a:rPr>
              <a:t>architecture tb of tb_ornek is</a:t>
            </a:r>
          </a:p>
          <a:p>
            <a:pPr algn="l">
              <a:lnSpc>
                <a:spcPct val="115000"/>
              </a:lnSpc>
              <a:spcAft>
                <a:spcPts val="0"/>
              </a:spcAft>
            </a:pPr>
            <a:r>
              <a:rPr sz="950" i="0">
                <a:solidFill>
                  <a:srgbClr val="1C273A"/>
                </a:solidFill>
                <a:latin typeface="Consolas"/>
              </a:rPr>
              <a:t>begin</a:t>
            </a:r>
          </a:p>
          <a:p>
            <a:pPr algn="l">
              <a:lnSpc>
                <a:spcPct val="115000"/>
              </a:lnSpc>
              <a:spcAft>
                <a:spcPts val="0"/>
              </a:spcAft>
            </a:pPr>
            <a:r>
              <a:rPr sz="950" i="0">
                <a:solidFill>
                  <a:srgbClr val="1C273A"/>
                </a:solidFill>
                <a:latin typeface="Consolas"/>
              </a:rPr>
              <a:t>  main : process</a:t>
            </a:r>
          </a:p>
          <a:p>
            <a:pPr algn="l">
              <a:lnSpc>
                <a:spcPct val="115000"/>
              </a:lnSpc>
              <a:spcAft>
                <a:spcPts val="0"/>
              </a:spcAft>
            </a:pPr>
            <a:r>
              <a:rPr sz="950" i="0">
                <a:solidFill>
                  <a:srgbClr val="1C273A"/>
                </a:solidFill>
                <a:latin typeface="Consolas"/>
              </a:rPr>
              <a:t>  begin</a:t>
            </a:r>
          </a:p>
          <a:p>
            <a:pPr algn="l">
              <a:lnSpc>
                <a:spcPct val="115000"/>
              </a:lnSpc>
              <a:spcAft>
                <a:spcPts val="0"/>
              </a:spcAft>
            </a:pPr>
            <a:r>
              <a:rPr sz="950" i="0">
                <a:solidFill>
                  <a:srgbClr val="1C273A"/>
                </a:solidFill>
                <a:latin typeface="Consolas"/>
              </a:rPr>
              <a:t>    test_runner_setup(runner, runner_cfg);      -- 3) cerceve</a:t>
            </a:r>
          </a:p>
          <a:p>
            <a:pPr algn="l">
              <a:lnSpc>
                <a:spcPct val="115000"/>
              </a:lnSpc>
              <a:spcAft>
                <a:spcPts val="0"/>
              </a:spcAft>
            </a:pPr>
            <a:r>
              <a:rPr sz="950" i="0">
                <a:solidFill>
                  <a:srgbClr val="1C273A"/>
                </a:solidFill>
                <a:latin typeface="Consolas"/>
              </a:rPr>
              <a:t>    while test_suite loop</a:t>
            </a:r>
          </a:p>
          <a:p>
            <a:pPr algn="l">
              <a:lnSpc>
                <a:spcPct val="115000"/>
              </a:lnSpc>
              <a:spcAft>
                <a:spcPts val="0"/>
              </a:spcAft>
            </a:pPr>
            <a:r>
              <a:rPr sz="950" i="0">
                <a:solidFill>
                  <a:srgbClr val="1C273A"/>
                </a:solidFill>
                <a:latin typeface="Consolas"/>
              </a:rPr>
              <a:t>      if run("toplama_dogru_calisir") then</a:t>
            </a:r>
          </a:p>
          <a:p>
            <a:pPr algn="l">
              <a:lnSpc>
                <a:spcPct val="115000"/>
              </a:lnSpc>
              <a:spcAft>
                <a:spcPts val="0"/>
              </a:spcAft>
            </a:pPr>
            <a:r>
              <a:rPr sz="950" i="0">
                <a:solidFill>
                  <a:srgbClr val="1C273A"/>
                </a:solidFill>
                <a:latin typeface="Consolas"/>
              </a:rPr>
              <a:t>        check_equal(dut_sonuc, 7, "2+5 bekleniyordu");</a:t>
            </a:r>
          </a:p>
          <a:p>
            <a:pPr algn="l">
              <a:lnSpc>
                <a:spcPct val="115000"/>
              </a:lnSpc>
              <a:spcAft>
                <a:spcPts val="0"/>
              </a:spcAft>
            </a:pPr>
            <a:r>
              <a:rPr sz="950" i="0">
                <a:solidFill>
                  <a:srgbClr val="1C273A"/>
                </a:solidFill>
                <a:latin typeface="Consolas"/>
              </a:rPr>
              <a:t>      elsif run("tasma_bayragi_kalkar") then</a:t>
            </a:r>
          </a:p>
          <a:p>
            <a:pPr algn="l">
              <a:lnSpc>
                <a:spcPct val="115000"/>
              </a:lnSpc>
              <a:spcAft>
                <a:spcPts val="0"/>
              </a:spcAft>
            </a:pPr>
            <a:r>
              <a:rPr sz="950" i="0">
                <a:solidFill>
                  <a:srgbClr val="1C273A"/>
                </a:solidFill>
                <a:latin typeface="Consolas"/>
              </a:rPr>
              <a:t>        check(overflow = '1', "tasma bayragi kalkmadi");</a:t>
            </a:r>
          </a:p>
          <a:p>
            <a:pPr algn="l">
              <a:lnSpc>
                <a:spcPct val="115000"/>
              </a:lnSpc>
              <a:spcAft>
                <a:spcPts val="0"/>
              </a:spcAft>
            </a:pPr>
            <a:r>
              <a:rPr sz="950" i="0">
                <a:solidFill>
                  <a:srgbClr val="1C273A"/>
                </a:solidFill>
                <a:latin typeface="Consolas"/>
              </a:rPr>
              <a:t>      end if;</a:t>
            </a:r>
          </a:p>
          <a:p>
            <a:pPr algn="l">
              <a:lnSpc>
                <a:spcPct val="115000"/>
              </a:lnSpc>
              <a:spcAft>
                <a:spcPts val="0"/>
              </a:spcAft>
            </a:pPr>
            <a:r>
              <a:rPr sz="950" i="0">
                <a:solidFill>
                  <a:srgbClr val="1C273A"/>
                </a:solidFill>
                <a:latin typeface="Consolas"/>
              </a:rPr>
              <a:t>    end loop;</a:t>
            </a:r>
          </a:p>
          <a:p>
            <a:pPr algn="l">
              <a:lnSpc>
                <a:spcPct val="115000"/>
              </a:lnSpc>
              <a:spcAft>
                <a:spcPts val="0"/>
              </a:spcAft>
            </a:pPr>
            <a:r>
              <a:rPr sz="950" i="0">
                <a:solidFill>
                  <a:srgbClr val="1C273A"/>
                </a:solidFill>
                <a:latin typeface="Consolas"/>
              </a:rPr>
              <a:t>    test_runner_cleanup(runner);</a:t>
            </a:r>
          </a:p>
          <a:p>
            <a:pPr algn="l">
              <a:lnSpc>
                <a:spcPct val="115000"/>
              </a:lnSpc>
              <a:spcAft>
                <a:spcPts val="0"/>
              </a:spcAft>
            </a:pPr>
            <a:r>
              <a:rPr sz="950" i="0">
                <a:solidFill>
                  <a:srgbClr val="1C273A"/>
                </a:solidFill>
                <a:latin typeface="Consolas"/>
              </a:rPr>
              <a:t>  end process;</a:t>
            </a:r>
          </a:p>
          <a:p>
            <a:pPr algn="l">
              <a:lnSpc>
                <a:spcPct val="115000"/>
              </a:lnSpc>
              <a:spcAft>
                <a:spcPts val="0"/>
              </a:spcAft>
            </a:pPr>
            <a:r>
              <a:rPr sz="950" i="0">
                <a:solidFill>
                  <a:srgbClr val="1C273A"/>
                </a:solidFill>
                <a:latin typeface="Consolas"/>
              </a:rPr>
              <a:t> </a:t>
            </a:r>
          </a:p>
          <a:p>
            <a:pPr algn="l">
              <a:lnSpc>
                <a:spcPct val="115000"/>
              </a:lnSpc>
              <a:spcAft>
                <a:spcPts val="0"/>
              </a:spcAft>
            </a:pPr>
            <a:r>
              <a:rPr sz="950" i="0">
                <a:solidFill>
                  <a:srgbClr val="1C273A"/>
                </a:solidFill>
                <a:latin typeface="Consolas"/>
              </a:rPr>
              <a:t>  test_runner_watchdog(runner, 1 ms);</a:t>
            </a:r>
          </a:p>
          <a:p>
            <a:pPr algn="l">
              <a:lnSpc>
                <a:spcPct val="115000"/>
              </a:lnSpc>
              <a:spcAft>
                <a:spcPts val="0"/>
              </a:spcAft>
            </a:pPr>
            <a:r>
              <a:rPr sz="950" i="0">
                <a:solidFill>
                  <a:srgbClr val="1C273A"/>
                </a:solidFill>
                <a:latin typeface="Consolas"/>
              </a:rPr>
              <a:t>end architecture;</a:t>
            </a:r>
          </a:p>
        </p:txBody>
      </p:sp>
      <p:sp>
        <p:nvSpPr>
          <p:cNvPr id="6" name="Rounded Rectangle 5"/>
          <p:cNvSpPr/>
          <p:nvPr/>
        </p:nvSpPr>
        <p:spPr>
          <a:xfrm>
            <a:off x="7223760" y="1874519"/>
            <a:ext cx="3520440" cy="3781552"/>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424928" y="2075688"/>
            <a:ext cx="311810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ÜÇ ZORUNLU PARÇA</a:t>
            </a:r>
          </a:p>
        </p:txBody>
      </p:sp>
      <p:sp>
        <p:nvSpPr>
          <p:cNvPr id="8" name="TextBox 7"/>
          <p:cNvSpPr txBox="1"/>
          <p:nvPr/>
        </p:nvSpPr>
        <p:spPr>
          <a:xfrm>
            <a:off x="7424928" y="2459736"/>
            <a:ext cx="3118104" cy="3086608"/>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1. vunit_context — check, log ve run</a:t>
            </a:r>
          </a:p>
          <a:p>
            <a:pPr algn="l">
              <a:lnSpc>
                <a:spcPct val="112000"/>
              </a:lnSpc>
              <a:spcAft>
                <a:spcPts val="400"/>
              </a:spcAft>
            </a:pPr>
            <a:r>
              <a:rPr sz="1400" b="0" i="0">
                <a:solidFill>
                  <a:srgbClr val="4D4D4D"/>
                </a:solidFill>
                <a:latin typeface="Calibri"/>
              </a:rPr>
              <a:t>    bu bağlamdan gelir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2. runner_cfg generic'i — Python ile</a:t>
            </a:r>
          </a:p>
          <a:p>
            <a:pPr algn="l">
              <a:lnSpc>
                <a:spcPct val="112000"/>
              </a:lnSpc>
              <a:spcAft>
                <a:spcPts val="400"/>
              </a:spcAft>
            </a:pPr>
            <a:r>
              <a:rPr sz="1400" b="0" i="0">
                <a:solidFill>
                  <a:srgbClr val="4D4D4D"/>
                </a:solidFill>
                <a:latin typeface="Calibri"/>
              </a:rPr>
              <a:t>    testbench arasındaki tek bağ</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3. setup / test_suite / cleanup —</a:t>
            </a:r>
          </a:p>
          <a:p>
            <a:pPr algn="l">
              <a:lnSpc>
                <a:spcPct val="112000"/>
              </a:lnSpc>
              <a:spcAft>
                <a:spcPts val="400"/>
              </a:spcAft>
            </a:pPr>
            <a:r>
              <a:rPr sz="1400" b="0" i="0">
                <a:solidFill>
                  <a:srgbClr val="4D4D4D"/>
                </a:solidFill>
                <a:latin typeface="Calibri"/>
              </a:rPr>
              <a:t>    her test case'i bu çerçevede yaşar</a:t>
            </a:r>
          </a:p>
        </p:txBody>
      </p:sp>
      <p:sp>
        <p:nvSpPr>
          <p:cNvPr id="9" name="Rounded Rectangle 8"/>
          <p:cNvSpPr/>
          <p:nvPr/>
        </p:nvSpPr>
        <p:spPr>
          <a:xfrm>
            <a:off x="7223760" y="4892040"/>
            <a:ext cx="3520440" cy="1485392"/>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424928" y="5093207"/>
            <a:ext cx="3118104" cy="384048"/>
          </a:xfrm>
          <a:prstGeom prst="rect">
            <a:avLst/>
          </a:prstGeom>
          <a:noFill/>
        </p:spPr>
        <p:txBody>
          <a:bodyPr wrap="square" lIns="0" tIns="0" rIns="0" bIns="0">
            <a:spAutoFit/>
          </a:bodyPr>
          <a:lstStyle/>
          <a:p>
            <a:pPr algn="l">
              <a:spcAft>
                <a:spcPts val="600"/>
              </a:spcAft>
            </a:pPr>
            <a:r>
              <a:rPr sz="1700" b="1" i="0">
                <a:solidFill>
                  <a:srgbClr val="FF5620"/>
                </a:solidFill>
                <a:latin typeface="Segoe UI"/>
              </a:rPr>
              <a:t>WATCHDOG'U UNUTMA</a:t>
            </a:r>
          </a:p>
        </p:txBody>
      </p:sp>
      <p:sp>
        <p:nvSpPr>
          <p:cNvPr id="11" name="TextBox 10"/>
          <p:cNvSpPr txBox="1"/>
          <p:nvPr/>
        </p:nvSpPr>
        <p:spPr>
          <a:xfrm>
            <a:off x="7424928" y="5477255"/>
            <a:ext cx="3118104" cy="790448"/>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Tamamlanmayan bir wait until,</a:t>
            </a:r>
          </a:p>
          <a:p>
            <a:pPr algn="l">
              <a:lnSpc>
                <a:spcPct val="112000"/>
              </a:lnSpc>
              <a:spcAft>
                <a:spcPts val="400"/>
              </a:spcAft>
            </a:pPr>
            <a:r>
              <a:rPr sz="1400" b="0" i="0">
                <a:solidFill>
                  <a:srgbClr val="4D4D4D"/>
                </a:solidFill>
                <a:latin typeface="Calibri"/>
              </a:rPr>
              <a:t>CI runner'ını saatlerce meşgul eder.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EN KÜÇÜK ÇALIŞAN ÖRNEK — RUN.PY</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Projenin tamamı on satırda tanımlanır</a:t>
            </a:r>
          </a:p>
        </p:txBody>
      </p:sp>
      <p:sp>
        <p:nvSpPr>
          <p:cNvPr id="4" name="Rounded Rectangle 3"/>
          <p:cNvSpPr/>
          <p:nvPr/>
        </p:nvSpPr>
        <p:spPr>
          <a:xfrm>
            <a:off x="411480" y="1874519"/>
            <a:ext cx="5989320" cy="294132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057400"/>
            <a:ext cx="5623559" cy="2575560"/>
          </a:xfrm>
          <a:prstGeom prst="rect">
            <a:avLst/>
          </a:prstGeom>
          <a:noFill/>
        </p:spPr>
        <p:txBody>
          <a:bodyPr wrap="square" lIns="0" tIns="0" rIns="0" bIns="0">
            <a:spAutoFit/>
          </a:bodyPr>
          <a:lstStyle/>
          <a:p>
            <a:pPr algn="l">
              <a:lnSpc>
                <a:spcPct val="115000"/>
              </a:lnSpc>
              <a:spcAft>
                <a:spcPts val="0"/>
              </a:spcAft>
            </a:pPr>
            <a:r>
              <a:rPr sz="1200" i="0">
                <a:solidFill>
                  <a:srgbClr val="1C273A"/>
                </a:solidFill>
                <a:latin typeface="Consolas"/>
              </a:rPr>
              <a:t>from pathlib import Path</a:t>
            </a:r>
          </a:p>
          <a:p>
            <a:pPr algn="l">
              <a:lnSpc>
                <a:spcPct val="115000"/>
              </a:lnSpc>
              <a:spcAft>
                <a:spcPts val="0"/>
              </a:spcAft>
            </a:pPr>
            <a:r>
              <a:rPr sz="1200" i="0">
                <a:solidFill>
                  <a:srgbClr val="1C273A"/>
                </a:solidFill>
                <a:latin typeface="Consolas"/>
              </a:rPr>
              <a:t>from vunit import VUnit</a:t>
            </a:r>
          </a:p>
          <a:p>
            <a:pPr algn="l">
              <a:lnSpc>
                <a:spcPct val="115000"/>
              </a:lnSpc>
              <a:spcAft>
                <a:spcPts val="0"/>
              </a:spcAft>
            </a:pPr>
            <a:r>
              <a:rPr sz="1200" i="0">
                <a:solidFill>
                  <a:srgbClr val="1C273A"/>
                </a:solidFill>
                <a:latin typeface="Consolas"/>
              </a:rPr>
              <a:t> </a:t>
            </a:r>
          </a:p>
          <a:p>
            <a:pPr algn="l">
              <a:lnSpc>
                <a:spcPct val="115000"/>
              </a:lnSpc>
              <a:spcAft>
                <a:spcPts val="0"/>
              </a:spcAft>
            </a:pPr>
            <a:r>
              <a:rPr sz="1200" i="0">
                <a:solidFill>
                  <a:srgbClr val="1C273A"/>
                </a:solidFill>
                <a:latin typeface="Consolas"/>
              </a:rPr>
              <a:t>ROOT = Path(__file__).parent</a:t>
            </a:r>
          </a:p>
          <a:p>
            <a:pPr algn="l">
              <a:lnSpc>
                <a:spcPct val="115000"/>
              </a:lnSpc>
              <a:spcAft>
                <a:spcPts val="0"/>
              </a:spcAft>
            </a:pPr>
            <a:r>
              <a:rPr sz="1200" i="0">
                <a:solidFill>
                  <a:srgbClr val="1C273A"/>
                </a:solidFill>
                <a:latin typeface="Consolas"/>
              </a:rPr>
              <a:t> </a:t>
            </a:r>
          </a:p>
          <a:p>
            <a:pPr algn="l">
              <a:lnSpc>
                <a:spcPct val="115000"/>
              </a:lnSpc>
              <a:spcAft>
                <a:spcPts val="0"/>
              </a:spcAft>
            </a:pPr>
            <a:r>
              <a:rPr sz="1200" i="0">
                <a:solidFill>
                  <a:srgbClr val="1C273A"/>
                </a:solidFill>
                <a:latin typeface="Consolas"/>
              </a:rPr>
              <a:t>vu = VUnit.from_argv()</a:t>
            </a:r>
          </a:p>
          <a:p>
            <a:pPr algn="l">
              <a:lnSpc>
                <a:spcPct val="115000"/>
              </a:lnSpc>
              <a:spcAft>
                <a:spcPts val="0"/>
              </a:spcAft>
            </a:pPr>
            <a:r>
              <a:rPr sz="1200" i="0">
                <a:solidFill>
                  <a:srgbClr val="1C273A"/>
                </a:solidFill>
                <a:latin typeface="Consolas"/>
              </a:rPr>
              <a:t>vu.add_vhdl_builtins()</a:t>
            </a:r>
          </a:p>
          <a:p>
            <a:pPr algn="l">
              <a:lnSpc>
                <a:spcPct val="115000"/>
              </a:lnSpc>
              <a:spcAft>
                <a:spcPts val="0"/>
              </a:spcAft>
            </a:pPr>
            <a:r>
              <a:rPr sz="1200" i="0">
                <a:solidFill>
                  <a:srgbClr val="1C273A"/>
                </a:solidFill>
                <a:latin typeface="Consolas"/>
              </a:rPr>
              <a:t> </a:t>
            </a:r>
          </a:p>
          <a:p>
            <a:pPr algn="l">
              <a:lnSpc>
                <a:spcPct val="115000"/>
              </a:lnSpc>
              <a:spcAft>
                <a:spcPts val="0"/>
              </a:spcAft>
            </a:pPr>
            <a:r>
              <a:rPr sz="1200" i="0">
                <a:solidFill>
                  <a:srgbClr val="1C273A"/>
                </a:solidFill>
                <a:latin typeface="Consolas"/>
              </a:rPr>
              <a:t>lib = vu.add_library("lib")</a:t>
            </a:r>
          </a:p>
          <a:p>
            <a:pPr algn="l">
              <a:lnSpc>
                <a:spcPct val="115000"/>
              </a:lnSpc>
              <a:spcAft>
                <a:spcPts val="0"/>
              </a:spcAft>
            </a:pPr>
            <a:r>
              <a:rPr sz="1200" i="0">
                <a:solidFill>
                  <a:srgbClr val="1C273A"/>
                </a:solidFill>
                <a:latin typeface="Consolas"/>
              </a:rPr>
              <a:t>lib.add_source_files(ROOT / "hdl/src/*.vhd")</a:t>
            </a:r>
          </a:p>
          <a:p>
            <a:pPr algn="l">
              <a:lnSpc>
                <a:spcPct val="115000"/>
              </a:lnSpc>
              <a:spcAft>
                <a:spcPts val="0"/>
              </a:spcAft>
            </a:pPr>
            <a:r>
              <a:rPr sz="1200" i="0">
                <a:solidFill>
                  <a:srgbClr val="1C273A"/>
                </a:solidFill>
                <a:latin typeface="Consolas"/>
              </a:rPr>
              <a:t>lib.add_source_files(ROOT / "hdl/tb/*.vhd")</a:t>
            </a:r>
          </a:p>
          <a:p>
            <a:pPr algn="l">
              <a:lnSpc>
                <a:spcPct val="115000"/>
              </a:lnSpc>
              <a:spcAft>
                <a:spcPts val="0"/>
              </a:spcAft>
            </a:pPr>
            <a:r>
              <a:rPr sz="1200" i="0">
                <a:solidFill>
                  <a:srgbClr val="1C273A"/>
                </a:solidFill>
                <a:latin typeface="Consolas"/>
              </a:rPr>
              <a:t> </a:t>
            </a:r>
          </a:p>
          <a:p>
            <a:pPr algn="l">
              <a:lnSpc>
                <a:spcPct val="115000"/>
              </a:lnSpc>
              <a:spcAft>
                <a:spcPts val="0"/>
              </a:spcAft>
            </a:pPr>
            <a:r>
              <a:rPr sz="1200" i="0">
                <a:solidFill>
                  <a:srgbClr val="1C273A"/>
                </a:solidFill>
                <a:latin typeface="Consolas"/>
              </a:rPr>
              <a:t>vu.main()</a:t>
            </a:r>
          </a:p>
        </p:txBody>
      </p:sp>
      <p:sp>
        <p:nvSpPr>
          <p:cNvPr id="6" name="Rounded Rectangle 5"/>
          <p:cNvSpPr/>
          <p:nvPr/>
        </p:nvSpPr>
        <p:spPr>
          <a:xfrm>
            <a:off x="6675120" y="1874519"/>
            <a:ext cx="4069080" cy="4530598"/>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76288" y="2075688"/>
            <a:ext cx="3666744" cy="631190"/>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BU ON SATIR NE GETİRİYOR?</a:t>
            </a:r>
          </a:p>
        </p:txBody>
      </p:sp>
      <p:sp>
        <p:nvSpPr>
          <p:cNvPr id="8" name="TextBox 7"/>
          <p:cNvSpPr txBox="1"/>
          <p:nvPr/>
        </p:nvSpPr>
        <p:spPr>
          <a:xfrm>
            <a:off x="6876288" y="2706878"/>
            <a:ext cx="3666744" cy="3588512"/>
          </a:xfrm>
          <a:prstGeom prst="rect">
            <a:avLst/>
          </a:prstGeom>
          <a:noFill/>
        </p:spPr>
        <p:txBody>
          <a:bodyPr wrap="square" lIns="0" tIns="0" rIns="0" bIns="0">
            <a:spAutoFit/>
          </a:bodyPr>
          <a:lstStyle/>
          <a:p>
            <a:pPr algn="l">
              <a:lnSpc>
                <a:spcPct val="112000"/>
              </a:lnSpc>
              <a:spcAft>
                <a:spcPts val="400"/>
              </a:spcAft>
            </a:pPr>
            <a:r>
              <a:rPr sz="1450" b="0" i="0">
                <a:solidFill>
                  <a:srgbClr val="4D4D4D"/>
                </a:solidFill>
                <a:latin typeface="Calibri"/>
              </a:rPr>
              <a:t>Dosya sırasını sen vermezsin — bağımlılıklar</a:t>
            </a:r>
          </a:p>
          <a:p>
            <a:pPr algn="l">
              <a:lnSpc>
                <a:spcPct val="112000"/>
              </a:lnSpc>
              <a:spcAft>
                <a:spcPts val="400"/>
              </a:spcAft>
            </a:pPr>
            <a:r>
              <a:rPr sz="1450" b="0" i="0">
                <a:solidFill>
                  <a:srgbClr val="4D4D4D"/>
                </a:solidFill>
                <a:latin typeface="Calibri"/>
              </a:rPr>
              <a:t>kaynak taranarak çözülür</a:t>
            </a:r>
          </a:p>
          <a:p>
            <a:pPr algn="l">
              <a:lnSpc>
                <a:spcPct val="112000"/>
              </a:lnSpc>
              <a:spcAft>
                <a:spcPts val="400"/>
              </a:spcAft>
            </a:pPr>
            <a:endParaRPr sz="1450" b="0" i="0">
              <a:solidFill>
                <a:srgbClr val="4D4D4D"/>
              </a:solidFill>
              <a:latin typeface="Calibri"/>
            </a:endParaRPr>
          </a:p>
          <a:p>
            <a:pPr algn="l">
              <a:lnSpc>
                <a:spcPct val="112000"/>
              </a:lnSpc>
              <a:spcAft>
                <a:spcPts val="400"/>
              </a:spcAft>
            </a:pPr>
            <a:r>
              <a:rPr sz="1450" b="0" i="0">
                <a:solidFill>
                  <a:srgbClr val="4D4D4D"/>
                </a:solidFill>
                <a:latin typeface="Calibri"/>
              </a:rPr>
              <a:t>Değişmeyen dosya yeniden derlenmez</a:t>
            </a:r>
          </a:p>
          <a:p>
            <a:pPr algn="l">
              <a:lnSpc>
                <a:spcPct val="112000"/>
              </a:lnSpc>
              <a:spcAft>
                <a:spcPts val="400"/>
              </a:spcAft>
            </a:pPr>
            <a:endParaRPr sz="1450" b="0" i="0">
              <a:solidFill>
                <a:srgbClr val="4D4D4D"/>
              </a:solidFill>
              <a:latin typeface="Calibri"/>
            </a:endParaRPr>
          </a:p>
          <a:p>
            <a:pPr algn="l">
              <a:lnSpc>
                <a:spcPct val="112000"/>
              </a:lnSpc>
              <a:spcAft>
                <a:spcPts val="400"/>
              </a:spcAft>
            </a:pPr>
            <a:r>
              <a:rPr sz="1450" b="0" i="0">
                <a:solidFill>
                  <a:srgbClr val="4D4D4D"/>
                </a:solidFill>
                <a:latin typeface="Calibri"/>
              </a:rPr>
              <a:t>Testler otomatik keşfedilir; run("...")</a:t>
            </a:r>
          </a:p>
          <a:p>
            <a:pPr algn="l">
              <a:lnSpc>
                <a:spcPct val="112000"/>
              </a:lnSpc>
              <a:spcAft>
                <a:spcPts val="400"/>
              </a:spcAft>
            </a:pPr>
            <a:r>
              <a:rPr sz="1450" b="0" i="0">
                <a:solidFill>
                  <a:srgbClr val="4D4D4D"/>
                </a:solidFill>
                <a:latin typeface="Calibri"/>
              </a:rPr>
              <a:t>yazdığın an listeye girer</a:t>
            </a:r>
          </a:p>
          <a:p>
            <a:pPr algn="l">
              <a:lnSpc>
                <a:spcPct val="112000"/>
              </a:lnSpc>
              <a:spcAft>
                <a:spcPts val="400"/>
              </a:spcAft>
            </a:pPr>
            <a:endParaRPr sz="1450" b="0" i="0">
              <a:solidFill>
                <a:srgbClr val="4D4D4D"/>
              </a:solidFill>
              <a:latin typeface="Calibri"/>
            </a:endParaRPr>
          </a:p>
          <a:p>
            <a:pPr algn="l">
              <a:lnSpc>
                <a:spcPct val="112000"/>
              </a:lnSpc>
              <a:spcAft>
                <a:spcPts val="400"/>
              </a:spcAft>
            </a:pPr>
            <a:r>
              <a:rPr sz="1450" b="0" i="0">
                <a:solidFill>
                  <a:srgbClr val="4D4D4D"/>
                </a:solidFill>
                <a:latin typeface="Calibri"/>
              </a:rPr>
              <a:t>Makefile, .do dosyası, TCL yok</a:t>
            </a:r>
          </a:p>
          <a:p>
            <a:pPr algn="l">
              <a:lnSpc>
                <a:spcPct val="112000"/>
              </a:lnSpc>
              <a:spcAft>
                <a:spcPts val="400"/>
              </a:spcAft>
            </a:pPr>
            <a:endParaRPr sz="1450" b="0" i="0">
              <a:solidFill>
                <a:srgbClr val="4D4D4D"/>
              </a:solidFill>
              <a:latin typeface="Calibri"/>
            </a:endParaRPr>
          </a:p>
          <a:p>
            <a:pPr algn="l">
              <a:lnSpc>
                <a:spcPct val="112000"/>
              </a:lnSpc>
              <a:spcAft>
                <a:spcPts val="400"/>
              </a:spcAft>
            </a:pPr>
            <a:r>
              <a:rPr sz="1450" b="0" i="0">
                <a:solidFill>
                  <a:srgbClr val="4D4D4D"/>
                </a:solidFill>
                <a:latin typeface="Calibri"/>
              </a:rPr>
              <a:t>Her test ayrı süreçte koşar — biri</a:t>
            </a:r>
          </a:p>
          <a:p>
            <a:pPr algn="l">
              <a:lnSpc>
                <a:spcPct val="112000"/>
              </a:lnSpc>
              <a:spcAft>
                <a:spcPts val="400"/>
              </a:spcAft>
            </a:pPr>
            <a:r>
              <a:rPr sz="1450" b="0" i="0">
                <a:solidFill>
                  <a:srgbClr val="4D4D4D"/>
                </a:solidFill>
                <a:latin typeface="Calibri"/>
              </a:rPr>
              <a:t>çökerse diğerleri etkilenmez</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KOŞUM: TEK ARAYÜZ, DÖRT KULLANIM</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Aynı script hem masaüstünde hem CI'da çalışır</a:t>
            </a:r>
          </a:p>
        </p:txBody>
      </p:sp>
      <p:graphicFrame>
        <p:nvGraphicFramePr>
          <p:cNvPr id="4" name="Table 3"/>
          <p:cNvGraphicFramePr>
            <a:graphicFrameLocks noGrp="1"/>
          </p:cNvGraphicFramePr>
          <p:nvPr/>
        </p:nvGraphicFramePr>
        <p:xfrm>
          <a:off x="411480" y="1920240"/>
          <a:ext cx="10332719" cy="2779776"/>
        </p:xfrm>
        <a:graphic>
          <a:graphicData uri="http://schemas.openxmlformats.org/drawingml/2006/table">
            <a:tbl>
              <a:tblPr firstRow="1" bandRow="1">
                <a:tableStyleId>{5C22544A-7EE6-4342-B048-85BDC9FD1C3A}</a:tableStyleId>
              </a:tblPr>
              <a:tblGrid>
                <a:gridCol w="3926433">
                  <a:extLst>
                    <a:ext uri="{9D8B030D-6E8A-4147-A177-3AD203B41FA5}">
                      <a16:colId xmlns:a16="http://schemas.microsoft.com/office/drawing/2014/main" val="20000"/>
                    </a:ext>
                  </a:extLst>
                </a:gridCol>
                <a:gridCol w="6406286">
                  <a:extLst>
                    <a:ext uri="{9D8B030D-6E8A-4147-A177-3AD203B41FA5}">
                      <a16:colId xmlns:a16="http://schemas.microsoft.com/office/drawing/2014/main" val="20001"/>
                    </a:ext>
                  </a:extLst>
                </a:gridCol>
              </a:tblGrid>
              <a:tr h="365760">
                <a:tc>
                  <a:txBody>
                    <a:bodyPr/>
                    <a:lstStyle/>
                    <a:p>
                      <a:pPr algn="l">
                        <a:spcAft>
                          <a:spcPts val="0"/>
                        </a:spcAft>
                      </a:pPr>
                      <a:r>
                        <a:rPr sz="1400" b="1" i="0">
                          <a:solidFill>
                            <a:srgbClr val="FFFFFF"/>
                          </a:solidFill>
                          <a:latin typeface="Segoe UI Semibold"/>
                        </a:rPr>
                        <a:t>Komut</a:t>
                      </a:r>
                    </a:p>
                  </a:txBody>
                  <a:tcPr marR="73152" marT="27432" marB="27432" anchor="ctr">
                    <a:solidFill>
                      <a:srgbClr val="002D7A"/>
                    </a:solidFill>
                  </a:tcPr>
                </a:tc>
                <a:tc>
                  <a:txBody>
                    <a:bodyPr/>
                    <a:lstStyle/>
                    <a:p>
                      <a:pPr algn="l">
                        <a:spcAft>
                          <a:spcPts val="0"/>
                        </a:spcAft>
                      </a:pPr>
                      <a:r>
                        <a:rPr sz="1400" b="1" i="0">
                          <a:solidFill>
                            <a:srgbClr val="FFFFFF"/>
                          </a:solidFill>
                          <a:latin typeface="Segoe UI Semibold"/>
                        </a:rPr>
                        <a:t>Ne yapar</a:t>
                      </a:r>
                    </a:p>
                  </a:txBody>
                  <a:tcPr marR="73152" marT="27432" marB="27432" anchor="ctr">
                    <a:solidFill>
                      <a:srgbClr val="002D7A"/>
                    </a:solidFill>
                  </a:tcPr>
                </a:tc>
                <a:extLst>
                  <a:ext uri="{0D108BD9-81ED-4DB2-BD59-A6C34878D82A}">
                    <a16:rowId xmlns:a16="http://schemas.microsoft.com/office/drawing/2014/main" val="10000"/>
                  </a:ext>
                </a:extLst>
              </a:tr>
              <a:tr h="402336">
                <a:tc>
                  <a:txBody>
                    <a:bodyPr/>
                    <a:lstStyle/>
                    <a:p>
                      <a:pPr algn="l">
                        <a:spcAft>
                          <a:spcPts val="0"/>
                        </a:spcAft>
                      </a:pPr>
                      <a:r>
                        <a:rPr sz="1400" b="0" i="0">
                          <a:solidFill>
                            <a:srgbClr val="4D4D4D"/>
                          </a:solidFill>
                          <a:latin typeface="Calibri"/>
                        </a:rPr>
                        <a:t>python run.py</a:t>
                      </a:r>
                    </a:p>
                  </a:txBody>
                  <a:tcPr marR="73152" marT="27432" marB="27432" anchor="ctr">
                    <a:solidFill>
                      <a:srgbClr val="FFFFFF"/>
                    </a:solidFill>
                  </a:tcPr>
                </a:tc>
                <a:tc>
                  <a:txBody>
                    <a:bodyPr/>
                    <a:lstStyle/>
                    <a:p>
                      <a:pPr algn="l">
                        <a:spcAft>
                          <a:spcPts val="0"/>
                        </a:spcAft>
                      </a:pPr>
                      <a:r>
                        <a:rPr sz="1400" b="0" i="0">
                          <a:solidFill>
                            <a:srgbClr val="4D4D4D"/>
                          </a:solidFill>
                          <a:latin typeface="Calibri"/>
                        </a:rPr>
                        <a:t>Bütün testleri koşar, özet basar</a:t>
                      </a:r>
                    </a:p>
                  </a:txBody>
                  <a:tcPr marR="73152" marT="27432" marB="27432" anchor="ctr">
                    <a:solidFill>
                      <a:srgbClr val="FFFFFF"/>
                    </a:solidFill>
                  </a:tcPr>
                </a:tc>
                <a:extLst>
                  <a:ext uri="{0D108BD9-81ED-4DB2-BD59-A6C34878D82A}">
                    <a16:rowId xmlns:a16="http://schemas.microsoft.com/office/drawing/2014/main" val="10001"/>
                  </a:ext>
                </a:extLst>
              </a:tr>
              <a:tr h="402336">
                <a:tc>
                  <a:txBody>
                    <a:bodyPr/>
                    <a:lstStyle/>
                    <a:p>
                      <a:pPr algn="l">
                        <a:spcAft>
                          <a:spcPts val="0"/>
                        </a:spcAft>
                      </a:pPr>
                      <a:r>
                        <a:rPr sz="1400" b="0" i="0">
                          <a:solidFill>
                            <a:srgbClr val="4D4D4D"/>
                          </a:solidFill>
                          <a:latin typeface="Calibri"/>
                        </a:rPr>
                        <a:t>python run.py --list</a:t>
                      </a:r>
                    </a:p>
                  </a:txBody>
                  <a:tcPr marR="73152" marT="27432" marB="27432" anchor="ctr">
                    <a:solidFill>
                      <a:srgbClr val="F1F4F9"/>
                    </a:solidFill>
                  </a:tcPr>
                </a:tc>
                <a:tc>
                  <a:txBody>
                    <a:bodyPr/>
                    <a:lstStyle/>
                    <a:p>
                      <a:pPr algn="l">
                        <a:spcAft>
                          <a:spcPts val="0"/>
                        </a:spcAft>
                      </a:pPr>
                      <a:r>
                        <a:rPr sz="1400" b="0" i="0">
                          <a:solidFill>
                            <a:srgbClr val="4D4D4D"/>
                          </a:solidFill>
                          <a:latin typeface="Calibri"/>
                        </a:rPr>
                        <a:t>Testleri listeler, koşmaz</a:t>
                      </a:r>
                    </a:p>
                  </a:txBody>
                  <a:tcPr marR="73152" marT="27432" marB="27432" anchor="ctr">
                    <a:solidFill>
                      <a:srgbClr val="F1F4F9"/>
                    </a:solidFill>
                  </a:tcPr>
                </a:tc>
                <a:extLst>
                  <a:ext uri="{0D108BD9-81ED-4DB2-BD59-A6C34878D82A}">
                    <a16:rowId xmlns:a16="http://schemas.microsoft.com/office/drawing/2014/main" val="10002"/>
                  </a:ext>
                </a:extLst>
              </a:tr>
              <a:tr h="402336">
                <a:tc>
                  <a:txBody>
                    <a:bodyPr/>
                    <a:lstStyle/>
                    <a:p>
                      <a:pPr algn="l">
                        <a:spcAft>
                          <a:spcPts val="0"/>
                        </a:spcAft>
                      </a:pPr>
                      <a:r>
                        <a:rPr sz="1400" b="0" i="0">
                          <a:solidFill>
                            <a:srgbClr val="4D4D4D"/>
                          </a:solidFill>
                          <a:latin typeface="Calibri"/>
                        </a:rPr>
                        <a:t>python run.py "*tlast*"</a:t>
                      </a:r>
                    </a:p>
                  </a:txBody>
                  <a:tcPr marR="73152" marT="27432" marB="27432" anchor="ctr">
                    <a:solidFill>
                      <a:srgbClr val="FFFFFF"/>
                    </a:solidFill>
                  </a:tcPr>
                </a:tc>
                <a:tc>
                  <a:txBody>
                    <a:bodyPr/>
                    <a:lstStyle/>
                    <a:p>
                      <a:pPr algn="l">
                        <a:spcAft>
                          <a:spcPts val="0"/>
                        </a:spcAft>
                      </a:pPr>
                      <a:r>
                        <a:rPr sz="1400" b="0" i="0">
                          <a:solidFill>
                            <a:srgbClr val="4D4D4D"/>
                          </a:solidFill>
                          <a:latin typeface="Calibri"/>
                        </a:rPr>
                        <a:t>Ada göre süzer — tek testi tekrar koş</a:t>
                      </a:r>
                    </a:p>
                  </a:txBody>
                  <a:tcPr marR="73152" marT="27432" marB="27432" anchor="ctr">
                    <a:solidFill>
                      <a:srgbClr val="FFFFFF"/>
                    </a:solidFill>
                  </a:tcPr>
                </a:tc>
                <a:extLst>
                  <a:ext uri="{0D108BD9-81ED-4DB2-BD59-A6C34878D82A}">
                    <a16:rowId xmlns:a16="http://schemas.microsoft.com/office/drawing/2014/main" val="10003"/>
                  </a:ext>
                </a:extLst>
              </a:tr>
              <a:tr h="402336">
                <a:tc>
                  <a:txBody>
                    <a:bodyPr/>
                    <a:lstStyle/>
                    <a:p>
                      <a:pPr algn="l">
                        <a:spcAft>
                          <a:spcPts val="0"/>
                        </a:spcAft>
                      </a:pPr>
                      <a:r>
                        <a:rPr sz="1400" b="0" i="0">
                          <a:solidFill>
                            <a:srgbClr val="4D4D4D"/>
                          </a:solidFill>
                          <a:latin typeface="Calibri"/>
                        </a:rPr>
                        <a:t>python run.py -p 8</a:t>
                      </a:r>
                    </a:p>
                  </a:txBody>
                  <a:tcPr marR="73152" marT="27432" marB="27432" anchor="ctr">
                    <a:solidFill>
                      <a:srgbClr val="F1F4F9"/>
                    </a:solidFill>
                  </a:tcPr>
                </a:tc>
                <a:tc>
                  <a:txBody>
                    <a:bodyPr/>
                    <a:lstStyle/>
                    <a:p>
                      <a:pPr algn="l">
                        <a:spcAft>
                          <a:spcPts val="0"/>
                        </a:spcAft>
                      </a:pPr>
                      <a:r>
                        <a:rPr sz="1400" b="0" i="0">
                          <a:solidFill>
                            <a:srgbClr val="4D4D4D"/>
                          </a:solidFill>
                          <a:latin typeface="Calibri"/>
                        </a:rPr>
                        <a:t>Sekiz süreçte paralel koşar</a:t>
                      </a:r>
                    </a:p>
                  </a:txBody>
                  <a:tcPr marR="73152" marT="27432" marB="27432" anchor="ctr">
                    <a:solidFill>
                      <a:srgbClr val="F1F4F9"/>
                    </a:solidFill>
                  </a:tcPr>
                </a:tc>
                <a:extLst>
                  <a:ext uri="{0D108BD9-81ED-4DB2-BD59-A6C34878D82A}">
                    <a16:rowId xmlns:a16="http://schemas.microsoft.com/office/drawing/2014/main" val="10004"/>
                  </a:ext>
                </a:extLst>
              </a:tr>
              <a:tr h="402336">
                <a:tc>
                  <a:txBody>
                    <a:bodyPr/>
                    <a:lstStyle/>
                    <a:p>
                      <a:pPr algn="l">
                        <a:spcAft>
                          <a:spcPts val="0"/>
                        </a:spcAft>
                      </a:pPr>
                      <a:r>
                        <a:rPr sz="1400" b="0" i="0">
                          <a:solidFill>
                            <a:srgbClr val="4D4D4D"/>
                          </a:solidFill>
                          <a:latin typeface="Calibri"/>
                        </a:rPr>
                        <a:t>python run.py -v --log-level debug</a:t>
                      </a:r>
                    </a:p>
                  </a:txBody>
                  <a:tcPr marR="73152" marT="27432" marB="27432" anchor="ctr">
                    <a:solidFill>
                      <a:srgbClr val="FFFFFF"/>
                    </a:solidFill>
                  </a:tcPr>
                </a:tc>
                <a:tc>
                  <a:txBody>
                    <a:bodyPr/>
                    <a:lstStyle/>
                    <a:p>
                      <a:pPr algn="l">
                        <a:spcAft>
                          <a:spcPts val="0"/>
                        </a:spcAft>
                      </a:pPr>
                      <a:r>
                        <a:rPr sz="1400" b="0" i="0">
                          <a:solidFill>
                            <a:srgbClr val="4D4D4D"/>
                          </a:solidFill>
                          <a:latin typeface="Calibri"/>
                        </a:rPr>
                        <a:t>Ayrıntılı çıktı, hata avı için</a:t>
                      </a:r>
                    </a:p>
                  </a:txBody>
                  <a:tcPr marR="73152" marT="27432" marB="27432" anchor="ctr">
                    <a:solidFill>
                      <a:srgbClr val="FFFFFF"/>
                    </a:solidFill>
                  </a:tcPr>
                </a:tc>
                <a:extLst>
                  <a:ext uri="{0D108BD9-81ED-4DB2-BD59-A6C34878D82A}">
                    <a16:rowId xmlns:a16="http://schemas.microsoft.com/office/drawing/2014/main" val="10005"/>
                  </a:ext>
                </a:extLst>
              </a:tr>
              <a:tr h="402336">
                <a:tc>
                  <a:txBody>
                    <a:bodyPr/>
                    <a:lstStyle/>
                    <a:p>
                      <a:pPr algn="l">
                        <a:spcAft>
                          <a:spcPts val="0"/>
                        </a:spcAft>
                      </a:pPr>
                      <a:r>
                        <a:rPr sz="1400" b="0" i="0">
                          <a:solidFill>
                            <a:srgbClr val="4D4D4D"/>
                          </a:solidFill>
                          <a:latin typeface="Calibri"/>
                        </a:rPr>
                        <a:t>python run.py --xunit-xml out.xml</a:t>
                      </a:r>
                    </a:p>
                  </a:txBody>
                  <a:tcPr marR="73152" marT="27432" marB="27432" anchor="ctr">
                    <a:solidFill>
                      <a:srgbClr val="F1F4F9"/>
                    </a:solidFill>
                  </a:tcPr>
                </a:tc>
                <a:tc>
                  <a:txBody>
                    <a:bodyPr/>
                    <a:lstStyle/>
                    <a:p>
                      <a:pPr algn="l">
                        <a:spcAft>
                          <a:spcPts val="0"/>
                        </a:spcAft>
                      </a:pPr>
                      <a:r>
                        <a:rPr sz="1400" b="0" i="0">
                          <a:solidFill>
                            <a:srgbClr val="4D4D4D"/>
                          </a:solidFill>
                          <a:latin typeface="Calibri"/>
                        </a:rPr>
                        <a:t>CI'ın okuyacağı rapor üretir</a:t>
                      </a:r>
                    </a:p>
                  </a:txBody>
                  <a:tcPr marR="73152" marT="27432" marB="27432" anchor="ctr">
                    <a:solidFill>
                      <a:srgbClr val="F1F4F9"/>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411480" y="5120640"/>
            <a:ext cx="10332720" cy="822960"/>
          </a:xfrm>
          <a:prstGeom prst="rect">
            <a:avLst/>
          </a:prstGeom>
          <a:noFill/>
        </p:spPr>
        <p:txBody>
          <a:bodyPr wrap="square" lIns="0" tIns="0" rIns="0" bIns="0">
            <a:spAutoFit/>
          </a:bodyPr>
          <a:lstStyle/>
          <a:p>
            <a:pPr algn="l">
              <a:lnSpc>
                <a:spcPct val="115000"/>
              </a:lnSpc>
              <a:spcAft>
                <a:spcPts val="600"/>
              </a:spcAft>
            </a:pPr>
            <a:r>
              <a:rPr sz="1500" b="0" i="0">
                <a:solidFill>
                  <a:srgbClr val="4D4D4D"/>
                </a:solidFill>
                <a:latin typeface="Calibri"/>
              </a:rPr>
              <a:t>Süzme özelliği pratikte en çok kullanılan şey: 400 testlik bir regresyonda düşen tek testi saniyeler içinde tekrar koşabiliyorsun. Test adı, düştüğünde nereye bakacağını söyleyen tek belgedir — bu yüzden adlandırma bir üslup tercihi değil.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VUNİT NE DEĞİLDİR?</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Kapsamı baştan netleştirmek, sonra hayal kırıklığını önler</a:t>
            </a:r>
          </a:p>
        </p:txBody>
      </p:sp>
      <p:sp>
        <p:nvSpPr>
          <p:cNvPr id="4" name="Rounded Rectangle 3"/>
          <p:cNvSpPr/>
          <p:nvPr/>
        </p:nvSpPr>
        <p:spPr>
          <a:xfrm>
            <a:off x="411480" y="1920240"/>
            <a:ext cx="3246120" cy="2181606"/>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2121408"/>
            <a:ext cx="2843784" cy="631190"/>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Simülatör değildir</a:t>
            </a:r>
          </a:p>
        </p:txBody>
      </p:sp>
      <p:sp>
        <p:nvSpPr>
          <p:cNvPr id="6" name="TextBox 5"/>
          <p:cNvSpPr txBox="1"/>
          <p:nvPr/>
        </p:nvSpPr>
        <p:spPr>
          <a:xfrm>
            <a:off x="612648" y="2752598"/>
            <a:ext cx="2843784" cy="1239520"/>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Simülatörü o çalıştırır ama yerine geçmez.</a:t>
            </a:r>
          </a:p>
          <a:p>
            <a:pPr algn="l">
              <a:lnSpc>
                <a:spcPct val="112000"/>
              </a:lnSpc>
              <a:spcAft>
                <a:spcPts val="400"/>
              </a:spcAft>
            </a:pPr>
            <a:r>
              <a:rPr sz="1400" b="0" i="0">
                <a:solidFill>
                  <a:srgbClr val="4D4D4D"/>
                </a:solidFill>
                <a:latin typeface="Calibri"/>
              </a:rPr>
              <a:t>NVC, GHDL, ModelSim/Questa, Riviera-PRO,</a:t>
            </a:r>
          </a:p>
          <a:p>
            <a:pPr algn="l">
              <a:lnSpc>
                <a:spcPct val="112000"/>
              </a:lnSpc>
              <a:spcAft>
                <a:spcPts val="400"/>
              </a:spcAft>
            </a:pPr>
            <a:r>
              <a:rPr sz="1400" b="0" i="0">
                <a:solidFill>
                  <a:srgbClr val="4D4D4D"/>
                </a:solidFill>
                <a:latin typeface="Calibri"/>
              </a:rPr>
              <a:t>Active-HDL destekleniyor.</a:t>
            </a:r>
          </a:p>
        </p:txBody>
      </p:sp>
      <p:sp>
        <p:nvSpPr>
          <p:cNvPr id="7" name="Rounded Rectangle 6"/>
          <p:cNvSpPr/>
          <p:nvPr/>
        </p:nvSpPr>
        <p:spPr>
          <a:xfrm>
            <a:off x="3931920" y="1920240"/>
            <a:ext cx="3246120" cy="2181606"/>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133087" y="2121408"/>
            <a:ext cx="2843784" cy="631190"/>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Sentezle ilgisi yoktur</a:t>
            </a:r>
          </a:p>
        </p:txBody>
      </p:sp>
      <p:sp>
        <p:nvSpPr>
          <p:cNvPr id="9" name="TextBox 8"/>
          <p:cNvSpPr txBox="1"/>
          <p:nvPr/>
        </p:nvSpPr>
        <p:spPr>
          <a:xfrm>
            <a:off x="4133087" y="2752598"/>
            <a:ext cx="2843784" cy="1239520"/>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Yalnızca simülasyon zamanı çalışır.</a:t>
            </a:r>
          </a:p>
          <a:p>
            <a:pPr algn="l">
              <a:lnSpc>
                <a:spcPct val="112000"/>
              </a:lnSpc>
              <a:spcAft>
                <a:spcPts val="400"/>
              </a:spcAft>
            </a:pPr>
            <a:r>
              <a:rPr sz="1400" b="0" i="0">
                <a:solidFill>
                  <a:srgbClr val="4D4D4D"/>
                </a:solidFill>
                <a:latin typeface="Calibri"/>
              </a:rPr>
              <a:t>Sentez akışına, kısıt dosyalarına veya</a:t>
            </a:r>
          </a:p>
          <a:p>
            <a:pPr algn="l">
              <a:lnSpc>
                <a:spcPct val="112000"/>
              </a:lnSpc>
              <a:spcAft>
                <a:spcPts val="400"/>
              </a:spcAft>
            </a:pPr>
            <a:r>
              <a:rPr sz="1400" b="0" i="0">
                <a:solidFill>
                  <a:srgbClr val="4D4D4D"/>
                </a:solidFill>
                <a:latin typeface="Calibri"/>
              </a:rPr>
              <a:t>yerleştirmeye dokunmaz.</a:t>
            </a:r>
          </a:p>
        </p:txBody>
      </p:sp>
      <p:sp>
        <p:nvSpPr>
          <p:cNvPr id="10" name="Rounded Rectangle 9"/>
          <p:cNvSpPr/>
          <p:nvPr/>
        </p:nvSpPr>
        <p:spPr>
          <a:xfrm>
            <a:off x="7452360" y="1920240"/>
            <a:ext cx="3291840" cy="214884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653528" y="2121408"/>
            <a:ext cx="288950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UVM değildir</a:t>
            </a:r>
          </a:p>
        </p:txBody>
      </p:sp>
      <p:sp>
        <p:nvSpPr>
          <p:cNvPr id="12" name="TextBox 11"/>
          <p:cNvSpPr txBox="1"/>
          <p:nvPr/>
        </p:nvSpPr>
        <p:spPr>
          <a:xfrm>
            <a:off x="7653528" y="2505456"/>
            <a:ext cx="2889504" cy="1438656"/>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Metodoloji dayatmaz. Kalıtım hiyerarşisi,</a:t>
            </a:r>
          </a:p>
          <a:p>
            <a:pPr algn="l">
              <a:lnSpc>
                <a:spcPct val="112000"/>
              </a:lnSpc>
              <a:spcAft>
                <a:spcPts val="400"/>
              </a:spcAft>
            </a:pPr>
            <a:r>
              <a:rPr sz="1400" b="0" i="0">
                <a:solidFill>
                  <a:srgbClr val="4D4D4D"/>
                </a:solidFill>
                <a:latin typeface="Calibri"/>
              </a:rPr>
              <a:t>factory, phase mekanizması yok.</a:t>
            </a:r>
          </a:p>
          <a:p>
            <a:pPr algn="l">
              <a:lnSpc>
                <a:spcPct val="112000"/>
              </a:lnSpc>
              <a:spcAft>
                <a:spcPts val="400"/>
              </a:spcAft>
            </a:pPr>
            <a:r>
              <a:rPr sz="1400" b="0" i="0">
                <a:solidFill>
                  <a:srgbClr val="4D4D4D"/>
                </a:solidFill>
                <a:latin typeface="Calibri"/>
              </a:rPr>
              <a:t>İstersen OSVVM ile birlikte kullanılır.</a:t>
            </a:r>
          </a:p>
        </p:txBody>
      </p:sp>
      <p:sp>
        <p:nvSpPr>
          <p:cNvPr id="13" name="Rounded Rectangle 12"/>
          <p:cNvSpPr/>
          <p:nvPr/>
        </p:nvSpPr>
        <p:spPr>
          <a:xfrm>
            <a:off x="411480" y="4434840"/>
            <a:ext cx="10332720" cy="1508760"/>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85800" y="4617720"/>
            <a:ext cx="9784080" cy="365760"/>
          </a:xfrm>
          <a:prstGeom prst="rect">
            <a:avLst/>
          </a:prstGeom>
          <a:noFill/>
        </p:spPr>
        <p:txBody>
          <a:bodyPr wrap="square" lIns="0" tIns="0" rIns="0" bIns="0">
            <a:spAutoFit/>
          </a:bodyPr>
          <a:lstStyle/>
          <a:p>
            <a:pPr algn="l">
              <a:spcAft>
                <a:spcPts val="600"/>
              </a:spcAft>
            </a:pPr>
            <a:r>
              <a:rPr sz="1700" b="1" i="0">
                <a:solidFill>
                  <a:srgbClr val="FF5620"/>
                </a:solidFill>
                <a:latin typeface="Segoe UI Semibold"/>
              </a:rPr>
              <a:t>Peki mevcut akışımız ne olacak?</a:t>
            </a:r>
          </a:p>
        </p:txBody>
      </p:sp>
      <p:sp>
        <p:nvSpPr>
          <p:cNvPr id="15" name="TextBox 14"/>
          <p:cNvSpPr txBox="1"/>
          <p:nvPr/>
        </p:nvSpPr>
        <p:spPr>
          <a:xfrm>
            <a:off x="685800" y="5010912"/>
            <a:ext cx="9784080" cy="868680"/>
          </a:xfrm>
          <a:prstGeom prst="rect">
            <a:avLst/>
          </a:prstGeom>
          <a:noFill/>
        </p:spPr>
        <p:txBody>
          <a:bodyPr wrap="square" lIns="0" tIns="0" rIns="0" bIns="0">
            <a:spAutoFit/>
          </a:bodyPr>
          <a:lstStyle/>
          <a:p>
            <a:pPr algn="l">
              <a:lnSpc>
                <a:spcPct val="115000"/>
              </a:lnSpc>
              <a:spcAft>
                <a:spcPts val="600"/>
              </a:spcAft>
            </a:pPr>
            <a:r>
              <a:rPr sz="1500" b="0" i="0">
                <a:solidFill>
                  <a:srgbClr val="4D4D4D"/>
                </a:solidFill>
                <a:latin typeface="Calibri"/>
              </a:rPr>
              <a:t>Hiçbir şey. VUnit, blok seviyesinde yazdığınız RTL'e ücretsiz bir regresyon katmanı ekler; üst seviye entegrasyon ve şifreli IP içeren simülasyonlar mevcut Vivado akışında kalmaya devam eder. Teklif bir değiştirme değil, bir ekleme.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217920"/>
          </a:xfrm>
          <a:prstGeom prst="rect">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2240280"/>
            <a:ext cx="2011680" cy="1280160"/>
          </a:xfrm>
          <a:prstGeom prst="rect">
            <a:avLst/>
          </a:prstGeom>
          <a:noFill/>
        </p:spPr>
        <p:txBody>
          <a:bodyPr wrap="square" lIns="0" tIns="0" rIns="0" bIns="0">
            <a:spAutoFit/>
          </a:bodyPr>
          <a:lstStyle/>
          <a:p>
            <a:pPr algn="l">
              <a:spcAft>
                <a:spcPts val="600"/>
              </a:spcAft>
            </a:pPr>
            <a:r>
              <a:rPr sz="8400" b="1" i="0">
                <a:solidFill>
                  <a:srgbClr val="FF5620"/>
                </a:solidFill>
                <a:latin typeface="Segoe UI Black"/>
              </a:rPr>
              <a:t>02</a:t>
            </a:r>
          </a:p>
        </p:txBody>
      </p:sp>
      <p:sp>
        <p:nvSpPr>
          <p:cNvPr id="4" name="TextBox 3"/>
          <p:cNvSpPr txBox="1"/>
          <p:nvPr/>
        </p:nvSpPr>
        <p:spPr>
          <a:xfrm>
            <a:off x="1188720" y="3520440"/>
            <a:ext cx="9326880" cy="868680"/>
          </a:xfrm>
          <a:prstGeom prst="rect">
            <a:avLst/>
          </a:prstGeom>
          <a:noFill/>
        </p:spPr>
        <p:txBody>
          <a:bodyPr wrap="square" lIns="0" tIns="0" rIns="0" bIns="0">
            <a:spAutoFit/>
          </a:bodyPr>
          <a:lstStyle/>
          <a:p>
            <a:pPr algn="l">
              <a:spcAft>
                <a:spcPts val="600"/>
              </a:spcAft>
            </a:pPr>
            <a:r>
              <a:rPr sz="3600" b="1" i="0">
                <a:solidFill>
                  <a:srgbClr val="FFFFFF"/>
                </a:solidFill>
                <a:latin typeface="Segoe UI Black"/>
              </a:rPr>
              <a:t>NELER YAPILABİLİR?</a:t>
            </a:r>
          </a:p>
        </p:txBody>
      </p:sp>
      <p:sp>
        <p:nvSpPr>
          <p:cNvPr id="5" name="TextBox 4"/>
          <p:cNvSpPr txBox="1"/>
          <p:nvPr/>
        </p:nvSpPr>
        <p:spPr>
          <a:xfrm>
            <a:off x="1234440" y="4434840"/>
            <a:ext cx="8778240" cy="822960"/>
          </a:xfrm>
          <a:prstGeom prst="rect">
            <a:avLst/>
          </a:prstGeom>
          <a:noFill/>
        </p:spPr>
        <p:txBody>
          <a:bodyPr wrap="square" lIns="0" tIns="0" rIns="0" bIns="0">
            <a:spAutoFit/>
          </a:bodyPr>
          <a:lstStyle/>
          <a:p>
            <a:pPr algn="l">
              <a:spcAft>
                <a:spcPts val="600"/>
              </a:spcAft>
            </a:pPr>
            <a:r>
              <a:rPr sz="1800" b="0" i="0">
                <a:solidFill>
                  <a:srgbClr val="C5D3EC"/>
                </a:solidFill>
                <a:latin typeface="Calibri"/>
              </a:rPr>
              <a:t>check kütüphanesinden Python golden model'e, parametrik testten sürekli entegrasyona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CHECK KÜTÜPHANESİ</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assert'ten farkı: mesaj, konum ve sayım bedava gelir</a:t>
            </a:r>
          </a:p>
        </p:txBody>
      </p:sp>
      <p:sp>
        <p:nvSpPr>
          <p:cNvPr id="4" name="Rounded Rectangle 3"/>
          <p:cNvSpPr/>
          <p:nvPr/>
        </p:nvSpPr>
        <p:spPr>
          <a:xfrm>
            <a:off x="411480" y="1874519"/>
            <a:ext cx="6217920" cy="264414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057400"/>
            <a:ext cx="5852159" cy="2278380"/>
          </a:xfrm>
          <a:prstGeom prst="rect">
            <a:avLst/>
          </a:prstGeom>
          <a:noFill/>
        </p:spPr>
        <p:txBody>
          <a:bodyPr wrap="square" lIns="0" tIns="0" rIns="0" bIns="0">
            <a:spAutoFit/>
          </a:bodyPr>
          <a:lstStyle/>
          <a:p>
            <a:pPr algn="l">
              <a:lnSpc>
                <a:spcPct val="115000"/>
              </a:lnSpc>
              <a:spcAft>
                <a:spcPts val="0"/>
              </a:spcAft>
            </a:pPr>
            <a:r>
              <a:rPr sz="1150" i="0">
                <a:solidFill>
                  <a:srgbClr val="1C273A"/>
                </a:solidFill>
                <a:latin typeface="Consolas"/>
              </a:rPr>
              <a:t>check_equal(m_axis_tdata, x"2A", "beat 3");</a:t>
            </a:r>
          </a:p>
          <a:p>
            <a:pPr algn="l">
              <a:lnSpc>
                <a:spcPct val="115000"/>
              </a:lnSpc>
              <a:spcAft>
                <a:spcPts val="0"/>
              </a:spcAft>
            </a:pPr>
            <a:r>
              <a:rPr sz="1150" i="0">
                <a:solidFill>
                  <a:srgbClr val="1C273A"/>
                </a:solidFill>
                <a:latin typeface="Consolas"/>
              </a:rPr>
              <a:t>check(is_empty(exp_queue), "eksik beat var");</a:t>
            </a:r>
          </a:p>
          <a:p>
            <a:pPr algn="l">
              <a:lnSpc>
                <a:spcPct val="115000"/>
              </a:lnSpc>
              <a:spcAft>
                <a:spcPts val="0"/>
              </a:spcAft>
            </a:pPr>
            <a:r>
              <a:rPr sz="1150" i="0">
                <a:solidFill>
                  <a:srgbClr val="1C273A"/>
                </a:solidFill>
                <a:latin typeface="Consolas"/>
              </a:rPr>
              <a:t>check_relation(latency &lt; 5, "gecikme siniri asildi");</a:t>
            </a:r>
          </a:p>
          <a:p>
            <a:pPr algn="l">
              <a:lnSpc>
                <a:spcPct val="115000"/>
              </a:lnSpc>
              <a:spcAft>
                <a:spcPts val="0"/>
              </a:spcAft>
            </a:pPr>
            <a:r>
              <a:rPr sz="1150" i="0">
                <a:solidFill>
                  <a:srgbClr val="1C273A"/>
                </a:solidFill>
                <a:latin typeface="Consolas"/>
              </a:rPr>
              <a:t> </a:t>
            </a:r>
          </a:p>
          <a:p>
            <a:pPr algn="l">
              <a:lnSpc>
                <a:spcPct val="115000"/>
              </a:lnSpc>
              <a:spcAft>
                <a:spcPts val="0"/>
              </a:spcAft>
            </a:pPr>
            <a:r>
              <a:rPr sz="1150" i="1">
                <a:solidFill>
                  <a:srgbClr val="7A8699"/>
                </a:solidFill>
                <a:latin typeface="Consolas"/>
              </a:rPr>
              <a:t>-- zamansal olanlar</a:t>
            </a:r>
          </a:p>
          <a:p>
            <a:pPr algn="l">
              <a:lnSpc>
                <a:spcPct val="115000"/>
              </a:lnSpc>
              <a:spcAft>
                <a:spcPts val="0"/>
              </a:spcAft>
            </a:pPr>
            <a:r>
              <a:rPr sz="1150" i="0">
                <a:solidFill>
                  <a:srgbClr val="1C273A"/>
                </a:solidFill>
                <a:latin typeface="Consolas"/>
              </a:rPr>
              <a:t>check_stable(clk, start, stop, en, tdata);</a:t>
            </a:r>
          </a:p>
          <a:p>
            <a:pPr algn="l">
              <a:lnSpc>
                <a:spcPct val="115000"/>
              </a:lnSpc>
              <a:spcAft>
                <a:spcPts val="0"/>
              </a:spcAft>
            </a:pPr>
            <a:r>
              <a:rPr sz="1150" i="0">
                <a:solidFill>
                  <a:srgbClr val="1C273A"/>
                </a:solidFill>
                <a:latin typeface="Consolas"/>
              </a:rPr>
              <a:t>check_next(clk, en, start, expr, num_cks =&gt; 2);</a:t>
            </a:r>
          </a:p>
          <a:p>
            <a:pPr algn="l">
              <a:lnSpc>
                <a:spcPct val="115000"/>
              </a:lnSpc>
              <a:spcAft>
                <a:spcPts val="0"/>
              </a:spcAft>
            </a:pPr>
            <a:r>
              <a:rPr sz="1150" i="0">
                <a:solidFill>
                  <a:srgbClr val="1C273A"/>
                </a:solidFill>
                <a:latin typeface="Consolas"/>
              </a:rPr>
              <a:t>check_sequence(clk, en, (valid, ready, done));</a:t>
            </a:r>
          </a:p>
          <a:p>
            <a:pPr algn="l">
              <a:lnSpc>
                <a:spcPct val="115000"/>
              </a:lnSpc>
              <a:spcAft>
                <a:spcPts val="0"/>
              </a:spcAft>
            </a:pPr>
            <a:r>
              <a:rPr sz="1150" i="0">
                <a:solidFill>
                  <a:srgbClr val="1C273A"/>
                </a:solidFill>
                <a:latin typeface="Consolas"/>
              </a:rPr>
              <a:t> </a:t>
            </a:r>
          </a:p>
          <a:p>
            <a:pPr algn="l">
              <a:lnSpc>
                <a:spcPct val="115000"/>
              </a:lnSpc>
              <a:spcAft>
                <a:spcPts val="0"/>
              </a:spcAft>
            </a:pPr>
            <a:r>
              <a:rPr sz="1150" i="1">
                <a:solidFill>
                  <a:srgbClr val="7A8699"/>
                </a:solidFill>
                <a:latin typeface="Consolas"/>
              </a:rPr>
              <a:t>-- teshis</a:t>
            </a:r>
          </a:p>
          <a:p>
            <a:pPr algn="l">
              <a:lnSpc>
                <a:spcPct val="115000"/>
              </a:lnSpc>
              <a:spcAft>
                <a:spcPts val="0"/>
              </a:spcAft>
            </a:pPr>
            <a:r>
              <a:rPr sz="1150" i="0">
                <a:solidFill>
                  <a:srgbClr val="1C273A"/>
                </a:solidFill>
                <a:latin typeface="Consolas"/>
              </a:rPr>
              <a:t>check_not_unknown(m_axis_tvalid);   -- 'U' / 'X' yakalar</a:t>
            </a:r>
          </a:p>
          <a:p>
            <a:pPr algn="l">
              <a:lnSpc>
                <a:spcPct val="115000"/>
              </a:lnSpc>
              <a:spcAft>
                <a:spcPts val="0"/>
              </a:spcAft>
            </a:pPr>
            <a:r>
              <a:rPr sz="1150" i="0">
                <a:solidFill>
                  <a:srgbClr val="1C273A"/>
                </a:solidFill>
                <a:latin typeface="Consolas"/>
              </a:rPr>
              <a:t>check_one_hot(state_vector);</a:t>
            </a:r>
          </a:p>
        </p:txBody>
      </p:sp>
      <p:sp>
        <p:nvSpPr>
          <p:cNvPr id="6" name="Rounded Rectangle 5"/>
          <p:cNvSpPr/>
          <p:nvPr/>
        </p:nvSpPr>
        <p:spPr>
          <a:xfrm>
            <a:off x="6903720" y="1874519"/>
            <a:ext cx="3840480" cy="338328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04888" y="2075688"/>
            <a:ext cx="34381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assert YERİNE NEDEN?</a:t>
            </a:r>
          </a:p>
        </p:txBody>
      </p:sp>
      <p:sp>
        <p:nvSpPr>
          <p:cNvPr id="8" name="TextBox 7"/>
          <p:cNvSpPr txBox="1"/>
          <p:nvPr/>
        </p:nvSpPr>
        <p:spPr>
          <a:xfrm>
            <a:off x="7104888" y="2459736"/>
            <a:ext cx="3438144" cy="2688336"/>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Hata mesajı dosya adı ve satır numarasıyla gelir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Beklenen ve gözlenen değer otomatik basılır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Geçen/düşen kontrol sayısı tutulur — sıfır</a:t>
            </a:r>
          </a:p>
          <a:p>
            <a:pPr algn="l">
              <a:lnSpc>
                <a:spcPct val="112000"/>
              </a:lnSpc>
              <a:spcAft>
                <a:spcPts val="400"/>
              </a:spcAft>
            </a:pPr>
            <a:r>
              <a:rPr sz="1400" b="0" i="0">
                <a:solidFill>
                  <a:srgbClr val="4D4D4D"/>
                </a:solidFill>
                <a:latin typeface="Calibri"/>
              </a:rPr>
              <a:t>kontrol çağıran test yakalanır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Log seviyesi ile susturulabilir</a:t>
            </a:r>
          </a:p>
        </p:txBody>
      </p:sp>
      <p:sp>
        <p:nvSpPr>
          <p:cNvPr id="9" name="TextBox 8"/>
          <p:cNvSpPr txBox="1"/>
          <p:nvPr/>
        </p:nvSpPr>
        <p:spPr>
          <a:xfrm>
            <a:off x="411480" y="4892040"/>
            <a:ext cx="10332720" cy="1005840"/>
          </a:xfrm>
          <a:prstGeom prst="rect">
            <a:avLst/>
          </a:prstGeom>
          <a:noFill/>
        </p:spPr>
        <p:txBody>
          <a:bodyPr wrap="square" lIns="0" tIns="0" rIns="0" bIns="0">
            <a:spAutoFit/>
          </a:bodyPr>
          <a:lstStyle/>
          <a:p>
            <a:pPr algn="l">
              <a:lnSpc>
                <a:spcPct val="115000"/>
              </a:lnSpc>
              <a:spcAft>
                <a:spcPts val="600"/>
              </a:spcAft>
            </a:pPr>
            <a:r>
              <a:rPr sz="1500" b="0" i="0">
                <a:solidFill>
                  <a:srgbClr val="4D4D4D"/>
                </a:solidFill>
                <a:latin typeface="Calibri"/>
              </a:rPr>
              <a:t>En değerli ayrıntı sonuncusu: VUnit kaç kontrol çağrıldığını sayar. "Geri basınç altında veri kaybetmez" adlı bir test, döngüsüne hiç girmediği için sıfır kontrol çağırıyorsa yeşil görünür ama hiçbir şey kanıtlamaz. Bu vakumda geçen testler ancak sayım tutulursa fark edilir.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İKİ TÜR KONTROL</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Prosedürel akış mı, zamansal özellik mi?</a:t>
            </a:r>
          </a:p>
        </p:txBody>
      </p:sp>
      <p:sp>
        <p:nvSpPr>
          <p:cNvPr id="4" name="Rounded Rectangle 3"/>
          <p:cNvSpPr/>
          <p:nvPr/>
        </p:nvSpPr>
        <p:spPr>
          <a:xfrm>
            <a:off x="411480" y="1920240"/>
            <a:ext cx="4983480" cy="3734816"/>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2121408"/>
            <a:ext cx="45811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PROSEDÜREL</a:t>
            </a:r>
          </a:p>
        </p:txBody>
      </p:sp>
      <p:sp>
        <p:nvSpPr>
          <p:cNvPr id="6" name="TextBox 5"/>
          <p:cNvSpPr txBox="1"/>
          <p:nvPr/>
        </p:nvSpPr>
        <p:spPr>
          <a:xfrm>
            <a:off x="612648" y="2505456"/>
            <a:ext cx="4581144" cy="3039872"/>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İngilizcesi: directed self-checking test</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Bir process içinde sırayla ilerler. Uyaranı sürer, bekler,</a:t>
            </a:r>
          </a:p>
          <a:p>
            <a:pPr algn="l">
              <a:lnSpc>
                <a:spcPct val="112000"/>
              </a:lnSpc>
              <a:spcAft>
                <a:spcPts val="400"/>
              </a:spcAft>
            </a:pPr>
            <a:r>
              <a:rPr sz="1400" b="0" i="0">
                <a:solidFill>
                  <a:srgbClr val="4D4D4D"/>
                </a:solidFill>
                <a:latin typeface="Calibri"/>
              </a:rPr>
              <a:t>sonucu okur, kuyruktan çeker.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Cevapladığı sorular:</a:t>
            </a:r>
          </a:p>
          <a:p>
            <a:pPr algn="l">
              <a:lnSpc>
                <a:spcPct val="112000"/>
              </a:lnSpc>
              <a:spcAft>
                <a:spcPts val="400"/>
              </a:spcAft>
            </a:pPr>
            <a:r>
              <a:rPr sz="1400" b="0" i="0">
                <a:solidFill>
                  <a:srgbClr val="4D4D4D"/>
                </a:solidFill>
                <a:latin typeface="Calibri"/>
              </a:rPr>
              <a:t>  · Toplam kaç beat geldi?</a:t>
            </a:r>
          </a:p>
          <a:p>
            <a:pPr algn="l">
              <a:lnSpc>
                <a:spcPct val="112000"/>
              </a:lnSpc>
              <a:spcAft>
                <a:spcPts val="400"/>
              </a:spcAft>
            </a:pPr>
            <a:r>
              <a:rPr sz="1400" b="0" i="0">
                <a:solidFill>
                  <a:srgbClr val="4D4D4D"/>
                </a:solidFill>
                <a:latin typeface="Calibri"/>
              </a:rPr>
              <a:t>  · Kuyrukta artan beklenti kaldı mı?</a:t>
            </a:r>
          </a:p>
          <a:p>
            <a:pPr algn="l">
              <a:lnSpc>
                <a:spcPct val="112000"/>
              </a:lnSpc>
              <a:spcAft>
                <a:spcPts val="400"/>
              </a:spcAft>
            </a:pPr>
            <a:r>
              <a:rPr sz="1400" b="0" i="0">
                <a:solidFill>
                  <a:srgbClr val="4D4D4D"/>
                </a:solidFill>
                <a:latin typeface="Calibri"/>
              </a:rPr>
              <a:t>  · 12. beat'te tlast yükseldi mi?</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Aracı: scoreboard + monitor process</a:t>
            </a:r>
          </a:p>
        </p:txBody>
      </p:sp>
      <p:sp>
        <p:nvSpPr>
          <p:cNvPr id="7" name="Rounded Rectangle 6"/>
          <p:cNvSpPr/>
          <p:nvPr/>
        </p:nvSpPr>
        <p:spPr>
          <a:xfrm>
            <a:off x="5760720" y="1920240"/>
            <a:ext cx="4983480" cy="4133087"/>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961888" y="2121408"/>
            <a:ext cx="4581144" cy="384048"/>
          </a:xfrm>
          <a:prstGeom prst="rect">
            <a:avLst/>
          </a:prstGeom>
          <a:noFill/>
        </p:spPr>
        <p:txBody>
          <a:bodyPr wrap="square" lIns="0" tIns="0" rIns="0" bIns="0">
            <a:spAutoFit/>
          </a:bodyPr>
          <a:lstStyle/>
          <a:p>
            <a:pPr algn="l">
              <a:spcAft>
                <a:spcPts val="600"/>
              </a:spcAft>
            </a:pPr>
            <a:r>
              <a:rPr sz="1700" b="1" i="0">
                <a:solidFill>
                  <a:srgbClr val="FF5620"/>
                </a:solidFill>
                <a:latin typeface="Segoe UI"/>
              </a:rPr>
              <a:t>ZAMANSAL</a:t>
            </a:r>
          </a:p>
        </p:txBody>
      </p:sp>
      <p:sp>
        <p:nvSpPr>
          <p:cNvPr id="9" name="TextBox 8"/>
          <p:cNvSpPr txBox="1"/>
          <p:nvPr/>
        </p:nvSpPr>
        <p:spPr>
          <a:xfrm>
            <a:off x="5961888" y="2505456"/>
            <a:ext cx="4581144" cy="3438144"/>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İngilizcesi: temporal property / concurrent assertion</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Sürekli koşar, testin sırasından bağımsızdır. Her çevrimde</a:t>
            </a:r>
          </a:p>
          <a:p>
            <a:pPr algn="l">
              <a:lnSpc>
                <a:spcPct val="112000"/>
              </a:lnSpc>
              <a:spcAft>
                <a:spcPts val="400"/>
              </a:spcAft>
            </a:pPr>
            <a:r>
              <a:rPr sz="1400" b="0" i="0">
                <a:solidFill>
                  <a:srgbClr val="4D4D4D"/>
                </a:solidFill>
                <a:latin typeface="Calibri"/>
              </a:rPr>
              <a:t>aynı iddiayı yeniden dener.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Cevapladığı sorular:</a:t>
            </a:r>
          </a:p>
          <a:p>
            <a:pPr algn="l">
              <a:lnSpc>
                <a:spcPct val="112000"/>
              </a:lnSpc>
              <a:spcAft>
                <a:spcPts val="400"/>
              </a:spcAft>
            </a:pPr>
            <a:r>
              <a:rPr sz="1400" b="0" i="0">
                <a:solidFill>
                  <a:srgbClr val="4D4D4D"/>
                </a:solidFill>
                <a:latin typeface="Calibri"/>
              </a:rPr>
              <a:t>  · El sıkışma beklerken tdata değişti mi?</a:t>
            </a:r>
          </a:p>
          <a:p>
            <a:pPr algn="l">
              <a:lnSpc>
                <a:spcPct val="112000"/>
              </a:lnSpc>
              <a:spcAft>
                <a:spcPts val="400"/>
              </a:spcAft>
            </a:pPr>
            <a:r>
              <a:rPr sz="1400" b="0" i="0">
                <a:solidFill>
                  <a:srgbClr val="4D4D4D"/>
                </a:solidFill>
                <a:latin typeface="Calibri"/>
              </a:rPr>
              <a:t>  · tvalid geri çekildi mi?</a:t>
            </a:r>
          </a:p>
          <a:p>
            <a:pPr algn="l">
              <a:lnSpc>
                <a:spcPct val="112000"/>
              </a:lnSpc>
              <a:spcAft>
                <a:spcPts val="400"/>
              </a:spcAft>
            </a:pPr>
            <a:r>
              <a:rPr sz="1400" b="0" i="0">
                <a:solidFill>
                  <a:srgbClr val="4D4D4D"/>
                </a:solidFill>
                <a:latin typeface="Calibri"/>
              </a:rPr>
              <a:t>  · X olduktan N çevrim sonra Y oldu mu?</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Aracı: check_next / check_stable / protocol checker</a:t>
            </a:r>
          </a:p>
        </p:txBody>
      </p:sp>
      <p:sp>
        <p:nvSpPr>
          <p:cNvPr id="10" name="TextBox 9"/>
          <p:cNvSpPr txBox="1"/>
          <p:nvPr/>
        </p:nvSpPr>
        <p:spPr>
          <a:xfrm>
            <a:off x="478387" y="5820155"/>
            <a:ext cx="10332720" cy="868680"/>
          </a:xfrm>
          <a:prstGeom prst="rect">
            <a:avLst/>
          </a:prstGeom>
          <a:noFill/>
        </p:spPr>
        <p:txBody>
          <a:bodyPr wrap="square" lIns="0" tIns="0" rIns="0" bIns="0">
            <a:spAutoFit/>
          </a:bodyPr>
          <a:lstStyle/>
          <a:p>
            <a:pPr algn="l">
              <a:lnSpc>
                <a:spcPct val="115000"/>
              </a:lnSpc>
              <a:spcAft>
                <a:spcPts val="600"/>
              </a:spcAft>
            </a:pPr>
            <a:r>
              <a:rPr sz="1500" b="0" i="0" dirty="0" err="1">
                <a:solidFill>
                  <a:srgbClr val="4D4D4D"/>
                </a:solidFill>
                <a:latin typeface="Calibri"/>
              </a:rPr>
              <a:t>İkisi</a:t>
            </a:r>
            <a:r>
              <a:rPr sz="1500" b="0" i="0" dirty="0">
                <a:solidFill>
                  <a:srgbClr val="4D4D4D"/>
                </a:solidFill>
                <a:latin typeface="Calibri"/>
              </a:rPr>
              <a:t> </a:t>
            </a:r>
            <a:r>
              <a:rPr sz="1500" b="0" i="0" dirty="0" err="1">
                <a:solidFill>
                  <a:srgbClr val="4D4D4D"/>
                </a:solidFill>
                <a:latin typeface="Calibri"/>
              </a:rPr>
              <a:t>birbirinin</a:t>
            </a:r>
            <a:r>
              <a:rPr sz="1500" b="0" i="0" dirty="0">
                <a:solidFill>
                  <a:srgbClr val="4D4D4D"/>
                </a:solidFill>
                <a:latin typeface="Calibri"/>
              </a:rPr>
              <a:t> </a:t>
            </a:r>
            <a:r>
              <a:rPr sz="1500" b="0" i="0" dirty="0" err="1">
                <a:solidFill>
                  <a:srgbClr val="4D4D4D"/>
                </a:solidFill>
                <a:latin typeface="Calibri"/>
              </a:rPr>
              <a:t>yerini</a:t>
            </a:r>
            <a:r>
              <a:rPr sz="1500" b="0" i="0" dirty="0">
                <a:solidFill>
                  <a:srgbClr val="4D4D4D"/>
                </a:solidFill>
                <a:latin typeface="Calibri"/>
              </a:rPr>
              <a:t> </a:t>
            </a:r>
            <a:r>
              <a:rPr sz="1500" b="0" i="0" dirty="0" err="1">
                <a:solidFill>
                  <a:srgbClr val="4D4D4D"/>
                </a:solidFill>
                <a:latin typeface="Calibri"/>
              </a:rPr>
              <a:t>tutmaz</a:t>
            </a:r>
            <a:r>
              <a:rPr sz="1500" b="0" i="0" dirty="0">
                <a:solidFill>
                  <a:srgbClr val="4D4D4D"/>
                </a:solidFill>
                <a:latin typeface="Calibri"/>
              </a:rPr>
              <a:t>. </a:t>
            </a:r>
            <a:r>
              <a:rPr sz="1500" b="0" i="0" dirty="0" err="1">
                <a:solidFill>
                  <a:srgbClr val="4D4D4D"/>
                </a:solidFill>
                <a:latin typeface="Calibri"/>
              </a:rPr>
              <a:t>Prosedürel</a:t>
            </a:r>
            <a:r>
              <a:rPr sz="1500" b="0" i="0" dirty="0">
                <a:solidFill>
                  <a:srgbClr val="4D4D4D"/>
                </a:solidFill>
                <a:latin typeface="Calibri"/>
              </a:rPr>
              <a:t> test </a:t>
            </a:r>
            <a:r>
              <a:rPr sz="1500" b="0" i="0" dirty="0" err="1">
                <a:solidFill>
                  <a:srgbClr val="4D4D4D"/>
                </a:solidFill>
                <a:latin typeface="Calibri"/>
              </a:rPr>
              <a:t>hatanın</a:t>
            </a:r>
            <a:r>
              <a:rPr sz="1500" b="0" i="0" dirty="0">
                <a:solidFill>
                  <a:srgbClr val="4D4D4D"/>
                </a:solidFill>
                <a:latin typeface="Calibri"/>
              </a:rPr>
              <a:t> </a:t>
            </a:r>
            <a:r>
              <a:rPr sz="1500" b="0" i="0" dirty="0" err="1">
                <a:solidFill>
                  <a:srgbClr val="4D4D4D"/>
                </a:solidFill>
                <a:latin typeface="Calibri"/>
              </a:rPr>
              <a:t>yerini</a:t>
            </a:r>
            <a:r>
              <a:rPr sz="1500" b="0" i="0" dirty="0">
                <a:solidFill>
                  <a:srgbClr val="4D4D4D"/>
                </a:solidFill>
                <a:latin typeface="Calibri"/>
              </a:rPr>
              <a:t> </a:t>
            </a:r>
            <a:r>
              <a:rPr sz="1500" b="0" i="0" dirty="0" err="1">
                <a:solidFill>
                  <a:srgbClr val="4D4D4D"/>
                </a:solidFill>
                <a:latin typeface="Calibri"/>
              </a:rPr>
              <a:t>söyler</a:t>
            </a:r>
            <a:r>
              <a:rPr sz="1500" b="0" i="0" dirty="0">
                <a:solidFill>
                  <a:srgbClr val="4D4D4D"/>
                </a:solidFill>
                <a:latin typeface="Calibri"/>
              </a:rPr>
              <a:t> ama her </a:t>
            </a:r>
            <a:r>
              <a:rPr sz="1500" b="0" i="0" dirty="0" err="1">
                <a:solidFill>
                  <a:srgbClr val="4D4D4D"/>
                </a:solidFill>
                <a:latin typeface="Calibri"/>
              </a:rPr>
              <a:t>çevrimi</a:t>
            </a:r>
            <a:r>
              <a:rPr sz="1500" b="0" i="0" dirty="0">
                <a:solidFill>
                  <a:srgbClr val="4D4D4D"/>
                </a:solidFill>
                <a:latin typeface="Calibri"/>
              </a:rPr>
              <a:t> </a:t>
            </a:r>
            <a:r>
              <a:rPr sz="1500" b="0" i="0" dirty="0" err="1">
                <a:solidFill>
                  <a:srgbClr val="4D4D4D"/>
                </a:solidFill>
                <a:latin typeface="Calibri"/>
              </a:rPr>
              <a:t>denetleyemez</a:t>
            </a:r>
            <a:r>
              <a:rPr sz="1500" b="0" i="0" dirty="0">
                <a:solidFill>
                  <a:srgbClr val="4D4D4D"/>
                </a:solidFill>
                <a:latin typeface="Calibri"/>
              </a:rPr>
              <a:t>; </a:t>
            </a:r>
            <a:r>
              <a:rPr sz="1500" b="0" i="0" dirty="0" err="1">
                <a:solidFill>
                  <a:srgbClr val="4D4D4D"/>
                </a:solidFill>
                <a:latin typeface="Calibri"/>
              </a:rPr>
              <a:t>zamansal</a:t>
            </a:r>
            <a:r>
              <a:rPr sz="1500" b="0" i="0" dirty="0">
                <a:solidFill>
                  <a:srgbClr val="4D4D4D"/>
                </a:solidFill>
                <a:latin typeface="Calibri"/>
              </a:rPr>
              <a:t> </a:t>
            </a:r>
            <a:r>
              <a:rPr sz="1500" b="0" i="0" dirty="0" err="1">
                <a:solidFill>
                  <a:srgbClr val="4D4D4D"/>
                </a:solidFill>
                <a:latin typeface="Calibri"/>
              </a:rPr>
              <a:t>kontrol</a:t>
            </a:r>
            <a:r>
              <a:rPr sz="1500" b="0" i="0" dirty="0">
                <a:solidFill>
                  <a:srgbClr val="4D4D4D"/>
                </a:solidFill>
                <a:latin typeface="Calibri"/>
              </a:rPr>
              <a:t> her </a:t>
            </a:r>
            <a:r>
              <a:rPr sz="1500" b="0" i="0" dirty="0" err="1">
                <a:solidFill>
                  <a:srgbClr val="4D4D4D"/>
                </a:solidFill>
                <a:latin typeface="Calibri"/>
              </a:rPr>
              <a:t>çevrimi</a:t>
            </a:r>
            <a:r>
              <a:rPr sz="1500" b="0" i="0" dirty="0">
                <a:solidFill>
                  <a:srgbClr val="4D4D4D"/>
                </a:solidFill>
                <a:latin typeface="Calibri"/>
              </a:rPr>
              <a:t> </a:t>
            </a:r>
            <a:r>
              <a:rPr sz="1500" b="0" i="0" dirty="0" err="1">
                <a:solidFill>
                  <a:srgbClr val="4D4D4D"/>
                </a:solidFill>
                <a:latin typeface="Calibri"/>
              </a:rPr>
              <a:t>denetler</a:t>
            </a:r>
            <a:r>
              <a:rPr sz="1500" b="0" i="0" dirty="0">
                <a:solidFill>
                  <a:srgbClr val="4D4D4D"/>
                </a:solidFill>
                <a:latin typeface="Calibri"/>
              </a:rPr>
              <a:t> ama "</a:t>
            </a:r>
            <a:r>
              <a:rPr sz="1500" b="0" i="0" dirty="0" err="1">
                <a:solidFill>
                  <a:srgbClr val="4D4D4D"/>
                </a:solidFill>
                <a:latin typeface="Calibri"/>
              </a:rPr>
              <a:t>bu</a:t>
            </a:r>
            <a:r>
              <a:rPr sz="1500" b="0" i="0" dirty="0">
                <a:solidFill>
                  <a:srgbClr val="4D4D4D"/>
                </a:solidFill>
                <a:latin typeface="Calibri"/>
              </a:rPr>
              <a:t> </a:t>
            </a:r>
            <a:r>
              <a:rPr sz="1500" b="0" i="0" dirty="0" err="1">
                <a:solidFill>
                  <a:srgbClr val="4D4D4D"/>
                </a:solidFill>
                <a:latin typeface="Calibri"/>
              </a:rPr>
              <a:t>senaryoda</a:t>
            </a:r>
            <a:r>
              <a:rPr sz="1500" b="0" i="0" dirty="0">
                <a:solidFill>
                  <a:srgbClr val="4D4D4D"/>
                </a:solidFill>
                <a:latin typeface="Calibri"/>
              </a:rPr>
              <a:t> ne </a:t>
            </a:r>
            <a:r>
              <a:rPr sz="1500" b="0" i="0" dirty="0" err="1">
                <a:solidFill>
                  <a:srgbClr val="4D4D4D"/>
                </a:solidFill>
                <a:latin typeface="Calibri"/>
              </a:rPr>
              <a:t>olmalıydı</a:t>
            </a:r>
            <a:r>
              <a:rPr sz="1500" b="0" i="0" dirty="0">
                <a:solidFill>
                  <a:srgbClr val="4D4D4D"/>
                </a:solidFill>
                <a:latin typeface="Calibri"/>
              </a:rPr>
              <a:t>" </a:t>
            </a:r>
            <a:r>
              <a:rPr sz="1500" b="0" i="0" dirty="0" err="1">
                <a:solidFill>
                  <a:srgbClr val="4D4D4D"/>
                </a:solidFill>
                <a:latin typeface="Calibri"/>
              </a:rPr>
              <a:t>diyemez</a:t>
            </a:r>
            <a:r>
              <a:rPr sz="1500" b="0" i="0" dirty="0">
                <a:solidFill>
                  <a:srgbClr val="4D4D4D"/>
                </a:solidFill>
                <a:latin typeface="Calibri"/>
              </a:rPr>
              <a:t>. </a:t>
            </a:r>
            <a:r>
              <a:rPr sz="1500" b="0" i="0" dirty="0" err="1">
                <a:solidFill>
                  <a:srgbClr val="4D4D4D"/>
                </a:solidFill>
                <a:latin typeface="Calibri"/>
              </a:rPr>
              <a:t>Olgun</a:t>
            </a:r>
            <a:r>
              <a:rPr sz="1500" b="0" i="0" dirty="0">
                <a:solidFill>
                  <a:srgbClr val="4D4D4D"/>
                </a:solidFill>
                <a:latin typeface="Calibri"/>
              </a:rPr>
              <a:t> </a:t>
            </a:r>
            <a:r>
              <a:rPr sz="1500" b="0" i="0" dirty="0" err="1">
                <a:solidFill>
                  <a:srgbClr val="4D4D4D"/>
                </a:solidFill>
                <a:latin typeface="Calibri"/>
              </a:rPr>
              <a:t>bir</a:t>
            </a:r>
            <a:r>
              <a:rPr sz="1500" b="0" i="0" dirty="0">
                <a:solidFill>
                  <a:srgbClr val="4D4D4D"/>
                </a:solidFill>
                <a:latin typeface="Calibri"/>
              </a:rPr>
              <a:t> testbench </a:t>
            </a:r>
            <a:r>
              <a:rPr sz="1500" b="0" i="0" dirty="0" err="1">
                <a:solidFill>
                  <a:srgbClr val="4D4D4D"/>
                </a:solidFill>
                <a:latin typeface="Calibri"/>
              </a:rPr>
              <a:t>ikisini</a:t>
            </a:r>
            <a:r>
              <a:rPr sz="1500" b="0" i="0" dirty="0">
                <a:solidFill>
                  <a:srgbClr val="4D4D4D"/>
                </a:solidFill>
                <a:latin typeface="Calibri"/>
              </a:rPr>
              <a:t> </a:t>
            </a:r>
            <a:r>
              <a:rPr sz="1500" b="0" i="0" dirty="0" err="1">
                <a:solidFill>
                  <a:srgbClr val="4D4D4D"/>
                </a:solidFill>
                <a:latin typeface="Calibri"/>
              </a:rPr>
              <a:t>birlikte</a:t>
            </a:r>
            <a:r>
              <a:rPr sz="1500" b="0" i="0" dirty="0">
                <a:solidFill>
                  <a:srgbClr val="4D4D4D"/>
                </a:solidFill>
                <a:latin typeface="Calibri"/>
              </a:rPr>
              <a:t> </a:t>
            </a:r>
            <a:r>
              <a:rPr sz="1500" b="0" i="0" dirty="0" err="1">
                <a:solidFill>
                  <a:srgbClr val="4D4D4D"/>
                </a:solidFill>
                <a:latin typeface="Calibri"/>
              </a:rPr>
              <a:t>kullanır</a:t>
            </a:r>
            <a:r>
              <a:rPr sz="1500" b="0" i="0" dirty="0">
                <a:solidFill>
                  <a:srgbClr val="4D4D4D"/>
                </a:solidFill>
                <a:latin typeface="Calibri"/>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SCOREBOARD DESENİ</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Boru hattı gecikmesini ve geri basıncı kendiliğinden soğurur</a:t>
            </a:r>
          </a:p>
        </p:txBody>
      </p:sp>
      <p:sp>
        <p:nvSpPr>
          <p:cNvPr id="4" name="Rounded Rectangle 3"/>
          <p:cNvSpPr/>
          <p:nvPr/>
        </p:nvSpPr>
        <p:spPr>
          <a:xfrm>
            <a:off x="411480" y="1920240"/>
            <a:ext cx="3283305" cy="658368"/>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test_runner
beklentiyi kuyruğa iter</a:t>
            </a:r>
          </a:p>
        </p:txBody>
      </p:sp>
      <p:sp>
        <p:nvSpPr>
          <p:cNvPr id="5" name="Right Arrow 4"/>
          <p:cNvSpPr/>
          <p:nvPr/>
        </p:nvSpPr>
        <p:spPr>
          <a:xfrm>
            <a:off x="3733190" y="2180844"/>
            <a:ext cx="164592" cy="137160"/>
          </a:xfrm>
          <a:prstGeom prst="rightArrow">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936187" y="1920240"/>
            <a:ext cx="3283305" cy="658368"/>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DUT
kaç çevrim sürerse sürsün</a:t>
            </a:r>
          </a:p>
        </p:txBody>
      </p:sp>
      <p:sp>
        <p:nvSpPr>
          <p:cNvPr id="7" name="Right Arrow 6"/>
          <p:cNvSpPr/>
          <p:nvPr/>
        </p:nvSpPr>
        <p:spPr>
          <a:xfrm>
            <a:off x="7257897" y="2180844"/>
            <a:ext cx="164592" cy="137160"/>
          </a:xfrm>
          <a:prstGeom prst="rightArrow">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460894" y="1920240"/>
            <a:ext cx="3283305" cy="658368"/>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monitor
el sıkışmada kuyruktan çeker</a:t>
            </a:r>
          </a:p>
        </p:txBody>
      </p:sp>
      <p:sp>
        <p:nvSpPr>
          <p:cNvPr id="9" name="Rounded Rectangle 8"/>
          <p:cNvSpPr/>
          <p:nvPr/>
        </p:nvSpPr>
        <p:spPr>
          <a:xfrm>
            <a:off x="411480" y="2880360"/>
            <a:ext cx="6217920" cy="318897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94360" y="3063240"/>
            <a:ext cx="5852159" cy="2823210"/>
          </a:xfrm>
          <a:prstGeom prst="rect">
            <a:avLst/>
          </a:prstGeom>
          <a:noFill/>
        </p:spPr>
        <p:txBody>
          <a:bodyPr wrap="square" lIns="0" tIns="0" rIns="0" bIns="0">
            <a:spAutoFit/>
          </a:bodyPr>
          <a:lstStyle/>
          <a:p>
            <a:pPr algn="l">
              <a:lnSpc>
                <a:spcPct val="115000"/>
              </a:lnSpc>
              <a:spcAft>
                <a:spcPts val="0"/>
              </a:spcAft>
            </a:pPr>
            <a:r>
              <a:rPr sz="950" i="1">
                <a:solidFill>
                  <a:srgbClr val="7A8699"/>
                </a:solidFill>
                <a:latin typeface="Consolas"/>
              </a:rPr>
              <a:t>-- test_runner: beklenti kuyruga girer</a:t>
            </a:r>
          </a:p>
          <a:p>
            <a:pPr algn="l">
              <a:lnSpc>
                <a:spcPct val="115000"/>
              </a:lnSpc>
              <a:spcAft>
                <a:spcPts val="0"/>
              </a:spcAft>
            </a:pPr>
            <a:r>
              <a:rPr sz="950" i="0">
                <a:solidFill>
                  <a:srgbClr val="1C273A"/>
                </a:solidFill>
                <a:latin typeface="Consolas"/>
              </a:rPr>
              <a:t>procedure expect(data, sc, sym : natural; last : boolean) is</a:t>
            </a:r>
          </a:p>
          <a:p>
            <a:pPr algn="l">
              <a:lnSpc>
                <a:spcPct val="115000"/>
              </a:lnSpc>
              <a:spcAft>
                <a:spcPts val="0"/>
              </a:spcAft>
            </a:pPr>
            <a:r>
              <a:rPr sz="950" i="0">
                <a:solidFill>
                  <a:srgbClr val="1C273A"/>
                </a:solidFill>
                <a:latin typeface="Consolas"/>
              </a:rPr>
              <a:t>begin</a:t>
            </a:r>
          </a:p>
          <a:p>
            <a:pPr algn="l">
              <a:lnSpc>
                <a:spcPct val="115000"/>
              </a:lnSpc>
              <a:spcAft>
                <a:spcPts val="0"/>
              </a:spcAft>
            </a:pPr>
            <a:r>
              <a:rPr sz="950" i="0">
                <a:solidFill>
                  <a:srgbClr val="1C273A"/>
                </a:solidFill>
                <a:latin typeface="Consolas"/>
              </a:rPr>
              <a:t>    push(exp_queue, data);</a:t>
            </a:r>
          </a:p>
          <a:p>
            <a:pPr algn="l">
              <a:lnSpc>
                <a:spcPct val="115000"/>
              </a:lnSpc>
              <a:spcAft>
                <a:spcPts val="0"/>
              </a:spcAft>
            </a:pPr>
            <a:r>
              <a:rPr sz="950" i="0">
                <a:solidFill>
                  <a:srgbClr val="1C273A"/>
                </a:solidFill>
                <a:latin typeface="Consolas"/>
              </a:rPr>
              <a:t>    push(exp_queue, sc);</a:t>
            </a:r>
          </a:p>
          <a:p>
            <a:pPr algn="l">
              <a:lnSpc>
                <a:spcPct val="115000"/>
              </a:lnSpc>
              <a:spcAft>
                <a:spcPts val="0"/>
              </a:spcAft>
            </a:pPr>
            <a:r>
              <a:rPr sz="950" i="0">
                <a:solidFill>
                  <a:srgbClr val="1C273A"/>
                </a:solidFill>
                <a:latin typeface="Consolas"/>
              </a:rPr>
              <a:t>    push(exp_queue, sym);</a:t>
            </a:r>
          </a:p>
          <a:p>
            <a:pPr algn="l">
              <a:lnSpc>
                <a:spcPct val="115000"/>
              </a:lnSpc>
              <a:spcAft>
                <a:spcPts val="0"/>
              </a:spcAft>
            </a:pPr>
            <a:r>
              <a:rPr sz="950" i="0">
                <a:solidFill>
                  <a:srgbClr val="1C273A"/>
                </a:solidFill>
                <a:latin typeface="Consolas"/>
              </a:rPr>
              <a:t>    push(exp_queue, last);</a:t>
            </a:r>
          </a:p>
          <a:p>
            <a:pPr algn="l">
              <a:lnSpc>
                <a:spcPct val="115000"/>
              </a:lnSpc>
              <a:spcAft>
                <a:spcPts val="0"/>
              </a:spcAft>
            </a:pPr>
            <a:r>
              <a:rPr sz="950" i="0">
                <a:solidFill>
                  <a:srgbClr val="1C273A"/>
                </a:solidFill>
                <a:latin typeface="Consolas"/>
              </a:rPr>
              <a:t>end procedure;</a:t>
            </a:r>
          </a:p>
          <a:p>
            <a:pPr algn="l">
              <a:lnSpc>
                <a:spcPct val="115000"/>
              </a:lnSpc>
              <a:spcAft>
                <a:spcPts val="0"/>
              </a:spcAft>
            </a:pPr>
            <a:r>
              <a:rPr sz="950" i="0">
                <a:solidFill>
                  <a:srgbClr val="1C273A"/>
                </a:solidFill>
                <a:latin typeface="Consolas"/>
              </a:rPr>
              <a:t> </a:t>
            </a:r>
          </a:p>
          <a:p>
            <a:pPr algn="l">
              <a:lnSpc>
                <a:spcPct val="115000"/>
              </a:lnSpc>
              <a:spcAft>
                <a:spcPts val="0"/>
              </a:spcAft>
            </a:pPr>
            <a:r>
              <a:rPr sz="950" i="1">
                <a:solidFill>
                  <a:srgbClr val="7A8699"/>
                </a:solidFill>
                <a:latin typeface="Consolas"/>
              </a:rPr>
              <a:t>-- monitor: her el sikismada bir beklenti tuketilir</a:t>
            </a:r>
          </a:p>
          <a:p>
            <a:pPr algn="l">
              <a:lnSpc>
                <a:spcPct val="115000"/>
              </a:lnSpc>
              <a:spcAft>
                <a:spcPts val="0"/>
              </a:spcAft>
            </a:pPr>
            <a:r>
              <a:rPr sz="950" i="0">
                <a:solidFill>
                  <a:srgbClr val="1C273A"/>
                </a:solidFill>
                <a:latin typeface="Consolas"/>
              </a:rPr>
              <a:t>monitor : process</a:t>
            </a:r>
          </a:p>
          <a:p>
            <a:pPr algn="l">
              <a:lnSpc>
                <a:spcPct val="115000"/>
              </a:lnSpc>
              <a:spcAft>
                <a:spcPts val="0"/>
              </a:spcAft>
            </a:pPr>
            <a:r>
              <a:rPr sz="950" i="0">
                <a:solidFill>
                  <a:srgbClr val="1C273A"/>
                </a:solidFill>
                <a:latin typeface="Consolas"/>
              </a:rPr>
              <a:t>begin</a:t>
            </a:r>
          </a:p>
          <a:p>
            <a:pPr algn="l">
              <a:lnSpc>
                <a:spcPct val="115000"/>
              </a:lnSpc>
              <a:spcAft>
                <a:spcPts val="0"/>
              </a:spcAft>
            </a:pPr>
            <a:r>
              <a:rPr sz="950" i="0">
                <a:solidFill>
                  <a:srgbClr val="1C273A"/>
                </a:solidFill>
                <a:latin typeface="Consolas"/>
              </a:rPr>
              <a:t>    wait until rising_edge(clk);</a:t>
            </a:r>
          </a:p>
          <a:p>
            <a:pPr algn="l">
              <a:lnSpc>
                <a:spcPct val="115000"/>
              </a:lnSpc>
              <a:spcAft>
                <a:spcPts val="0"/>
              </a:spcAft>
            </a:pPr>
            <a:r>
              <a:rPr sz="950" i="0">
                <a:solidFill>
                  <a:srgbClr val="1C273A"/>
                </a:solidFill>
                <a:latin typeface="Consolas"/>
              </a:rPr>
              <a:t>    if m_axis_tvalid = '1' and m_axis_tready = '1' then</a:t>
            </a:r>
          </a:p>
          <a:p>
            <a:pPr algn="l">
              <a:lnSpc>
                <a:spcPct val="115000"/>
              </a:lnSpc>
              <a:spcAft>
                <a:spcPts val="0"/>
              </a:spcAft>
            </a:pPr>
            <a:r>
              <a:rPr sz="950" i="0">
                <a:solidFill>
                  <a:srgbClr val="1C273A"/>
                </a:solidFill>
                <a:latin typeface="Consolas"/>
              </a:rPr>
              <a:t>        check_equal(m_axis_tdata, pop(exp_queue), "tdata");</a:t>
            </a:r>
          </a:p>
          <a:p>
            <a:pPr algn="l">
              <a:lnSpc>
                <a:spcPct val="115000"/>
              </a:lnSpc>
              <a:spcAft>
                <a:spcPts val="0"/>
              </a:spcAft>
            </a:pPr>
            <a:r>
              <a:rPr sz="950" i="0">
                <a:solidFill>
                  <a:srgbClr val="1C273A"/>
                </a:solidFill>
                <a:latin typeface="Consolas"/>
              </a:rPr>
              <a:t>        ...</a:t>
            </a:r>
          </a:p>
          <a:p>
            <a:pPr algn="l">
              <a:lnSpc>
                <a:spcPct val="115000"/>
              </a:lnSpc>
              <a:spcAft>
                <a:spcPts val="0"/>
              </a:spcAft>
            </a:pPr>
            <a:r>
              <a:rPr sz="950" i="0">
                <a:solidFill>
                  <a:srgbClr val="1C273A"/>
                </a:solidFill>
                <a:latin typeface="Consolas"/>
              </a:rPr>
              <a:t>    end if;</a:t>
            </a:r>
          </a:p>
          <a:p>
            <a:pPr algn="l">
              <a:lnSpc>
                <a:spcPct val="115000"/>
              </a:lnSpc>
              <a:spcAft>
                <a:spcPts val="0"/>
              </a:spcAft>
            </a:pPr>
            <a:r>
              <a:rPr sz="950" i="0">
                <a:solidFill>
                  <a:srgbClr val="1C273A"/>
                </a:solidFill>
                <a:latin typeface="Consolas"/>
              </a:rPr>
              <a:t>end process;</a:t>
            </a:r>
          </a:p>
        </p:txBody>
      </p:sp>
      <p:sp>
        <p:nvSpPr>
          <p:cNvPr id="11" name="Rounded Rectangle 10"/>
          <p:cNvSpPr/>
          <p:nvPr/>
        </p:nvSpPr>
        <p:spPr>
          <a:xfrm>
            <a:off x="6903720" y="2880360"/>
            <a:ext cx="3840480" cy="3883151"/>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104888" y="3081528"/>
            <a:ext cx="34381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NEDEN KUYRUK?</a:t>
            </a:r>
          </a:p>
        </p:txBody>
      </p:sp>
      <p:sp>
        <p:nvSpPr>
          <p:cNvPr id="13" name="TextBox 12"/>
          <p:cNvSpPr txBox="1"/>
          <p:nvPr/>
        </p:nvSpPr>
        <p:spPr>
          <a:xfrm>
            <a:off x="7104888" y="3465576"/>
            <a:ext cx="3438144" cy="3188208"/>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DUT'un kaç çevrim gecikmeyle cevap verdiğini</a:t>
            </a:r>
          </a:p>
          <a:p>
            <a:pPr algn="l">
              <a:lnSpc>
                <a:spcPct val="112000"/>
              </a:lnSpc>
              <a:spcAft>
                <a:spcPts val="400"/>
              </a:spcAft>
            </a:pPr>
            <a:r>
              <a:rPr sz="1400" b="0" i="0">
                <a:solidFill>
                  <a:srgbClr val="4D4D4D"/>
                </a:solidFill>
                <a:latin typeface="Calibri"/>
              </a:rPr>
              <a:t>testbench'in bilmesi gerekmez.</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Geri basınç uygulandığında beklentiler</a:t>
            </a:r>
          </a:p>
          <a:p>
            <a:pPr algn="l">
              <a:lnSpc>
                <a:spcPct val="112000"/>
              </a:lnSpc>
              <a:spcAft>
                <a:spcPts val="400"/>
              </a:spcAft>
            </a:pPr>
            <a:r>
              <a:rPr sz="1400" b="0" i="0">
                <a:solidFill>
                  <a:srgbClr val="4D4D4D"/>
                </a:solidFill>
                <a:latin typeface="Calibri"/>
              </a:rPr>
              <a:t>kuyrukta bekler — zaman tabanlı bir</a:t>
            </a:r>
          </a:p>
          <a:p>
            <a:pPr algn="l">
              <a:lnSpc>
                <a:spcPct val="112000"/>
              </a:lnSpc>
              <a:spcAft>
                <a:spcPts val="400"/>
              </a:spcAft>
            </a:pPr>
            <a:r>
              <a:rPr sz="1400" b="0" i="0">
                <a:solidFill>
                  <a:srgbClr val="4D4D4D"/>
                </a:solidFill>
                <a:latin typeface="Calibri"/>
              </a:rPr>
              <a:t>kontrol burada kırılırdı.</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Test sonunda tek satır:</a:t>
            </a:r>
          </a:p>
          <a:p>
            <a:pPr algn="l">
              <a:lnSpc>
                <a:spcPct val="112000"/>
              </a:lnSpc>
              <a:spcAft>
                <a:spcPts val="400"/>
              </a:spcAft>
            </a:pPr>
            <a:r>
              <a:rPr sz="1400" b="0" i="0">
                <a:solidFill>
                  <a:srgbClr val="4D4D4D"/>
                </a:solidFill>
                <a:latin typeface="Calibri"/>
              </a:rPr>
              <a:t>check(is_empty(exp_queue))</a:t>
            </a:r>
          </a:p>
          <a:p>
            <a:pPr algn="l">
              <a:lnSpc>
                <a:spcPct val="112000"/>
              </a:lnSpc>
              <a:spcAft>
                <a:spcPts val="400"/>
              </a:spcAft>
            </a:pPr>
            <a:r>
              <a:rPr sz="1400" b="0" i="0">
                <a:solidFill>
                  <a:srgbClr val="4D4D4D"/>
                </a:solidFill>
                <a:latin typeface="Calibri"/>
              </a:rPr>
              <a:t>eksik veya fazla beat'i yakalar.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PARAMETRİK TEST: ADD_CONFİG</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pytest.mark.parametrize'ın VHDL karşılığı</a:t>
            </a:r>
          </a:p>
        </p:txBody>
      </p:sp>
      <p:sp>
        <p:nvSpPr>
          <p:cNvPr id="4" name="Rounded Rectangle 3"/>
          <p:cNvSpPr/>
          <p:nvPr/>
        </p:nvSpPr>
        <p:spPr>
          <a:xfrm>
            <a:off x="411480" y="1874519"/>
            <a:ext cx="6217920" cy="2454275"/>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057400"/>
            <a:ext cx="5852159" cy="2088515"/>
          </a:xfrm>
          <a:prstGeom prst="rect">
            <a:avLst/>
          </a:prstGeom>
          <a:noFill/>
        </p:spPr>
        <p:txBody>
          <a:bodyPr wrap="square" lIns="0" tIns="0" rIns="0" bIns="0">
            <a:spAutoFit/>
          </a:bodyPr>
          <a:lstStyle/>
          <a:p>
            <a:pPr algn="l">
              <a:lnSpc>
                <a:spcPct val="115000"/>
              </a:lnSpc>
              <a:spcAft>
                <a:spcPts val="0"/>
              </a:spcAft>
            </a:pPr>
            <a:r>
              <a:rPr sz="1150" i="0">
                <a:solidFill>
                  <a:srgbClr val="1C273A"/>
                </a:solidFill>
                <a:latin typeface="Consolas"/>
              </a:rPr>
              <a:t>tb = lib.test_bench("tb_fir_filter")</a:t>
            </a:r>
          </a:p>
          <a:p>
            <a:pPr algn="l">
              <a:lnSpc>
                <a:spcPct val="115000"/>
              </a:lnSpc>
              <a:spcAft>
                <a:spcPts val="0"/>
              </a:spcAft>
            </a:pPr>
            <a:r>
              <a:rPr sz="1150" i="0">
                <a:solidFill>
                  <a:srgbClr val="1C273A"/>
                </a:solidFill>
                <a:latin typeface="Consolas"/>
              </a:rPr>
              <a:t> </a:t>
            </a:r>
          </a:p>
          <a:p>
            <a:pPr algn="l">
              <a:lnSpc>
                <a:spcPct val="115000"/>
              </a:lnSpc>
              <a:spcAft>
                <a:spcPts val="0"/>
              </a:spcAft>
            </a:pPr>
            <a:r>
              <a:rPr sz="1150" i="0">
                <a:solidFill>
                  <a:srgbClr val="1C273A"/>
                </a:solidFill>
                <a:latin typeface="Consolas"/>
              </a:rPr>
              <a:t>for cfg in manifest["configs"]:</a:t>
            </a:r>
          </a:p>
          <a:p>
            <a:pPr algn="l">
              <a:lnSpc>
                <a:spcPct val="115000"/>
              </a:lnSpc>
              <a:spcAft>
                <a:spcPts val="0"/>
              </a:spcAft>
            </a:pPr>
            <a:r>
              <a:rPr sz="1150" i="0">
                <a:solidFill>
                  <a:srgbClr val="1C273A"/>
                </a:solidFill>
                <a:latin typeface="Consolas"/>
              </a:rPr>
              <a:t>    tb.test("spektrum_dogru").add_config(</a:t>
            </a:r>
          </a:p>
          <a:p>
            <a:pPr algn="l">
              <a:lnSpc>
                <a:spcPct val="115000"/>
              </a:lnSpc>
              <a:spcAft>
                <a:spcPts val="0"/>
              </a:spcAft>
            </a:pPr>
            <a:r>
              <a:rPr sz="1150" i="0">
                <a:solidFill>
                  <a:srgbClr val="1C273A"/>
                </a:solidFill>
                <a:latin typeface="Consolas"/>
              </a:rPr>
              <a:t>        name=cfg["name"],</a:t>
            </a:r>
          </a:p>
          <a:p>
            <a:pPr algn="l">
              <a:lnSpc>
                <a:spcPct val="115000"/>
              </a:lnSpc>
              <a:spcAft>
                <a:spcPts val="0"/>
              </a:spcAft>
            </a:pPr>
            <a:r>
              <a:rPr sz="1150" i="0">
                <a:solidFill>
                  <a:srgbClr val="1C273A"/>
                </a:solidFill>
                <a:latin typeface="Consolas"/>
              </a:rPr>
              <a:t>        generics=dict(</a:t>
            </a:r>
          </a:p>
          <a:p>
            <a:pPr algn="l">
              <a:lnSpc>
                <a:spcPct val="115000"/>
              </a:lnSpc>
              <a:spcAft>
                <a:spcPts val="0"/>
              </a:spcAft>
            </a:pPr>
            <a:r>
              <a:rPr sz="1150" i="0">
                <a:solidFill>
                  <a:srgbClr val="1C273A"/>
                </a:solidFill>
                <a:latin typeface="Consolas"/>
              </a:rPr>
              <a:t>            g_config_id  = cfg["id"],</a:t>
            </a:r>
          </a:p>
          <a:p>
            <a:pPr algn="l">
              <a:lnSpc>
                <a:spcPct val="115000"/>
              </a:lnSpc>
              <a:spcAft>
                <a:spcPts val="0"/>
              </a:spcAft>
            </a:pPr>
            <a:r>
              <a:rPr sz="1150" i="0">
                <a:solidFill>
                  <a:srgbClr val="1C273A"/>
                </a:solidFill>
                <a:latin typeface="Consolas"/>
              </a:rPr>
              <a:t>            g_input_csv  = cfg["input"],</a:t>
            </a:r>
          </a:p>
          <a:p>
            <a:pPr algn="l">
              <a:lnSpc>
                <a:spcPct val="115000"/>
              </a:lnSpc>
              <a:spcAft>
                <a:spcPts val="0"/>
              </a:spcAft>
            </a:pPr>
            <a:r>
              <a:rPr sz="1150" i="0">
                <a:solidFill>
                  <a:srgbClr val="1C273A"/>
                </a:solidFill>
                <a:latin typeface="Consolas"/>
              </a:rPr>
              <a:t>        ),</a:t>
            </a:r>
          </a:p>
          <a:p>
            <a:pPr algn="l">
              <a:lnSpc>
                <a:spcPct val="115000"/>
              </a:lnSpc>
              <a:spcAft>
                <a:spcPts val="0"/>
              </a:spcAft>
            </a:pPr>
            <a:r>
              <a:rPr sz="1150" i="0">
                <a:solidFill>
                  <a:srgbClr val="1C273A"/>
                </a:solidFill>
                <a:latin typeface="Consolas"/>
              </a:rPr>
              <a:t>        post_check=make_spectrum_check(manifest, cfg),</a:t>
            </a:r>
          </a:p>
          <a:p>
            <a:pPr algn="l">
              <a:lnSpc>
                <a:spcPct val="115000"/>
              </a:lnSpc>
              <a:spcAft>
                <a:spcPts val="0"/>
              </a:spcAft>
            </a:pPr>
            <a:r>
              <a:rPr sz="1150" i="0">
                <a:solidFill>
                  <a:srgbClr val="1C273A"/>
                </a:solidFill>
                <a:latin typeface="Consolas"/>
              </a:rPr>
              <a:t>    )</a:t>
            </a:r>
          </a:p>
        </p:txBody>
      </p:sp>
      <p:sp>
        <p:nvSpPr>
          <p:cNvPr id="6" name="Rounded Rectangle 5"/>
          <p:cNvSpPr/>
          <p:nvPr/>
        </p:nvSpPr>
        <p:spPr>
          <a:xfrm>
            <a:off x="6903720" y="1874519"/>
            <a:ext cx="3840480" cy="3184144"/>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04888" y="2075688"/>
            <a:ext cx="34381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TEK TESTBENCH, N KOŞU</a:t>
            </a:r>
          </a:p>
        </p:txBody>
      </p:sp>
      <p:sp>
        <p:nvSpPr>
          <p:cNvPr id="8" name="TextBox 7"/>
          <p:cNvSpPr txBox="1"/>
          <p:nvPr/>
        </p:nvSpPr>
        <p:spPr>
          <a:xfrm>
            <a:off x="7104888" y="2459736"/>
            <a:ext cx="3438144" cy="2489200"/>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Aynı testbench farklı generic'lerle</a:t>
            </a:r>
          </a:p>
          <a:p>
            <a:pPr algn="l">
              <a:lnSpc>
                <a:spcPct val="112000"/>
              </a:lnSpc>
              <a:spcAft>
                <a:spcPts val="400"/>
              </a:spcAft>
            </a:pPr>
            <a:r>
              <a:rPr sz="1400" b="0" i="0">
                <a:solidFill>
                  <a:srgbClr val="4D4D4D"/>
                </a:solidFill>
                <a:latin typeface="Calibri"/>
              </a:rPr>
              <a:t>birden çok kez koşar.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Her koşu ayrı isim alır:</a:t>
            </a:r>
          </a:p>
          <a:p>
            <a:pPr algn="l">
              <a:lnSpc>
                <a:spcPct val="112000"/>
              </a:lnSpc>
              <a:spcAft>
                <a:spcPts val="400"/>
              </a:spcAft>
            </a:pPr>
            <a:r>
              <a:rPr sz="1400" b="0" i="0">
                <a:solidFill>
                  <a:srgbClr val="4D4D4D"/>
                </a:solidFill>
                <a:latin typeface="Calibri"/>
              </a:rPr>
              <a:t>lib.tb_fir.24tap.spektrum_dogru</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Düşen tek konfigürasyon tek başına</a:t>
            </a:r>
          </a:p>
          <a:p>
            <a:pPr algn="l">
              <a:lnSpc>
                <a:spcPct val="112000"/>
              </a:lnSpc>
              <a:spcAft>
                <a:spcPts val="400"/>
              </a:spcAft>
            </a:pPr>
            <a:r>
              <a:rPr sz="1400" b="0" i="0">
                <a:solidFill>
                  <a:srgbClr val="4D4D4D"/>
                </a:solidFill>
                <a:latin typeface="Calibri"/>
              </a:rPr>
              <a:t>tekrar çalıştırılabilir.</a:t>
            </a:r>
          </a:p>
        </p:txBody>
      </p:sp>
      <p:sp>
        <p:nvSpPr>
          <p:cNvPr id="9" name="Rounded Rectangle 8"/>
          <p:cNvSpPr/>
          <p:nvPr/>
        </p:nvSpPr>
        <p:spPr>
          <a:xfrm>
            <a:off x="411480" y="4526280"/>
            <a:ext cx="10332720" cy="1417320"/>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67512" y="4709160"/>
            <a:ext cx="9784080" cy="365760"/>
          </a:xfrm>
          <a:prstGeom prst="rect">
            <a:avLst/>
          </a:prstGeom>
          <a:noFill/>
        </p:spPr>
        <p:txBody>
          <a:bodyPr wrap="square" lIns="0" tIns="0" rIns="0" bIns="0">
            <a:spAutoFit/>
          </a:bodyPr>
          <a:lstStyle/>
          <a:p>
            <a:pPr algn="l">
              <a:spcAft>
                <a:spcPts val="600"/>
              </a:spcAft>
            </a:pPr>
            <a:r>
              <a:rPr sz="1700" b="1" i="0">
                <a:solidFill>
                  <a:srgbClr val="FF5620"/>
                </a:solidFill>
                <a:latin typeface="Segoe UI Semibold"/>
              </a:rPr>
              <a:t>İki tuzak, ikisi de bir kez öğrenilir</a:t>
            </a:r>
          </a:p>
        </p:txBody>
      </p:sp>
      <p:sp>
        <p:nvSpPr>
          <p:cNvPr id="11" name="TextBox 10"/>
          <p:cNvSpPr txBox="1"/>
          <p:nvPr/>
        </p:nvSpPr>
        <p:spPr>
          <a:xfrm>
            <a:off x="667512" y="5102352"/>
            <a:ext cx="9784080" cy="777240"/>
          </a:xfrm>
          <a:prstGeom prst="rect">
            <a:avLst/>
          </a:prstGeom>
          <a:noFill/>
        </p:spPr>
        <p:txBody>
          <a:bodyPr wrap="square" lIns="0" tIns="0" rIns="0" bIns="0">
            <a:spAutoFit/>
          </a:bodyPr>
          <a:lstStyle/>
          <a:p>
            <a:pPr algn="l">
              <a:lnSpc>
                <a:spcPct val="115000"/>
              </a:lnSpc>
              <a:spcAft>
                <a:spcPts val="600"/>
              </a:spcAft>
            </a:pPr>
            <a:r>
              <a:rPr sz="1500" b="0" i="0">
                <a:solidFill>
                  <a:srgbClr val="4D4D4D"/>
                </a:solidFill>
                <a:latin typeface="Calibri"/>
              </a:rPr>
              <a:t>add_config dizi tipli generic geçiremez — katsayı dizileri üretilmiş bir VHDL paketine konur.   ·   Konfigürasyon uzayı çarpım hızıyla büyür; her kombinasyonu değil, pairwise seçilmiş bir alt kümeyi koş.</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PYTHON KANCALARI</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pre_config ve post_check: doğrulamanın bir kısmını Python'a taşımak</a:t>
            </a:r>
          </a:p>
        </p:txBody>
      </p:sp>
      <p:sp>
        <p:nvSpPr>
          <p:cNvPr id="4" name="Rounded Rectangle 3"/>
          <p:cNvSpPr/>
          <p:nvPr/>
        </p:nvSpPr>
        <p:spPr>
          <a:xfrm>
            <a:off x="411480" y="1920240"/>
            <a:ext cx="3283305" cy="594360"/>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pre_config
vektörü üret</a:t>
            </a:r>
          </a:p>
        </p:txBody>
      </p:sp>
      <p:sp>
        <p:nvSpPr>
          <p:cNvPr id="5" name="Right Arrow 4"/>
          <p:cNvSpPr/>
          <p:nvPr/>
        </p:nvSpPr>
        <p:spPr>
          <a:xfrm>
            <a:off x="3733190" y="2148840"/>
            <a:ext cx="164592" cy="137160"/>
          </a:xfrm>
          <a:prstGeom prst="rightArrow">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936187" y="1920240"/>
            <a:ext cx="3283305" cy="594360"/>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simülasyon
DUT çıktıyı yazar</a:t>
            </a:r>
          </a:p>
        </p:txBody>
      </p:sp>
      <p:sp>
        <p:nvSpPr>
          <p:cNvPr id="7" name="Right Arrow 6"/>
          <p:cNvSpPr/>
          <p:nvPr/>
        </p:nvSpPr>
        <p:spPr>
          <a:xfrm>
            <a:off x="7257897" y="2148840"/>
            <a:ext cx="164592" cy="137160"/>
          </a:xfrm>
          <a:prstGeom prst="rightArrow">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460894" y="1920240"/>
            <a:ext cx="3283305" cy="594360"/>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post_check
Python sonucu denetler</a:t>
            </a:r>
          </a:p>
        </p:txBody>
      </p:sp>
      <p:sp>
        <p:nvSpPr>
          <p:cNvPr id="9" name="Rounded Rectangle 8"/>
          <p:cNvSpPr/>
          <p:nvPr/>
        </p:nvSpPr>
        <p:spPr>
          <a:xfrm>
            <a:off x="411480" y="2788920"/>
            <a:ext cx="10332720" cy="2834005"/>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94360" y="2971800"/>
            <a:ext cx="9966960" cy="2468245"/>
          </a:xfrm>
          <a:prstGeom prst="rect">
            <a:avLst/>
          </a:prstGeom>
          <a:noFill/>
        </p:spPr>
        <p:txBody>
          <a:bodyPr wrap="square" lIns="0" tIns="0" rIns="0" bIns="0">
            <a:spAutoFit/>
          </a:bodyPr>
          <a:lstStyle/>
          <a:p>
            <a:pPr algn="l">
              <a:lnSpc>
                <a:spcPct val="115000"/>
              </a:lnSpc>
              <a:spcAft>
                <a:spcPts val="0"/>
              </a:spcAft>
            </a:pPr>
            <a:r>
              <a:rPr sz="1150" i="0">
                <a:solidFill>
                  <a:srgbClr val="1C273A"/>
                </a:solidFill>
                <a:latin typeface="Consolas"/>
              </a:rPr>
              <a:t>def make_spectrum_check(manifest, cfg):</a:t>
            </a:r>
          </a:p>
          <a:p>
            <a:pPr algn="l">
              <a:lnSpc>
                <a:spcPct val="115000"/>
              </a:lnSpc>
              <a:spcAft>
                <a:spcPts val="0"/>
              </a:spcAft>
            </a:pPr>
            <a:r>
              <a:rPr sz="1150" i="0">
                <a:solidFill>
                  <a:srgbClr val="1C273A"/>
                </a:solidFill>
                <a:latin typeface="Consolas"/>
              </a:rPr>
              <a:t>    def check_spectrum(output_path):</a:t>
            </a:r>
          </a:p>
          <a:p>
            <a:pPr algn="l">
              <a:lnSpc>
                <a:spcPct val="115000"/>
              </a:lnSpc>
              <a:spcAft>
                <a:spcPts val="0"/>
              </a:spcAft>
            </a:pPr>
            <a:r>
              <a:rPr sz="1150" i="0">
                <a:solidFill>
                  <a:srgbClr val="1C273A"/>
                </a:solidFill>
                <a:latin typeface="Consolas"/>
              </a:rPr>
              <a:t>        y = read_vector(Path(output_path) / "output.csv")     # DUT ciktisi</a:t>
            </a:r>
          </a:p>
          <a:p>
            <a:pPr algn="l">
              <a:lnSpc>
                <a:spcPct val="115000"/>
              </a:lnSpc>
              <a:spcAft>
                <a:spcPts val="0"/>
              </a:spcAft>
            </a:pPr>
            <a:r>
              <a:rPr sz="1150" i="0">
                <a:solidFill>
                  <a:srgbClr val="1C273A"/>
                </a:solidFill>
                <a:latin typeface="Consolas"/>
              </a:rPr>
              <a:t>        x = read_vector(VECTORS / manifest["input_csv"])</a:t>
            </a:r>
          </a:p>
          <a:p>
            <a:pPr algn="l">
              <a:lnSpc>
                <a:spcPct val="115000"/>
              </a:lnSpc>
              <a:spcAft>
                <a:spcPts val="0"/>
              </a:spcAft>
            </a:pPr>
            <a:r>
              <a:rPr sz="1150" i="0">
                <a:solidFill>
                  <a:srgbClr val="1C273A"/>
                </a:solidFill>
                <a:latin typeface="Consolas"/>
              </a:rPr>
              <a:t> </a:t>
            </a:r>
          </a:p>
          <a:p>
            <a:pPr algn="l">
              <a:lnSpc>
                <a:spcPct val="115000"/>
              </a:lnSpc>
              <a:spcAft>
                <a:spcPts val="0"/>
              </a:spcAft>
            </a:pPr>
            <a:r>
              <a:rPr sz="1150" i="0">
                <a:solidFill>
                  <a:srgbClr val="1C273A"/>
                </a:solidFill>
                <a:latin typeface="Consolas"/>
              </a:rPr>
              <a:t>        stopband_db = suppression_db(y, x, fs, manifest["stop_tone_hz"])</a:t>
            </a:r>
          </a:p>
          <a:p>
            <a:pPr algn="l">
              <a:lnSpc>
                <a:spcPct val="115000"/>
              </a:lnSpc>
              <a:spcAft>
                <a:spcPts val="0"/>
              </a:spcAft>
            </a:pPr>
            <a:r>
              <a:rPr sz="1150" i="0">
                <a:solidFill>
                  <a:srgbClr val="1C273A"/>
                </a:solidFill>
                <a:latin typeface="Consolas"/>
              </a:rPr>
              <a:t> </a:t>
            </a:r>
          </a:p>
          <a:p>
            <a:pPr algn="l">
              <a:lnSpc>
                <a:spcPct val="115000"/>
              </a:lnSpc>
              <a:spcAft>
                <a:spcPts val="0"/>
              </a:spcAft>
            </a:pPr>
            <a:r>
              <a:rPr sz="1150" i="0">
                <a:solidFill>
                  <a:srgbClr val="1C273A"/>
                </a:solidFill>
                <a:latin typeface="Consolas"/>
              </a:rPr>
              <a:t>        assert stopband_db &lt;= -40.0, (</a:t>
            </a:r>
          </a:p>
          <a:p>
            <a:pPr algn="l">
              <a:lnSpc>
                <a:spcPct val="115000"/>
              </a:lnSpc>
              <a:spcAft>
                <a:spcPts val="0"/>
              </a:spcAft>
            </a:pPr>
            <a:r>
              <a:rPr sz="1150" i="0">
                <a:solidFill>
                  <a:srgbClr val="1C273A"/>
                </a:solidFill>
                <a:latin typeface="Consolas"/>
              </a:rPr>
              <a:t>            f"[{cfg['name']}] stopband sartnameyi saglamiyor: "</a:t>
            </a:r>
          </a:p>
          <a:p>
            <a:pPr algn="l">
              <a:lnSpc>
                <a:spcPct val="115000"/>
              </a:lnSpc>
              <a:spcAft>
                <a:spcPts val="0"/>
              </a:spcAft>
            </a:pPr>
            <a:r>
              <a:rPr sz="1150" i="0">
                <a:solidFill>
                  <a:srgbClr val="1C273A"/>
                </a:solidFill>
                <a:latin typeface="Consolas"/>
              </a:rPr>
              <a:t>            f"{stopband_db:.2f} dB, en fazla -40.0 dB olmali."</a:t>
            </a:r>
          </a:p>
          <a:p>
            <a:pPr algn="l">
              <a:lnSpc>
                <a:spcPct val="115000"/>
              </a:lnSpc>
              <a:spcAft>
                <a:spcPts val="0"/>
              </a:spcAft>
            </a:pPr>
            <a:r>
              <a:rPr sz="1150" i="0">
                <a:solidFill>
                  <a:srgbClr val="1C273A"/>
                </a:solidFill>
                <a:latin typeface="Consolas"/>
              </a:rPr>
              <a:t>        )</a:t>
            </a:r>
          </a:p>
          <a:p>
            <a:pPr algn="l">
              <a:lnSpc>
                <a:spcPct val="115000"/>
              </a:lnSpc>
              <a:spcAft>
                <a:spcPts val="0"/>
              </a:spcAft>
            </a:pPr>
            <a:r>
              <a:rPr sz="1150" i="0">
                <a:solidFill>
                  <a:srgbClr val="1C273A"/>
                </a:solidFill>
                <a:latin typeface="Consolas"/>
              </a:rPr>
              <a:t>        return True                    # False dondurmek testi dusurur</a:t>
            </a:r>
          </a:p>
          <a:p>
            <a:pPr algn="l">
              <a:lnSpc>
                <a:spcPct val="115000"/>
              </a:lnSpc>
              <a:spcAft>
                <a:spcPts val="0"/>
              </a:spcAft>
            </a:pPr>
            <a:r>
              <a:rPr sz="1150" i="0">
                <a:solidFill>
                  <a:srgbClr val="1C273A"/>
                </a:solidFill>
                <a:latin typeface="Consolas"/>
              </a:rPr>
              <a:t>    return check_spectrum</a:t>
            </a:r>
          </a:p>
        </p:txBody>
      </p:sp>
      <p:sp>
        <p:nvSpPr>
          <p:cNvPr id="11" name="TextBox 10"/>
          <p:cNvSpPr txBox="1"/>
          <p:nvPr/>
        </p:nvSpPr>
        <p:spPr>
          <a:xfrm>
            <a:off x="411480" y="5678424"/>
            <a:ext cx="10332720" cy="822960"/>
          </a:xfrm>
          <a:prstGeom prst="rect">
            <a:avLst/>
          </a:prstGeom>
          <a:noFill/>
        </p:spPr>
        <p:txBody>
          <a:bodyPr wrap="square" lIns="0" tIns="0" rIns="0" bIns="0">
            <a:spAutoFit/>
          </a:bodyPr>
          <a:lstStyle/>
          <a:p>
            <a:pPr algn="l">
              <a:lnSpc>
                <a:spcPct val="115000"/>
              </a:lnSpc>
              <a:spcAft>
                <a:spcPts val="600"/>
              </a:spcAft>
            </a:pPr>
            <a:r>
              <a:rPr sz="1500" b="0" i="0" dirty="0" err="1">
                <a:solidFill>
                  <a:srgbClr val="4D4D4D"/>
                </a:solidFill>
                <a:latin typeface="Calibri"/>
              </a:rPr>
              <a:t>Buradaki</a:t>
            </a:r>
            <a:r>
              <a:rPr sz="1500" b="0" i="0" dirty="0">
                <a:solidFill>
                  <a:srgbClr val="4D4D4D"/>
                </a:solidFill>
                <a:latin typeface="Calibri"/>
              </a:rPr>
              <a:t> </a:t>
            </a:r>
            <a:r>
              <a:rPr sz="1500" b="0" i="0" dirty="0" err="1">
                <a:solidFill>
                  <a:srgbClr val="4D4D4D"/>
                </a:solidFill>
                <a:latin typeface="Calibri"/>
              </a:rPr>
              <a:t>kazanç</a:t>
            </a:r>
            <a:r>
              <a:rPr sz="1500" b="0" i="0" dirty="0">
                <a:solidFill>
                  <a:srgbClr val="4D4D4D"/>
                </a:solidFill>
                <a:latin typeface="Calibri"/>
              </a:rPr>
              <a:t> </a:t>
            </a:r>
            <a:r>
              <a:rPr sz="1500" b="0" i="0" dirty="0" err="1">
                <a:solidFill>
                  <a:srgbClr val="4D4D4D"/>
                </a:solidFill>
                <a:latin typeface="Calibri"/>
              </a:rPr>
              <a:t>yalnızca</a:t>
            </a:r>
            <a:r>
              <a:rPr sz="1500" b="0" i="0" dirty="0">
                <a:solidFill>
                  <a:srgbClr val="4D4D4D"/>
                </a:solidFill>
                <a:latin typeface="Calibri"/>
              </a:rPr>
              <a:t> </a:t>
            </a:r>
            <a:r>
              <a:rPr sz="1500" b="0" i="0" dirty="0" err="1">
                <a:solidFill>
                  <a:srgbClr val="4D4D4D"/>
                </a:solidFill>
                <a:latin typeface="Calibri"/>
              </a:rPr>
              <a:t>kolaylık</a:t>
            </a:r>
            <a:r>
              <a:rPr sz="1500" b="0" i="0" dirty="0">
                <a:solidFill>
                  <a:srgbClr val="4D4D4D"/>
                </a:solidFill>
                <a:latin typeface="Calibri"/>
              </a:rPr>
              <a:t> </a:t>
            </a:r>
            <a:r>
              <a:rPr sz="1500" b="0" i="0" dirty="0" err="1">
                <a:solidFill>
                  <a:srgbClr val="4D4D4D"/>
                </a:solidFill>
                <a:latin typeface="Calibri"/>
              </a:rPr>
              <a:t>değil</a:t>
            </a:r>
            <a:r>
              <a:rPr sz="1500" b="0" i="0" dirty="0">
                <a:solidFill>
                  <a:srgbClr val="4D4D4D"/>
                </a:solidFill>
                <a:latin typeface="Calibri"/>
              </a:rPr>
              <a:t>: </a:t>
            </a:r>
            <a:r>
              <a:rPr sz="1500" b="0" i="0" dirty="0" err="1">
                <a:solidFill>
                  <a:srgbClr val="4D4D4D"/>
                </a:solidFill>
                <a:latin typeface="Calibri"/>
              </a:rPr>
              <a:t>bir</a:t>
            </a:r>
            <a:r>
              <a:rPr sz="1500" b="0" i="0" dirty="0">
                <a:solidFill>
                  <a:srgbClr val="4D4D4D"/>
                </a:solidFill>
                <a:latin typeface="Calibri"/>
              </a:rPr>
              <a:t> FIR </a:t>
            </a:r>
            <a:r>
              <a:rPr sz="1500" b="0" i="0" dirty="0" err="1">
                <a:solidFill>
                  <a:srgbClr val="4D4D4D"/>
                </a:solidFill>
                <a:latin typeface="Calibri"/>
              </a:rPr>
              <a:t>filtresinin</a:t>
            </a:r>
            <a:r>
              <a:rPr sz="1500" b="0" i="0" dirty="0">
                <a:solidFill>
                  <a:srgbClr val="4D4D4D"/>
                </a:solidFill>
                <a:latin typeface="Calibri"/>
              </a:rPr>
              <a:t> </a:t>
            </a:r>
            <a:r>
              <a:rPr sz="1500" b="0" i="0" dirty="0" err="1">
                <a:solidFill>
                  <a:srgbClr val="4D4D4D"/>
                </a:solidFill>
                <a:latin typeface="Calibri"/>
              </a:rPr>
              <a:t>durdurma</a:t>
            </a:r>
            <a:r>
              <a:rPr sz="1500" b="0" i="0" dirty="0">
                <a:solidFill>
                  <a:srgbClr val="4D4D4D"/>
                </a:solidFill>
                <a:latin typeface="Calibri"/>
              </a:rPr>
              <a:t> </a:t>
            </a:r>
            <a:r>
              <a:rPr sz="1500" b="0" i="0" dirty="0" err="1">
                <a:solidFill>
                  <a:srgbClr val="4D4D4D"/>
                </a:solidFill>
                <a:latin typeface="Calibri"/>
              </a:rPr>
              <a:t>bandı</a:t>
            </a:r>
            <a:r>
              <a:rPr sz="1500" b="0" i="0" dirty="0">
                <a:solidFill>
                  <a:srgbClr val="4D4D4D"/>
                </a:solidFill>
                <a:latin typeface="Calibri"/>
              </a:rPr>
              <a:t> </a:t>
            </a:r>
            <a:r>
              <a:rPr sz="1500" b="0" i="0" dirty="0" err="1">
                <a:solidFill>
                  <a:srgbClr val="4D4D4D"/>
                </a:solidFill>
                <a:latin typeface="Calibri"/>
              </a:rPr>
              <a:t>bastırmasını</a:t>
            </a:r>
            <a:r>
              <a:rPr sz="1500" b="0" i="0" dirty="0">
                <a:solidFill>
                  <a:srgbClr val="4D4D4D"/>
                </a:solidFill>
                <a:latin typeface="Calibri"/>
              </a:rPr>
              <a:t> </a:t>
            </a:r>
            <a:r>
              <a:rPr sz="1500" b="0" i="0" dirty="0" err="1">
                <a:solidFill>
                  <a:srgbClr val="4D4D4D"/>
                </a:solidFill>
                <a:latin typeface="Calibri"/>
              </a:rPr>
              <a:t>VHDL'de</a:t>
            </a:r>
            <a:r>
              <a:rPr sz="1500" b="0" i="0" dirty="0">
                <a:solidFill>
                  <a:srgbClr val="4D4D4D"/>
                </a:solidFill>
                <a:latin typeface="Calibri"/>
              </a:rPr>
              <a:t> </a:t>
            </a:r>
            <a:r>
              <a:rPr sz="1500" b="0" i="0" dirty="0" err="1">
                <a:solidFill>
                  <a:srgbClr val="4D4D4D"/>
                </a:solidFill>
                <a:latin typeface="Calibri"/>
              </a:rPr>
              <a:t>ölçmek</a:t>
            </a:r>
            <a:r>
              <a:rPr sz="1500" b="0" i="0" dirty="0">
                <a:solidFill>
                  <a:srgbClr val="4D4D4D"/>
                </a:solidFill>
                <a:latin typeface="Calibri"/>
              </a:rPr>
              <a:t> </a:t>
            </a:r>
            <a:r>
              <a:rPr sz="1500" b="0" i="0" dirty="0" err="1">
                <a:solidFill>
                  <a:srgbClr val="4D4D4D"/>
                </a:solidFill>
                <a:latin typeface="Calibri"/>
              </a:rPr>
              <a:t>için</a:t>
            </a:r>
            <a:r>
              <a:rPr sz="1500" b="0" i="0" dirty="0">
                <a:solidFill>
                  <a:srgbClr val="4D4D4D"/>
                </a:solidFill>
                <a:latin typeface="Calibri"/>
              </a:rPr>
              <a:t> FFT </a:t>
            </a:r>
            <a:r>
              <a:rPr sz="1500" b="0" i="0" dirty="0" err="1">
                <a:solidFill>
                  <a:srgbClr val="4D4D4D"/>
                </a:solidFill>
                <a:latin typeface="Calibri"/>
              </a:rPr>
              <a:t>yazmanız</a:t>
            </a:r>
            <a:r>
              <a:rPr sz="1500" b="0" i="0" dirty="0">
                <a:solidFill>
                  <a:srgbClr val="4D4D4D"/>
                </a:solidFill>
                <a:latin typeface="Calibri"/>
              </a:rPr>
              <a:t> </a:t>
            </a:r>
            <a:r>
              <a:rPr sz="1500" b="0" i="0" dirty="0" err="1">
                <a:solidFill>
                  <a:srgbClr val="4D4D4D"/>
                </a:solidFill>
                <a:latin typeface="Calibri"/>
              </a:rPr>
              <a:t>gerekir</a:t>
            </a:r>
            <a:r>
              <a:rPr sz="1500" b="0" i="0" dirty="0">
                <a:solidFill>
                  <a:srgbClr val="4D4D4D"/>
                </a:solidFill>
                <a:latin typeface="Calibri"/>
              </a:rPr>
              <a:t>. </a:t>
            </a:r>
            <a:r>
              <a:rPr sz="1500" b="0" i="0" dirty="0" err="1">
                <a:solidFill>
                  <a:srgbClr val="4D4D4D"/>
                </a:solidFill>
                <a:latin typeface="Calibri"/>
              </a:rPr>
              <a:t>NumPy'de</a:t>
            </a:r>
            <a:r>
              <a:rPr sz="1500" b="0" i="0" dirty="0">
                <a:solidFill>
                  <a:srgbClr val="4D4D4D"/>
                </a:solidFill>
                <a:latin typeface="Calibri"/>
              </a:rPr>
              <a:t> </a:t>
            </a:r>
            <a:r>
              <a:rPr sz="1500" b="0" i="0" dirty="0" err="1">
                <a:solidFill>
                  <a:srgbClr val="4D4D4D"/>
                </a:solidFill>
                <a:latin typeface="Calibri"/>
              </a:rPr>
              <a:t>bu</a:t>
            </a:r>
            <a:r>
              <a:rPr sz="1500" b="0" i="0" dirty="0">
                <a:solidFill>
                  <a:srgbClr val="4D4D4D"/>
                </a:solidFill>
                <a:latin typeface="Calibri"/>
              </a:rPr>
              <a:t> </a:t>
            </a:r>
            <a:r>
              <a:rPr sz="1500" b="0" i="0" dirty="0" err="1">
                <a:solidFill>
                  <a:srgbClr val="4D4D4D"/>
                </a:solidFill>
                <a:latin typeface="Calibri"/>
              </a:rPr>
              <a:t>tek</a:t>
            </a:r>
            <a:r>
              <a:rPr sz="1500" b="0" i="0" dirty="0">
                <a:solidFill>
                  <a:srgbClr val="4D4D4D"/>
                </a:solidFill>
                <a:latin typeface="Calibri"/>
              </a:rPr>
              <a:t> </a:t>
            </a:r>
            <a:r>
              <a:rPr sz="1500" b="0" i="0" dirty="0" err="1">
                <a:solidFill>
                  <a:srgbClr val="4D4D4D"/>
                </a:solidFill>
                <a:latin typeface="Calibri"/>
              </a:rPr>
              <a:t>satır</a:t>
            </a:r>
            <a:r>
              <a:rPr sz="1500" b="0" i="0" dirty="0">
                <a:solidFill>
                  <a:srgbClr val="4D4D4D"/>
                </a:solidFill>
                <a:latin typeface="Calibri"/>
              </a:rPr>
              <a:t>. </a:t>
            </a:r>
            <a:r>
              <a:rPr sz="1500" b="0" i="0" dirty="0" err="1">
                <a:solidFill>
                  <a:srgbClr val="4D4D4D"/>
                </a:solidFill>
                <a:latin typeface="Calibri"/>
              </a:rPr>
              <a:t>VHDL'in</a:t>
            </a:r>
            <a:r>
              <a:rPr sz="1500" b="0" i="0" dirty="0">
                <a:solidFill>
                  <a:srgbClr val="4D4D4D"/>
                </a:solidFill>
                <a:latin typeface="Calibri"/>
              </a:rPr>
              <a:t> </a:t>
            </a:r>
            <a:r>
              <a:rPr sz="1500" b="0" i="0" dirty="0" err="1">
                <a:solidFill>
                  <a:srgbClr val="4D4D4D"/>
                </a:solidFill>
                <a:latin typeface="Calibri"/>
              </a:rPr>
              <a:t>yapamadığı</a:t>
            </a:r>
            <a:r>
              <a:rPr sz="1500" b="0" i="0" dirty="0">
                <a:solidFill>
                  <a:srgbClr val="4D4D4D"/>
                </a:solidFill>
                <a:latin typeface="Calibri"/>
              </a:rPr>
              <a:t> </a:t>
            </a:r>
            <a:r>
              <a:rPr sz="1500" b="0" i="0" dirty="0" err="1">
                <a:solidFill>
                  <a:srgbClr val="4D4D4D"/>
                </a:solidFill>
                <a:latin typeface="Calibri"/>
              </a:rPr>
              <a:t>iddiayı</a:t>
            </a:r>
            <a:r>
              <a:rPr sz="1500" b="0" i="0" dirty="0">
                <a:solidFill>
                  <a:srgbClr val="4D4D4D"/>
                </a:solidFill>
                <a:latin typeface="Calibri"/>
              </a:rPr>
              <a:t> Python </a:t>
            </a:r>
            <a:r>
              <a:rPr sz="1500" b="0" i="0" dirty="0" err="1">
                <a:solidFill>
                  <a:srgbClr val="4D4D4D"/>
                </a:solidFill>
                <a:latin typeface="Calibri"/>
              </a:rPr>
              <a:t>üstleniyor</a:t>
            </a:r>
            <a:r>
              <a:rPr sz="1500" b="0" i="0" dirty="0">
                <a:solidFill>
                  <a:srgbClr val="4D4D4D"/>
                </a:solidFill>
                <a:latin typeface="Calibri"/>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PYTHON GOLDEN MODEL ZİNCİRİ</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Referans model, testin dilinden bağımsız bir ikinci kaynak</a:t>
            </a:r>
          </a:p>
        </p:txBody>
      </p:sp>
      <p:sp>
        <p:nvSpPr>
          <p:cNvPr id="4" name="Rounded Rectangle 3"/>
          <p:cNvSpPr/>
          <p:nvPr/>
        </p:nvSpPr>
        <p:spPr>
          <a:xfrm>
            <a:off x="411480" y="1920240"/>
            <a:ext cx="2402128" cy="731520"/>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NumPy / SciPy
referans model</a:t>
            </a:r>
          </a:p>
        </p:txBody>
      </p:sp>
      <p:sp>
        <p:nvSpPr>
          <p:cNvPr id="5" name="Right Arrow 4"/>
          <p:cNvSpPr/>
          <p:nvPr/>
        </p:nvSpPr>
        <p:spPr>
          <a:xfrm>
            <a:off x="2852013" y="2217420"/>
            <a:ext cx="164592" cy="137160"/>
          </a:xfrm>
          <a:prstGeom prst="rightArrow">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055010" y="1920240"/>
            <a:ext cx="2402128" cy="731520"/>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Vektör dosyası
CSV + manifest</a:t>
            </a:r>
          </a:p>
        </p:txBody>
      </p:sp>
      <p:sp>
        <p:nvSpPr>
          <p:cNvPr id="7" name="Right Arrow 6"/>
          <p:cNvSpPr/>
          <p:nvPr/>
        </p:nvSpPr>
        <p:spPr>
          <a:xfrm>
            <a:off x="5495544" y="2217420"/>
            <a:ext cx="164592" cy="137160"/>
          </a:xfrm>
          <a:prstGeom prst="rightArrow">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98540" y="1920240"/>
            <a:ext cx="2402128" cy="731520"/>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VHDL testbench
bit-doğru karşılaştırma</a:t>
            </a:r>
          </a:p>
        </p:txBody>
      </p:sp>
      <p:sp>
        <p:nvSpPr>
          <p:cNvPr id="9" name="Right Arrow 8"/>
          <p:cNvSpPr/>
          <p:nvPr/>
        </p:nvSpPr>
        <p:spPr>
          <a:xfrm>
            <a:off x="8139074" y="2217420"/>
            <a:ext cx="164592" cy="137160"/>
          </a:xfrm>
          <a:prstGeom prst="rightArrow">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342071" y="1920240"/>
            <a:ext cx="2402128" cy="731520"/>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post_check
spektral doğrulama</a:t>
            </a:r>
          </a:p>
        </p:txBody>
      </p:sp>
      <p:sp>
        <p:nvSpPr>
          <p:cNvPr id="11" name="Rounded Rectangle 10"/>
          <p:cNvSpPr/>
          <p:nvPr/>
        </p:nvSpPr>
        <p:spPr>
          <a:xfrm>
            <a:off x="411480" y="3063240"/>
            <a:ext cx="4983480" cy="3234944"/>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3264408"/>
            <a:ext cx="45811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NE KAZANDIRIR</a:t>
            </a:r>
          </a:p>
        </p:txBody>
      </p:sp>
      <p:sp>
        <p:nvSpPr>
          <p:cNvPr id="13" name="TextBox 12"/>
          <p:cNvSpPr txBox="1"/>
          <p:nvPr/>
        </p:nvSpPr>
        <p:spPr>
          <a:xfrm>
            <a:off x="612648" y="3648456"/>
            <a:ext cx="4581144" cy="2540000"/>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Referans modeli donanımın gördüğü değerlerden</a:t>
            </a:r>
          </a:p>
          <a:p>
            <a:pPr algn="l">
              <a:lnSpc>
                <a:spcPct val="112000"/>
              </a:lnSpc>
              <a:spcAft>
                <a:spcPts val="400"/>
              </a:spcAft>
            </a:pPr>
            <a:r>
              <a:rPr sz="1400" b="0" i="0">
                <a:solidFill>
                  <a:srgbClr val="4D4D4D"/>
                </a:solidFill>
                <a:latin typeface="Calibri"/>
              </a:rPr>
              <a:t>kurarsan toleransı sıfıra indirebilirsin —</a:t>
            </a:r>
          </a:p>
          <a:p>
            <a:pPr algn="l">
              <a:lnSpc>
                <a:spcPct val="112000"/>
              </a:lnSpc>
              <a:spcAft>
                <a:spcPts val="400"/>
              </a:spcAft>
            </a:pPr>
            <a:r>
              <a:rPr sz="1400" b="0" i="0">
                <a:solidFill>
                  <a:srgbClr val="4D4D4D"/>
                </a:solidFill>
                <a:latin typeface="Calibri"/>
              </a:rPr>
              <a:t>bit-doğru karşılaştırma mümkün olur.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Katsayı üretimi, kuantizasyon, akümülatör</a:t>
            </a:r>
          </a:p>
          <a:p>
            <a:pPr algn="l">
              <a:lnSpc>
                <a:spcPct val="112000"/>
              </a:lnSpc>
              <a:spcAft>
                <a:spcPts val="400"/>
              </a:spcAft>
            </a:pPr>
            <a:r>
              <a:rPr sz="1400" b="0" i="0">
                <a:solidFill>
                  <a:srgbClr val="4D4D4D"/>
                </a:solidFill>
                <a:latin typeface="Calibri"/>
              </a:rPr>
              <a:t>genişliği kontrolü hep tek yerde toplanır.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Şartnameyi sağlamayan bir konfigürasyon</a:t>
            </a:r>
          </a:p>
          <a:p>
            <a:pPr algn="l">
              <a:lnSpc>
                <a:spcPct val="112000"/>
              </a:lnSpc>
              <a:spcAft>
                <a:spcPts val="400"/>
              </a:spcAft>
            </a:pPr>
            <a:r>
              <a:rPr sz="1400" b="0" i="0">
                <a:solidFill>
                  <a:srgbClr val="4D4D4D"/>
                </a:solidFill>
                <a:latin typeface="Calibri"/>
              </a:rPr>
              <a:t>test setine hiç girmez.</a:t>
            </a:r>
          </a:p>
        </p:txBody>
      </p:sp>
      <p:sp>
        <p:nvSpPr>
          <p:cNvPr id="14" name="Rounded Rectangle 13"/>
          <p:cNvSpPr/>
          <p:nvPr/>
        </p:nvSpPr>
        <p:spPr>
          <a:xfrm>
            <a:off x="5760720" y="3063240"/>
            <a:ext cx="4983480" cy="2785872"/>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61888" y="3264408"/>
            <a:ext cx="4581144" cy="384048"/>
          </a:xfrm>
          <a:prstGeom prst="rect">
            <a:avLst/>
          </a:prstGeom>
          <a:noFill/>
        </p:spPr>
        <p:txBody>
          <a:bodyPr wrap="square" lIns="0" tIns="0" rIns="0" bIns="0">
            <a:spAutoFit/>
          </a:bodyPr>
          <a:lstStyle/>
          <a:p>
            <a:pPr algn="l">
              <a:spcAft>
                <a:spcPts val="600"/>
              </a:spcAft>
            </a:pPr>
            <a:r>
              <a:rPr sz="1700" b="1" i="0">
                <a:solidFill>
                  <a:srgbClr val="FF5620"/>
                </a:solidFill>
                <a:latin typeface="Segoe UI"/>
              </a:rPr>
              <a:t>DİKKAT EDİLECEK</a:t>
            </a:r>
          </a:p>
        </p:txBody>
      </p:sp>
      <p:sp>
        <p:nvSpPr>
          <p:cNvPr id="16" name="TextBox 15"/>
          <p:cNvSpPr txBox="1"/>
          <p:nvPr/>
        </p:nvSpPr>
        <p:spPr>
          <a:xfrm>
            <a:off x="5961888" y="3648456"/>
            <a:ext cx="4581144" cy="2090928"/>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Golden model, RTL'in algoritmasını değil</a:t>
            </a:r>
          </a:p>
          <a:p>
            <a:pPr algn="l">
              <a:lnSpc>
                <a:spcPct val="112000"/>
              </a:lnSpc>
              <a:spcAft>
                <a:spcPts val="400"/>
              </a:spcAft>
            </a:pPr>
            <a:r>
              <a:rPr sz="1400" b="0" i="0">
                <a:solidFill>
                  <a:srgbClr val="4D4D4D"/>
                </a:solidFill>
                <a:latin typeface="Calibri"/>
              </a:rPr>
              <a:t>şartnamesini ifade etmeli. RTL'in artımlı</a:t>
            </a:r>
          </a:p>
          <a:p>
            <a:pPr algn="l">
              <a:lnSpc>
                <a:spcPct val="112000"/>
              </a:lnSpc>
              <a:spcAft>
                <a:spcPts val="400"/>
              </a:spcAft>
            </a:pPr>
            <a:r>
              <a:rPr sz="1400" b="0" i="0">
                <a:solidFill>
                  <a:srgbClr val="4D4D4D"/>
                </a:solidFill>
                <a:latin typeface="Calibri"/>
              </a:rPr>
              <a:t>döngüsünü Python'da tekrar yazarsan aynı</a:t>
            </a:r>
          </a:p>
          <a:p>
            <a:pPr algn="l">
              <a:lnSpc>
                <a:spcPct val="112000"/>
              </a:lnSpc>
              <a:spcAft>
                <a:spcPts val="400"/>
              </a:spcAft>
            </a:pPr>
            <a:r>
              <a:rPr sz="1400" b="0" i="0">
                <a:solidFill>
                  <a:srgbClr val="4D4D4D"/>
                </a:solidFill>
                <a:latin typeface="Calibri"/>
              </a:rPr>
              <a:t>hatayı iki kez yapmış olursun.</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Tolerans keyfi bir sayı değildir; hata</a:t>
            </a:r>
          </a:p>
          <a:p>
            <a:pPr algn="l">
              <a:lnSpc>
                <a:spcPct val="112000"/>
              </a:lnSpc>
              <a:spcAft>
                <a:spcPts val="400"/>
              </a:spcAft>
            </a:pPr>
            <a:r>
              <a:rPr sz="1400" b="0" i="0">
                <a:solidFill>
                  <a:srgbClr val="4D4D4D"/>
                </a:solidFill>
                <a:latin typeface="Calibri"/>
              </a:rPr>
              <a:t>kaynağından türetilir. Logaritmik birimde</a:t>
            </a:r>
          </a:p>
          <a:p>
            <a:pPr algn="l">
              <a:lnSpc>
                <a:spcPct val="112000"/>
              </a:lnSpc>
              <a:spcAft>
                <a:spcPts val="400"/>
              </a:spcAft>
            </a:pPr>
            <a:r>
              <a:rPr sz="1400" b="0" i="0">
                <a:solidFill>
                  <a:srgbClr val="4D4D4D"/>
                </a:solidFill>
                <a:latin typeface="Calibri"/>
              </a:rPr>
              <a:t>(dB) tolerans daima mutlaktır.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VERİFİCATİON COMPONENT'LAR</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AXI-Stream master, slave ve protokol denetçisi hazır gelir</a:t>
            </a:r>
          </a:p>
        </p:txBody>
      </p:sp>
      <p:sp>
        <p:nvSpPr>
          <p:cNvPr id="4" name="Rounded Rectangle 3"/>
          <p:cNvSpPr/>
          <p:nvPr/>
        </p:nvSpPr>
        <p:spPr>
          <a:xfrm>
            <a:off x="411480" y="1874519"/>
            <a:ext cx="6217920" cy="272669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057400"/>
            <a:ext cx="5852159" cy="2360930"/>
          </a:xfrm>
          <a:prstGeom prst="rect">
            <a:avLst/>
          </a:prstGeom>
          <a:noFill/>
        </p:spPr>
        <p:txBody>
          <a:bodyPr wrap="square" lIns="0" tIns="0" rIns="0" bIns="0">
            <a:spAutoFit/>
          </a:bodyPr>
          <a:lstStyle/>
          <a:p>
            <a:pPr algn="l">
              <a:lnSpc>
                <a:spcPct val="115000"/>
              </a:lnSpc>
              <a:spcAft>
                <a:spcPts val="0"/>
              </a:spcAft>
            </a:pPr>
            <a:r>
              <a:rPr sz="1100" i="1">
                <a:solidFill>
                  <a:srgbClr val="7A8699"/>
                </a:solidFill>
                <a:latin typeface="Consolas"/>
              </a:rPr>
              <a:t># run.py</a:t>
            </a:r>
          </a:p>
          <a:p>
            <a:pPr algn="l">
              <a:lnSpc>
                <a:spcPct val="115000"/>
              </a:lnSpc>
              <a:spcAft>
                <a:spcPts val="0"/>
              </a:spcAft>
            </a:pPr>
            <a:r>
              <a:rPr sz="1100" i="0">
                <a:solidFill>
                  <a:srgbClr val="1C273A"/>
                </a:solidFill>
                <a:latin typeface="Consolas"/>
              </a:rPr>
              <a:t>vu.add_verification_components()</a:t>
            </a:r>
          </a:p>
          <a:p>
            <a:pPr algn="l">
              <a:lnSpc>
                <a:spcPct val="115000"/>
              </a:lnSpc>
              <a:spcAft>
                <a:spcPts val="0"/>
              </a:spcAft>
            </a:pPr>
            <a:r>
              <a:rPr sz="1100" i="0">
                <a:solidFill>
                  <a:srgbClr val="1C273A"/>
                </a:solidFill>
                <a:latin typeface="Consolas"/>
              </a:rPr>
              <a:t> </a:t>
            </a:r>
          </a:p>
          <a:p>
            <a:pPr algn="l">
              <a:lnSpc>
                <a:spcPct val="115000"/>
              </a:lnSpc>
              <a:spcAft>
                <a:spcPts val="0"/>
              </a:spcAft>
            </a:pPr>
            <a:r>
              <a:rPr sz="1100" i="1">
                <a:solidFill>
                  <a:srgbClr val="7A8699"/>
                </a:solidFill>
                <a:latin typeface="Consolas"/>
              </a:rPr>
              <a:t>-- testbench</a:t>
            </a:r>
          </a:p>
          <a:p>
            <a:pPr algn="l">
              <a:lnSpc>
                <a:spcPct val="115000"/>
              </a:lnSpc>
              <a:spcAft>
                <a:spcPts val="0"/>
              </a:spcAft>
            </a:pPr>
            <a:r>
              <a:rPr sz="1100" i="0">
                <a:solidFill>
                  <a:srgbClr val="1C273A"/>
                </a:solidFill>
                <a:latin typeface="Consolas"/>
              </a:rPr>
              <a:t>constant axis_master : axi_stream_master_t :=</a:t>
            </a:r>
          </a:p>
          <a:p>
            <a:pPr algn="l">
              <a:lnSpc>
                <a:spcPct val="115000"/>
              </a:lnSpc>
              <a:spcAft>
                <a:spcPts val="0"/>
              </a:spcAft>
            </a:pPr>
            <a:r>
              <a:rPr sz="1100" i="0">
                <a:solidFill>
                  <a:srgbClr val="1C273A"/>
                </a:solidFill>
                <a:latin typeface="Consolas"/>
              </a:rPr>
              <a:t>    new_axi_stream_master(data_length =&gt; 32,</a:t>
            </a:r>
          </a:p>
          <a:p>
            <a:pPr algn="l">
              <a:lnSpc>
                <a:spcPct val="115000"/>
              </a:lnSpc>
              <a:spcAft>
                <a:spcPts val="0"/>
              </a:spcAft>
            </a:pPr>
            <a:r>
              <a:rPr sz="1100" i="0">
                <a:solidFill>
                  <a:srgbClr val="1C273A"/>
                </a:solidFill>
                <a:latin typeface="Consolas"/>
              </a:rPr>
              <a:t>                          stall_config =&gt; master_stall);</a:t>
            </a:r>
          </a:p>
          <a:p>
            <a:pPr algn="l">
              <a:lnSpc>
                <a:spcPct val="115000"/>
              </a:lnSpc>
              <a:spcAft>
                <a:spcPts val="0"/>
              </a:spcAft>
            </a:pPr>
            <a:r>
              <a:rPr sz="1100" i="0">
                <a:solidFill>
                  <a:srgbClr val="1C273A"/>
                </a:solidFill>
                <a:latin typeface="Consolas"/>
              </a:rPr>
              <a:t> </a:t>
            </a:r>
          </a:p>
          <a:p>
            <a:pPr algn="l">
              <a:lnSpc>
                <a:spcPct val="115000"/>
              </a:lnSpc>
              <a:spcAft>
                <a:spcPts val="0"/>
              </a:spcAft>
            </a:pPr>
            <a:r>
              <a:rPr sz="1100" i="1">
                <a:solidFill>
                  <a:srgbClr val="7A8699"/>
                </a:solidFill>
                <a:latin typeface="Consolas"/>
              </a:rPr>
              <a:t>-- test govdesi: zamanlama VC'nin isi</a:t>
            </a:r>
          </a:p>
          <a:p>
            <a:pPr algn="l">
              <a:lnSpc>
                <a:spcPct val="115000"/>
              </a:lnSpc>
              <a:spcAft>
                <a:spcPts val="0"/>
              </a:spcAft>
            </a:pPr>
            <a:r>
              <a:rPr sz="1100" i="0">
                <a:solidFill>
                  <a:srgbClr val="1C273A"/>
                </a:solidFill>
                <a:latin typeface="Consolas"/>
              </a:rPr>
              <a:t>push_axi_stream(net, axis_master, beat(i), tlast =&gt; '0');</a:t>
            </a:r>
          </a:p>
          <a:p>
            <a:pPr algn="l">
              <a:lnSpc>
                <a:spcPct val="115000"/>
              </a:lnSpc>
              <a:spcAft>
                <a:spcPts val="0"/>
              </a:spcAft>
            </a:pPr>
            <a:r>
              <a:rPr sz="1100" i="0">
                <a:solidFill>
                  <a:srgbClr val="1C273A"/>
                </a:solidFill>
                <a:latin typeface="Consolas"/>
              </a:rPr>
              <a:t> </a:t>
            </a:r>
          </a:p>
          <a:p>
            <a:pPr algn="l">
              <a:lnSpc>
                <a:spcPct val="115000"/>
              </a:lnSpc>
              <a:spcAft>
                <a:spcPts val="0"/>
              </a:spcAft>
            </a:pPr>
            <a:r>
              <a:rPr sz="1100" i="0">
                <a:solidFill>
                  <a:srgbClr val="1C273A"/>
                </a:solidFill>
                <a:latin typeface="Consolas"/>
              </a:rPr>
              <a:t>check_axi_stream(net, axis_slave, beat(i), tlast =&gt; '0',</a:t>
            </a:r>
          </a:p>
          <a:p>
            <a:pPr algn="l">
              <a:lnSpc>
                <a:spcPct val="115000"/>
              </a:lnSpc>
              <a:spcAft>
                <a:spcPts val="0"/>
              </a:spcAft>
            </a:pPr>
            <a:r>
              <a:rPr sz="1100" i="0">
                <a:solidFill>
                  <a:srgbClr val="1C273A"/>
                </a:solidFill>
                <a:latin typeface="Consolas"/>
              </a:rPr>
              <a:t>                 msg =&gt; "beat " &amp; integer'image(i));</a:t>
            </a:r>
          </a:p>
        </p:txBody>
      </p:sp>
      <p:sp>
        <p:nvSpPr>
          <p:cNvPr id="6" name="Rounded Rectangle 5"/>
          <p:cNvSpPr/>
          <p:nvPr/>
        </p:nvSpPr>
        <p:spPr>
          <a:xfrm>
            <a:off x="6903720" y="1874519"/>
            <a:ext cx="3840480" cy="3184144"/>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04888" y="2075688"/>
            <a:ext cx="34381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ÜÇ BİLEŞEN</a:t>
            </a:r>
          </a:p>
        </p:txBody>
      </p:sp>
      <p:sp>
        <p:nvSpPr>
          <p:cNvPr id="8" name="TextBox 7"/>
          <p:cNvSpPr txBox="1"/>
          <p:nvPr/>
        </p:nvSpPr>
        <p:spPr>
          <a:xfrm>
            <a:off x="7104888" y="2459736"/>
            <a:ext cx="3438144" cy="2489200"/>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axi_stream_master</a:t>
            </a:r>
          </a:p>
          <a:p>
            <a:pPr algn="l">
              <a:lnSpc>
                <a:spcPct val="112000"/>
              </a:lnSpc>
              <a:spcAft>
                <a:spcPts val="400"/>
              </a:spcAft>
            </a:pPr>
            <a:r>
              <a:rPr sz="1400" b="0" i="0">
                <a:solidFill>
                  <a:srgbClr val="4D4D4D"/>
                </a:solidFill>
                <a:latin typeface="Calibri"/>
              </a:rPr>
              <a:t>beat'leri kendi uydurduğu zamanlamayla sürer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axi_stream_slave</a:t>
            </a:r>
          </a:p>
          <a:p>
            <a:pPr algn="l">
              <a:lnSpc>
                <a:spcPct val="112000"/>
              </a:lnSpc>
              <a:spcAft>
                <a:spcPts val="400"/>
              </a:spcAft>
            </a:pPr>
            <a:r>
              <a:rPr sz="1400" b="0" i="0">
                <a:solidFill>
                  <a:srgbClr val="4D4D4D"/>
                </a:solidFill>
                <a:latin typeface="Calibri"/>
              </a:rPr>
              <a:t>geri basıncı kendi üretir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axi_stream_protocol_checker</a:t>
            </a:r>
          </a:p>
          <a:p>
            <a:pPr algn="l">
              <a:lnSpc>
                <a:spcPct val="112000"/>
              </a:lnSpc>
              <a:spcAft>
                <a:spcPts val="400"/>
              </a:spcAft>
            </a:pPr>
            <a:r>
              <a:rPr sz="1400" b="0" i="0">
                <a:solidFill>
                  <a:srgbClr val="4D4D4D"/>
                </a:solidFill>
                <a:latin typeface="Calibri"/>
              </a:rPr>
              <a:t>el sıkışma kurallarını her çevrimde denetler</a:t>
            </a:r>
          </a:p>
        </p:txBody>
      </p:sp>
      <p:sp>
        <p:nvSpPr>
          <p:cNvPr id="9" name="Rounded Rectangle 8"/>
          <p:cNvSpPr/>
          <p:nvPr/>
        </p:nvSpPr>
        <p:spPr>
          <a:xfrm>
            <a:off x="411480" y="4892040"/>
            <a:ext cx="10332720" cy="1051560"/>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67512" y="5047488"/>
            <a:ext cx="9784080" cy="777240"/>
          </a:xfrm>
          <a:prstGeom prst="rect">
            <a:avLst/>
          </a:prstGeom>
          <a:noFill/>
        </p:spPr>
        <p:txBody>
          <a:bodyPr wrap="square" lIns="0" tIns="0" rIns="0" bIns="0">
            <a:spAutoFit/>
          </a:bodyPr>
          <a:lstStyle/>
          <a:p>
            <a:pPr algn="l">
              <a:lnSpc>
                <a:spcPct val="115000"/>
              </a:lnSpc>
              <a:spcAft>
                <a:spcPts val="600"/>
              </a:spcAft>
            </a:pPr>
            <a:r>
              <a:rPr sz="1500" b="0" i="0">
                <a:solidFill>
                  <a:srgbClr val="4D4D4D"/>
                </a:solidFill>
                <a:latin typeface="Calibri"/>
              </a:rPr>
              <a:t>push_axi_stream bloklamaz: 64 beat anında kuyruğa girer, VC onları kendi zamanlamasıyla sürer. Bu, testin gövdesini zamanlamadan tamamen ayırır — yazdığın şey artık "ne" olduğu, "ne zaman" olduğu değil.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TEK TESTTEN BİN SENARYO</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stall_config ile aynı test gövdesi, farklı geri basınç profilleri</a:t>
            </a:r>
          </a:p>
        </p:txBody>
      </p:sp>
      <p:sp>
        <p:nvSpPr>
          <p:cNvPr id="4" name="Rounded Rectangle 3"/>
          <p:cNvSpPr/>
          <p:nvPr/>
        </p:nvSpPr>
        <p:spPr>
          <a:xfrm>
            <a:off x="411480" y="1874519"/>
            <a:ext cx="6217920" cy="2454275"/>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057400"/>
            <a:ext cx="5852159" cy="2088515"/>
          </a:xfrm>
          <a:prstGeom prst="rect">
            <a:avLst/>
          </a:prstGeom>
          <a:noFill/>
        </p:spPr>
        <p:txBody>
          <a:bodyPr wrap="square" lIns="0" tIns="0" rIns="0" bIns="0">
            <a:spAutoFit/>
          </a:bodyPr>
          <a:lstStyle/>
          <a:p>
            <a:pPr algn="l">
              <a:lnSpc>
                <a:spcPct val="115000"/>
              </a:lnSpc>
              <a:spcAft>
                <a:spcPts val="0"/>
              </a:spcAft>
            </a:pPr>
            <a:r>
              <a:rPr sz="1150" i="0">
                <a:solidFill>
                  <a:srgbClr val="1C273A"/>
                </a:solidFill>
                <a:latin typeface="Consolas"/>
              </a:rPr>
              <a:t>veri_testi = lib.test_bench(</a:t>
            </a:r>
          </a:p>
          <a:p>
            <a:pPr algn="l">
              <a:lnSpc>
                <a:spcPct val="115000"/>
              </a:lnSpc>
              <a:spcAft>
                <a:spcPts val="0"/>
              </a:spcAft>
            </a:pPr>
            <a:r>
              <a:rPr sz="1150" i="0">
                <a:solidFill>
                  <a:srgbClr val="1C273A"/>
                </a:solidFill>
                <a:latin typeface="Consolas"/>
              </a:rPr>
              <a:t>    "tb_axis_skid_buffer_vc").test("veri_butunlugu")</a:t>
            </a:r>
          </a:p>
          <a:p>
            <a:pPr algn="l">
              <a:lnSpc>
                <a:spcPct val="115000"/>
              </a:lnSpc>
              <a:spcAft>
                <a:spcPts val="0"/>
              </a:spcAft>
            </a:pPr>
            <a:r>
              <a:rPr sz="1150" i="0">
                <a:solidFill>
                  <a:srgbClr val="1C273A"/>
                </a:solidFill>
                <a:latin typeface="Consolas"/>
              </a:rPr>
              <a:t> </a:t>
            </a:r>
          </a:p>
          <a:p>
            <a:pPr algn="l">
              <a:lnSpc>
                <a:spcPct val="115000"/>
              </a:lnSpc>
              <a:spcAft>
                <a:spcPts val="0"/>
              </a:spcAft>
            </a:pPr>
            <a:r>
              <a:rPr sz="1150" i="0">
                <a:solidFill>
                  <a:srgbClr val="1C273A"/>
                </a:solidFill>
                <a:latin typeface="Consolas"/>
              </a:rPr>
              <a:t>for name, m_prob, s_prob in [</a:t>
            </a:r>
          </a:p>
          <a:p>
            <a:pPr algn="l">
              <a:lnSpc>
                <a:spcPct val="115000"/>
              </a:lnSpc>
              <a:spcAft>
                <a:spcPts val="0"/>
              </a:spcAft>
            </a:pPr>
            <a:r>
              <a:rPr sz="1150" i="0">
                <a:solidFill>
                  <a:srgbClr val="1C273A"/>
                </a:solidFill>
                <a:latin typeface="Consolas"/>
              </a:rPr>
              <a:t>        ("kesintisiz",  0.0, 0.0),</a:t>
            </a:r>
          </a:p>
          <a:p>
            <a:pPr algn="l">
              <a:lnSpc>
                <a:spcPct val="115000"/>
              </a:lnSpc>
              <a:spcAft>
                <a:spcPts val="0"/>
              </a:spcAft>
            </a:pPr>
            <a:r>
              <a:rPr sz="1150" i="0">
                <a:solidFill>
                  <a:srgbClr val="1C273A"/>
                </a:solidFill>
                <a:latin typeface="Consolas"/>
              </a:rPr>
              <a:t>        ("hafif_stall", 0.2, 0.2),</a:t>
            </a:r>
          </a:p>
          <a:p>
            <a:pPr algn="l">
              <a:lnSpc>
                <a:spcPct val="115000"/>
              </a:lnSpc>
              <a:spcAft>
                <a:spcPts val="0"/>
              </a:spcAft>
            </a:pPr>
            <a:r>
              <a:rPr sz="1150" i="0">
                <a:solidFill>
                  <a:srgbClr val="1C273A"/>
                </a:solidFill>
                <a:latin typeface="Consolas"/>
              </a:rPr>
              <a:t>        ("agir_stall",  0.6, 0.8)]:</a:t>
            </a:r>
          </a:p>
          <a:p>
            <a:pPr algn="l">
              <a:lnSpc>
                <a:spcPct val="115000"/>
              </a:lnSpc>
              <a:spcAft>
                <a:spcPts val="0"/>
              </a:spcAft>
            </a:pPr>
            <a:r>
              <a:rPr sz="1150" i="0">
                <a:solidFill>
                  <a:srgbClr val="1C273A"/>
                </a:solidFill>
                <a:latin typeface="Consolas"/>
              </a:rPr>
              <a:t>    veri_testi.add_config(</a:t>
            </a:r>
          </a:p>
          <a:p>
            <a:pPr algn="l">
              <a:lnSpc>
                <a:spcPct val="115000"/>
              </a:lnSpc>
              <a:spcAft>
                <a:spcPts val="0"/>
              </a:spcAft>
            </a:pPr>
            <a:r>
              <a:rPr sz="1150" i="0">
                <a:solidFill>
                  <a:srgbClr val="1C273A"/>
                </a:solidFill>
                <a:latin typeface="Consolas"/>
              </a:rPr>
              <a:t>        name=name,</a:t>
            </a:r>
          </a:p>
          <a:p>
            <a:pPr algn="l">
              <a:lnSpc>
                <a:spcPct val="115000"/>
              </a:lnSpc>
              <a:spcAft>
                <a:spcPts val="0"/>
              </a:spcAft>
            </a:pPr>
            <a:r>
              <a:rPr sz="1150" i="0">
                <a:solidFill>
                  <a:srgbClr val="1C273A"/>
                </a:solidFill>
                <a:latin typeface="Consolas"/>
              </a:rPr>
              <a:t>        generics={"g_master_stall_prob": m_prob,</a:t>
            </a:r>
          </a:p>
          <a:p>
            <a:pPr algn="l">
              <a:lnSpc>
                <a:spcPct val="115000"/>
              </a:lnSpc>
              <a:spcAft>
                <a:spcPts val="0"/>
              </a:spcAft>
            </a:pPr>
            <a:r>
              <a:rPr sz="1150" i="0">
                <a:solidFill>
                  <a:srgbClr val="1C273A"/>
                </a:solidFill>
                <a:latin typeface="Consolas"/>
              </a:rPr>
              <a:t>                  "g_slave_stall_prob":  s_prob})</a:t>
            </a:r>
          </a:p>
        </p:txBody>
      </p:sp>
      <p:sp>
        <p:nvSpPr>
          <p:cNvPr id="6" name="TextBox 5"/>
          <p:cNvSpPr txBox="1"/>
          <p:nvPr/>
        </p:nvSpPr>
        <p:spPr>
          <a:xfrm>
            <a:off x="7040880" y="1965960"/>
            <a:ext cx="3657600" cy="777240"/>
          </a:xfrm>
          <a:prstGeom prst="rect">
            <a:avLst/>
          </a:prstGeom>
          <a:noFill/>
        </p:spPr>
        <p:txBody>
          <a:bodyPr wrap="square" lIns="0" tIns="0" rIns="0" bIns="0">
            <a:spAutoFit/>
          </a:bodyPr>
          <a:lstStyle/>
          <a:p>
            <a:pPr algn="l">
              <a:spcAft>
                <a:spcPts val="600"/>
              </a:spcAft>
            </a:pPr>
            <a:r>
              <a:rPr sz="5400" b="1" i="0">
                <a:solidFill>
                  <a:srgbClr val="FF5620"/>
                </a:solidFill>
                <a:latin typeface="Segoe UI Black"/>
              </a:rPr>
              <a:t>3</a:t>
            </a:r>
          </a:p>
        </p:txBody>
      </p:sp>
      <p:sp>
        <p:nvSpPr>
          <p:cNvPr id="7" name="TextBox 6"/>
          <p:cNvSpPr txBox="1"/>
          <p:nvPr/>
        </p:nvSpPr>
        <p:spPr>
          <a:xfrm>
            <a:off x="7040880" y="2665476"/>
            <a:ext cx="3657600" cy="548640"/>
          </a:xfrm>
          <a:prstGeom prst="rect">
            <a:avLst/>
          </a:prstGeom>
          <a:noFill/>
        </p:spPr>
        <p:txBody>
          <a:bodyPr wrap="square" lIns="0" tIns="0" rIns="0" bIns="0">
            <a:spAutoFit/>
          </a:bodyPr>
          <a:lstStyle/>
          <a:p>
            <a:pPr algn="l">
              <a:lnSpc>
                <a:spcPct val="110000"/>
              </a:lnSpc>
              <a:spcAft>
                <a:spcPts val="600"/>
              </a:spcAft>
            </a:pPr>
            <a:r>
              <a:rPr sz="1400" b="0" i="0">
                <a:solidFill>
                  <a:srgbClr val="4D4D4D"/>
                </a:solidFill>
                <a:latin typeface="Calibri"/>
              </a:rPr>
              <a:t>satırlık liste</a:t>
            </a:r>
          </a:p>
        </p:txBody>
      </p:sp>
      <p:sp>
        <p:nvSpPr>
          <p:cNvPr id="8" name="TextBox 7"/>
          <p:cNvSpPr txBox="1"/>
          <p:nvPr/>
        </p:nvSpPr>
        <p:spPr>
          <a:xfrm>
            <a:off x="7040880" y="3246120"/>
            <a:ext cx="3657600" cy="777240"/>
          </a:xfrm>
          <a:prstGeom prst="rect">
            <a:avLst/>
          </a:prstGeom>
          <a:noFill/>
        </p:spPr>
        <p:txBody>
          <a:bodyPr wrap="square" lIns="0" tIns="0" rIns="0" bIns="0">
            <a:spAutoFit/>
          </a:bodyPr>
          <a:lstStyle/>
          <a:p>
            <a:pPr algn="l">
              <a:spcAft>
                <a:spcPts val="600"/>
              </a:spcAft>
            </a:pPr>
            <a:r>
              <a:rPr sz="5400" b="1" i="0">
                <a:solidFill>
                  <a:srgbClr val="FF5620"/>
                </a:solidFill>
                <a:latin typeface="Segoe UI Black"/>
              </a:rPr>
              <a:t>0</a:t>
            </a:r>
          </a:p>
        </p:txBody>
      </p:sp>
      <p:sp>
        <p:nvSpPr>
          <p:cNvPr id="9" name="TextBox 8"/>
          <p:cNvSpPr txBox="1"/>
          <p:nvPr/>
        </p:nvSpPr>
        <p:spPr>
          <a:xfrm>
            <a:off x="7040880" y="3945635"/>
            <a:ext cx="3657600" cy="548640"/>
          </a:xfrm>
          <a:prstGeom prst="rect">
            <a:avLst/>
          </a:prstGeom>
          <a:noFill/>
        </p:spPr>
        <p:txBody>
          <a:bodyPr wrap="square" lIns="0" tIns="0" rIns="0" bIns="0">
            <a:spAutoFit/>
          </a:bodyPr>
          <a:lstStyle/>
          <a:p>
            <a:pPr algn="l">
              <a:lnSpc>
                <a:spcPct val="110000"/>
              </a:lnSpc>
              <a:spcAft>
                <a:spcPts val="600"/>
              </a:spcAft>
            </a:pPr>
            <a:r>
              <a:rPr sz="1400" b="0" i="0">
                <a:solidFill>
                  <a:srgbClr val="4D4D4D"/>
                </a:solidFill>
                <a:latin typeface="Calibri"/>
              </a:rPr>
              <a:t>satır testbench değişikliği</a:t>
            </a:r>
          </a:p>
        </p:txBody>
      </p:sp>
      <p:sp>
        <p:nvSpPr>
          <p:cNvPr id="10" name="TextBox 9"/>
          <p:cNvSpPr txBox="1"/>
          <p:nvPr/>
        </p:nvSpPr>
        <p:spPr>
          <a:xfrm>
            <a:off x="7040880" y="4526280"/>
            <a:ext cx="3657600" cy="777240"/>
          </a:xfrm>
          <a:prstGeom prst="rect">
            <a:avLst/>
          </a:prstGeom>
          <a:noFill/>
        </p:spPr>
        <p:txBody>
          <a:bodyPr wrap="square" lIns="0" tIns="0" rIns="0" bIns="0">
            <a:spAutoFit/>
          </a:bodyPr>
          <a:lstStyle/>
          <a:p>
            <a:pPr algn="l">
              <a:spcAft>
                <a:spcPts val="600"/>
              </a:spcAft>
            </a:pPr>
            <a:r>
              <a:rPr sz="5400" b="1" i="0">
                <a:solidFill>
                  <a:srgbClr val="FF5620"/>
                </a:solidFill>
                <a:latin typeface="Segoe UI Black"/>
              </a:rPr>
              <a:t>∞</a:t>
            </a:r>
          </a:p>
        </p:txBody>
      </p:sp>
      <p:sp>
        <p:nvSpPr>
          <p:cNvPr id="11" name="TextBox 10"/>
          <p:cNvSpPr txBox="1"/>
          <p:nvPr/>
        </p:nvSpPr>
        <p:spPr>
          <a:xfrm>
            <a:off x="7040880" y="5225796"/>
            <a:ext cx="3657600" cy="548640"/>
          </a:xfrm>
          <a:prstGeom prst="rect">
            <a:avLst/>
          </a:prstGeom>
          <a:noFill/>
        </p:spPr>
        <p:txBody>
          <a:bodyPr wrap="square" lIns="0" tIns="0" rIns="0" bIns="0">
            <a:spAutoFit/>
          </a:bodyPr>
          <a:lstStyle/>
          <a:p>
            <a:pPr algn="l">
              <a:lnSpc>
                <a:spcPct val="110000"/>
              </a:lnSpc>
              <a:spcAft>
                <a:spcPts val="600"/>
              </a:spcAft>
            </a:pPr>
            <a:r>
              <a:rPr sz="1400" b="0" i="0">
                <a:solidFill>
                  <a:srgbClr val="4D4D4D"/>
                </a:solidFill>
                <a:latin typeface="Calibri"/>
              </a:rPr>
              <a:t>farklı zamanlama kombinasyonu</a:t>
            </a:r>
          </a:p>
        </p:txBody>
      </p:sp>
      <p:sp>
        <p:nvSpPr>
          <p:cNvPr id="12" name="TextBox 11"/>
          <p:cNvSpPr txBox="1"/>
          <p:nvPr/>
        </p:nvSpPr>
        <p:spPr>
          <a:xfrm>
            <a:off x="411480" y="5074920"/>
            <a:ext cx="6217920" cy="914400"/>
          </a:xfrm>
          <a:prstGeom prst="rect">
            <a:avLst/>
          </a:prstGeom>
          <a:noFill/>
        </p:spPr>
        <p:txBody>
          <a:bodyPr wrap="square" lIns="0" tIns="0" rIns="0" bIns="0">
            <a:spAutoFit/>
          </a:bodyPr>
          <a:lstStyle/>
          <a:p>
            <a:pPr algn="l">
              <a:lnSpc>
                <a:spcPct val="115000"/>
              </a:lnSpc>
              <a:spcAft>
                <a:spcPts val="600"/>
              </a:spcAft>
            </a:pPr>
            <a:r>
              <a:rPr sz="1450" b="0" i="0">
                <a:solidFill>
                  <a:srgbClr val="4D4D4D"/>
                </a:solidFill>
                <a:latin typeface="Calibri"/>
              </a:rPr>
              <a:t>stall_config elaborasyon zamanında VC'ye gömülür — çalışma zamanında değiştirilemez. Testten teste değişmesi gerekiyorsa generic ve add_config yolundan geçmek zorunda.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DALGA FORMU ENTEGRASYONU</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Yalnızca düşen testlerin dalgasını aç</a:t>
            </a:r>
          </a:p>
        </p:txBody>
      </p:sp>
      <p:sp>
        <p:nvSpPr>
          <p:cNvPr id="4" name="Rounded Rectangle 3"/>
          <p:cNvSpPr/>
          <p:nvPr/>
        </p:nvSpPr>
        <p:spPr>
          <a:xfrm>
            <a:off x="411480" y="1874519"/>
            <a:ext cx="6217920" cy="399796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057400"/>
            <a:ext cx="5852159" cy="3632200"/>
          </a:xfrm>
          <a:prstGeom prst="rect">
            <a:avLst/>
          </a:prstGeom>
          <a:noFill/>
        </p:spPr>
        <p:txBody>
          <a:bodyPr wrap="square" lIns="0" tIns="0" rIns="0" bIns="0">
            <a:spAutoFit/>
          </a:bodyPr>
          <a:lstStyle/>
          <a:p>
            <a:pPr algn="l">
              <a:lnSpc>
                <a:spcPct val="115000"/>
              </a:lnSpc>
              <a:spcAft>
                <a:spcPts val="0"/>
              </a:spcAft>
            </a:pPr>
            <a:r>
              <a:rPr sz="1100" i="0">
                <a:solidFill>
                  <a:srgbClr val="1C273A"/>
                </a:solidFill>
                <a:latin typeface="Consolas"/>
              </a:rPr>
              <a:t>cli = VUnitCLI()</a:t>
            </a:r>
          </a:p>
          <a:p>
            <a:pPr algn="l">
              <a:lnSpc>
                <a:spcPct val="115000"/>
              </a:lnSpc>
              <a:spcAft>
                <a:spcPts val="0"/>
              </a:spcAft>
            </a:pPr>
            <a:r>
              <a:rPr sz="1100" i="0">
                <a:solidFill>
                  <a:srgbClr val="1C273A"/>
                </a:solidFill>
                <a:latin typeface="Consolas"/>
              </a:rPr>
              <a:t>cli.parser.add_argument("--surfer", action="store_true")</a:t>
            </a:r>
          </a:p>
          <a:p>
            <a:pPr algn="l">
              <a:lnSpc>
                <a:spcPct val="115000"/>
              </a:lnSpc>
              <a:spcAft>
                <a:spcPts val="0"/>
              </a:spcAft>
            </a:pPr>
            <a:r>
              <a:rPr sz="1100" i="0">
                <a:solidFill>
                  <a:srgbClr val="1C273A"/>
                </a:solidFill>
                <a:latin typeface="Consolas"/>
              </a:rPr>
              <a:t>args = cli.parse_args()</a:t>
            </a:r>
          </a:p>
          <a:p>
            <a:pPr algn="l">
              <a:lnSpc>
                <a:spcPct val="115000"/>
              </a:lnSpc>
              <a:spcAft>
                <a:spcPts val="0"/>
              </a:spcAft>
            </a:pPr>
            <a:r>
              <a:rPr sz="1100" i="0">
                <a:solidFill>
                  <a:srgbClr val="1C273A"/>
                </a:solidFill>
                <a:latin typeface="Consolas"/>
              </a:rPr>
              <a:t>vu = VUnit.from_args(args)</a:t>
            </a:r>
          </a:p>
          <a:p>
            <a:pPr algn="l">
              <a:lnSpc>
                <a:spcPct val="115000"/>
              </a:lnSpc>
              <a:spcAft>
                <a:spcPts val="0"/>
              </a:spcAft>
            </a:pPr>
            <a:r>
              <a:rPr sz="1100" i="0">
                <a:solidFill>
                  <a:srgbClr val="1C273A"/>
                </a:solidFill>
                <a:latin typeface="Consolas"/>
              </a:rPr>
              <a:t> </a:t>
            </a:r>
          </a:p>
          <a:p>
            <a:pPr algn="l">
              <a:lnSpc>
                <a:spcPct val="115000"/>
              </a:lnSpc>
              <a:spcAft>
                <a:spcPts val="0"/>
              </a:spcAft>
            </a:pPr>
            <a:r>
              <a:rPr sz="1100" i="0">
                <a:solidFill>
                  <a:srgbClr val="1C273A"/>
                </a:solidFill>
                <a:latin typeface="Consolas"/>
              </a:rPr>
              <a:t>for test in tb.get_tests():</a:t>
            </a:r>
          </a:p>
          <a:p>
            <a:pPr algn="l">
              <a:lnSpc>
                <a:spcPct val="115000"/>
              </a:lnSpc>
              <a:spcAft>
                <a:spcPts val="0"/>
              </a:spcAft>
            </a:pPr>
            <a:r>
              <a:rPr sz="1100" i="0">
                <a:solidFill>
                  <a:srgbClr val="1C273A"/>
                </a:solidFill>
                <a:latin typeface="Consolas"/>
              </a:rPr>
              <a:t>    test.set_sim_option("nvc.sim_flags",</a:t>
            </a:r>
          </a:p>
          <a:p>
            <a:pPr algn="l">
              <a:lnSpc>
                <a:spcPct val="115000"/>
              </a:lnSpc>
              <a:spcAft>
                <a:spcPts val="0"/>
              </a:spcAft>
            </a:pPr>
            <a:r>
              <a:rPr sz="1100" i="0">
                <a:solidFill>
                  <a:srgbClr val="1C273A"/>
                </a:solidFill>
                <a:latin typeface="Consolas"/>
              </a:rPr>
              <a:t>                        [f"--wave={test.name}.fst"])</a:t>
            </a:r>
          </a:p>
          <a:p>
            <a:pPr algn="l">
              <a:lnSpc>
                <a:spcPct val="115000"/>
              </a:lnSpc>
              <a:spcAft>
                <a:spcPts val="0"/>
              </a:spcAft>
            </a:pPr>
            <a:r>
              <a:rPr sz="1100" i="0">
                <a:solidFill>
                  <a:srgbClr val="1C273A"/>
                </a:solidFill>
                <a:latin typeface="Consolas"/>
              </a:rPr>
              <a:t> </a:t>
            </a:r>
          </a:p>
          <a:p>
            <a:pPr algn="l">
              <a:lnSpc>
                <a:spcPct val="115000"/>
              </a:lnSpc>
              <a:spcAft>
                <a:spcPts val="0"/>
              </a:spcAft>
            </a:pPr>
            <a:r>
              <a:rPr sz="1100" i="0">
                <a:solidFill>
                  <a:srgbClr val="1C273A"/>
                </a:solidFill>
                <a:latin typeface="Consolas"/>
              </a:rPr>
              <a:t>def open_waves(results):</a:t>
            </a:r>
          </a:p>
          <a:p>
            <a:pPr algn="l">
              <a:lnSpc>
                <a:spcPct val="115000"/>
              </a:lnSpc>
              <a:spcAft>
                <a:spcPts val="0"/>
              </a:spcAft>
            </a:pPr>
            <a:r>
              <a:rPr sz="1100" i="0">
                <a:solidFill>
                  <a:srgbClr val="1C273A"/>
                </a:solidFill>
                <a:latin typeface="Consolas"/>
              </a:rPr>
              <a:t>    if not args.surfer:</a:t>
            </a:r>
          </a:p>
          <a:p>
            <a:pPr algn="l">
              <a:lnSpc>
                <a:spcPct val="115000"/>
              </a:lnSpc>
              <a:spcAft>
                <a:spcPts val="0"/>
              </a:spcAft>
            </a:pPr>
            <a:r>
              <a:rPr sz="1100" i="0">
                <a:solidFill>
                  <a:srgbClr val="1C273A"/>
                </a:solidFill>
                <a:latin typeface="Consolas"/>
              </a:rPr>
              <a:t>        return</a:t>
            </a:r>
          </a:p>
          <a:p>
            <a:pPr algn="l">
              <a:lnSpc>
                <a:spcPct val="115000"/>
              </a:lnSpc>
              <a:spcAft>
                <a:spcPts val="0"/>
              </a:spcAft>
            </a:pPr>
            <a:r>
              <a:rPr sz="1100" i="0">
                <a:solidFill>
                  <a:srgbClr val="1C273A"/>
                </a:solidFill>
                <a:latin typeface="Consolas"/>
              </a:rPr>
              <a:t>    for name, r in results.get_report().tests.items():</a:t>
            </a:r>
          </a:p>
          <a:p>
            <a:pPr algn="l">
              <a:lnSpc>
                <a:spcPct val="115000"/>
              </a:lnSpc>
              <a:spcAft>
                <a:spcPts val="0"/>
              </a:spcAft>
            </a:pPr>
            <a:r>
              <a:rPr sz="1100" i="0">
                <a:solidFill>
                  <a:srgbClr val="1C273A"/>
                </a:solidFill>
                <a:latin typeface="Consolas"/>
              </a:rPr>
              <a:t>        if r.status == "passed":</a:t>
            </a:r>
          </a:p>
          <a:p>
            <a:pPr algn="l">
              <a:lnSpc>
                <a:spcPct val="115000"/>
              </a:lnSpc>
              <a:spcAft>
                <a:spcPts val="0"/>
              </a:spcAft>
            </a:pPr>
            <a:r>
              <a:rPr sz="1100" i="0">
                <a:solidFill>
                  <a:srgbClr val="1C273A"/>
                </a:solidFill>
                <a:latin typeface="Consolas"/>
              </a:rPr>
              <a:t>            continue</a:t>
            </a:r>
          </a:p>
          <a:p>
            <a:pPr algn="l">
              <a:lnSpc>
                <a:spcPct val="115000"/>
              </a:lnSpc>
              <a:spcAft>
                <a:spcPts val="0"/>
              </a:spcAft>
            </a:pPr>
            <a:r>
              <a:rPr sz="1100" i="0">
                <a:solidFill>
                  <a:srgbClr val="1C273A"/>
                </a:solidFill>
                <a:latin typeface="Consolas"/>
              </a:rPr>
              <a:t>        wave = ROOT / f"{name.split('.')[-1]}.fst"</a:t>
            </a:r>
          </a:p>
          <a:p>
            <a:pPr algn="l">
              <a:lnSpc>
                <a:spcPct val="115000"/>
              </a:lnSpc>
              <a:spcAft>
                <a:spcPts val="0"/>
              </a:spcAft>
            </a:pPr>
            <a:r>
              <a:rPr sz="1100" i="0">
                <a:solidFill>
                  <a:srgbClr val="1C273A"/>
                </a:solidFill>
                <a:latin typeface="Consolas"/>
              </a:rPr>
              <a:t>        if wave.exists():</a:t>
            </a:r>
          </a:p>
          <a:p>
            <a:pPr algn="l">
              <a:lnSpc>
                <a:spcPct val="115000"/>
              </a:lnSpc>
              <a:spcAft>
                <a:spcPts val="0"/>
              </a:spcAft>
            </a:pPr>
            <a:r>
              <a:rPr sz="1100" i="0">
                <a:solidFill>
                  <a:srgbClr val="1C273A"/>
                </a:solidFill>
                <a:latin typeface="Consolas"/>
              </a:rPr>
              <a:t>            subprocess.Popen(["surfer", str(wave)])</a:t>
            </a:r>
          </a:p>
          <a:p>
            <a:pPr algn="l">
              <a:lnSpc>
                <a:spcPct val="115000"/>
              </a:lnSpc>
              <a:spcAft>
                <a:spcPts val="0"/>
              </a:spcAft>
            </a:pPr>
            <a:r>
              <a:rPr sz="1100" i="0">
                <a:solidFill>
                  <a:srgbClr val="1C273A"/>
                </a:solidFill>
                <a:latin typeface="Consolas"/>
              </a:rPr>
              <a:t> </a:t>
            </a:r>
          </a:p>
          <a:p>
            <a:pPr algn="l">
              <a:lnSpc>
                <a:spcPct val="115000"/>
              </a:lnSpc>
              <a:spcAft>
                <a:spcPts val="0"/>
              </a:spcAft>
            </a:pPr>
            <a:r>
              <a:rPr sz="1100" i="0">
                <a:solidFill>
                  <a:srgbClr val="1C273A"/>
                </a:solidFill>
                <a:latin typeface="Consolas"/>
              </a:rPr>
              <a:t>vu.main(post_run=open_waves)</a:t>
            </a:r>
          </a:p>
        </p:txBody>
      </p:sp>
      <p:sp>
        <p:nvSpPr>
          <p:cNvPr id="6" name="Rounded Rectangle 5"/>
          <p:cNvSpPr/>
          <p:nvPr/>
        </p:nvSpPr>
        <p:spPr>
          <a:xfrm>
            <a:off x="6903720" y="1874519"/>
            <a:ext cx="3840480" cy="2883408"/>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04888" y="2075688"/>
            <a:ext cx="34381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NE KAZANDIRIR</a:t>
            </a:r>
          </a:p>
        </p:txBody>
      </p:sp>
      <p:sp>
        <p:nvSpPr>
          <p:cNvPr id="8" name="TextBox 7"/>
          <p:cNvSpPr txBox="1"/>
          <p:nvPr/>
        </p:nvSpPr>
        <p:spPr>
          <a:xfrm>
            <a:off x="7104888" y="2459736"/>
            <a:ext cx="3438144" cy="2188464"/>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Assertion mesajı testin düştüğünü söyler.</a:t>
            </a:r>
          </a:p>
          <a:p>
            <a:pPr algn="l">
              <a:lnSpc>
                <a:spcPct val="112000"/>
              </a:lnSpc>
              <a:spcAft>
                <a:spcPts val="400"/>
              </a:spcAft>
            </a:pPr>
            <a:r>
              <a:rPr sz="1400" b="0" i="0">
                <a:solidFill>
                  <a:srgbClr val="4D4D4D"/>
                </a:solidFill>
                <a:latin typeface="Calibri"/>
              </a:rPr>
              <a:t>ready sinyalinin hangi çevrimde düştüğünü</a:t>
            </a:r>
          </a:p>
          <a:p>
            <a:pPr algn="l">
              <a:lnSpc>
                <a:spcPct val="112000"/>
              </a:lnSpc>
              <a:spcAft>
                <a:spcPts val="400"/>
              </a:spcAft>
            </a:pPr>
            <a:r>
              <a:rPr sz="1400" b="0" i="0">
                <a:solidFill>
                  <a:srgbClr val="4D4D4D"/>
                </a:solidFill>
                <a:latin typeface="Calibri"/>
              </a:rPr>
              <a:t>ancak dalgada görürsün.</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Bu kanca ikisini birleştirir: sonuç metinde,</a:t>
            </a:r>
          </a:p>
          <a:p>
            <a:pPr algn="l">
              <a:lnSpc>
                <a:spcPct val="112000"/>
              </a:lnSpc>
              <a:spcAft>
                <a:spcPts val="400"/>
              </a:spcAft>
            </a:pPr>
            <a:r>
              <a:rPr sz="1400" b="0" i="0">
                <a:solidFill>
                  <a:srgbClr val="4D4D4D"/>
                </a:solidFill>
                <a:latin typeface="Calibri"/>
              </a:rPr>
              <a:t>kanıt ekranda.</a:t>
            </a:r>
          </a:p>
        </p:txBody>
      </p:sp>
      <p:sp>
        <p:nvSpPr>
          <p:cNvPr id="9" name="Rounded Rectangle 8"/>
          <p:cNvSpPr/>
          <p:nvPr/>
        </p:nvSpPr>
        <p:spPr>
          <a:xfrm>
            <a:off x="6903720" y="4389120"/>
            <a:ext cx="3840480" cy="2133600"/>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104888" y="4590288"/>
            <a:ext cx="3438144" cy="384048"/>
          </a:xfrm>
          <a:prstGeom prst="rect">
            <a:avLst/>
          </a:prstGeom>
          <a:noFill/>
        </p:spPr>
        <p:txBody>
          <a:bodyPr wrap="square" lIns="0" tIns="0" rIns="0" bIns="0">
            <a:spAutoFit/>
          </a:bodyPr>
          <a:lstStyle/>
          <a:p>
            <a:pPr algn="l">
              <a:spcAft>
                <a:spcPts val="600"/>
              </a:spcAft>
            </a:pPr>
            <a:r>
              <a:rPr sz="1700" b="1" i="0">
                <a:solidFill>
                  <a:srgbClr val="FF5620"/>
                </a:solidFill>
                <a:latin typeface="Segoe UI"/>
              </a:rPr>
              <a:t>TUZAK</a:t>
            </a:r>
          </a:p>
        </p:txBody>
      </p:sp>
      <p:sp>
        <p:nvSpPr>
          <p:cNvPr id="11" name="TextBox 10"/>
          <p:cNvSpPr txBox="1"/>
          <p:nvPr/>
        </p:nvSpPr>
        <p:spPr>
          <a:xfrm>
            <a:off x="7104888" y="4974336"/>
            <a:ext cx="3438144" cy="1438656"/>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Göreli --wave yolu test çıktı dizinine değil,</a:t>
            </a:r>
          </a:p>
          <a:p>
            <a:pPr algn="l">
              <a:lnSpc>
                <a:spcPct val="112000"/>
              </a:lnSpc>
              <a:spcAft>
                <a:spcPts val="400"/>
              </a:spcAft>
            </a:pPr>
            <a:r>
              <a:rPr sz="1400" b="0" i="0">
                <a:solidFill>
                  <a:srgbClr val="4D4D4D"/>
                </a:solidFill>
                <a:latin typeface="Calibri"/>
              </a:rPr>
              <a:t>çalışma dizinine yazar. Beş test koşarsan</a:t>
            </a:r>
          </a:p>
          <a:p>
            <a:pPr algn="l">
              <a:lnSpc>
                <a:spcPct val="112000"/>
              </a:lnSpc>
              <a:spcAft>
                <a:spcPts val="400"/>
              </a:spcAft>
            </a:pPr>
            <a:r>
              <a:rPr sz="1400" b="0" i="0">
                <a:solidFill>
                  <a:srgbClr val="4D4D4D"/>
                </a:solidFill>
                <a:latin typeface="Calibri"/>
              </a:rPr>
              <a:t>tek dosya oluşur — hepsi birbirini ezer.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SÜREKLİ ENTEGRASYON</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Regresyonun asıl değeri burada ortaya çıkıyor</a:t>
            </a:r>
          </a:p>
        </p:txBody>
      </p:sp>
      <p:sp>
        <p:nvSpPr>
          <p:cNvPr id="4" name="Rounded Rectangle 3"/>
          <p:cNvSpPr/>
          <p:nvPr/>
        </p:nvSpPr>
        <p:spPr>
          <a:xfrm>
            <a:off x="411480" y="1874519"/>
            <a:ext cx="6217920" cy="290830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057400"/>
            <a:ext cx="5852159" cy="2542540"/>
          </a:xfrm>
          <a:prstGeom prst="rect">
            <a:avLst/>
          </a:prstGeom>
          <a:noFill/>
        </p:spPr>
        <p:txBody>
          <a:bodyPr wrap="square" lIns="0" tIns="0" rIns="0" bIns="0">
            <a:spAutoFit/>
          </a:bodyPr>
          <a:lstStyle/>
          <a:p>
            <a:pPr algn="l">
              <a:lnSpc>
                <a:spcPct val="115000"/>
              </a:lnSpc>
              <a:spcAft>
                <a:spcPts val="0"/>
              </a:spcAft>
            </a:pPr>
            <a:r>
              <a:rPr sz="1100" i="0">
                <a:solidFill>
                  <a:srgbClr val="1C273A"/>
                </a:solidFill>
                <a:latin typeface="Consolas"/>
              </a:rPr>
              <a:t>name: hdl-regression</a:t>
            </a:r>
          </a:p>
          <a:p>
            <a:pPr algn="l">
              <a:lnSpc>
                <a:spcPct val="115000"/>
              </a:lnSpc>
              <a:spcAft>
                <a:spcPts val="0"/>
              </a:spcAft>
            </a:pPr>
            <a:r>
              <a:rPr sz="1100" i="0">
                <a:solidFill>
                  <a:srgbClr val="1C273A"/>
                </a:solidFill>
                <a:latin typeface="Consolas"/>
              </a:rPr>
              <a:t>on: [push, pull_request]</a:t>
            </a:r>
          </a:p>
          <a:p>
            <a:pPr algn="l">
              <a:lnSpc>
                <a:spcPct val="115000"/>
              </a:lnSpc>
              <a:spcAft>
                <a:spcPts val="0"/>
              </a:spcAft>
            </a:pPr>
            <a:r>
              <a:rPr sz="1100" i="0">
                <a:solidFill>
                  <a:srgbClr val="1C273A"/>
                </a:solidFill>
                <a:latin typeface="Consolas"/>
              </a:rPr>
              <a:t> </a:t>
            </a:r>
          </a:p>
          <a:p>
            <a:pPr algn="l">
              <a:lnSpc>
                <a:spcPct val="115000"/>
              </a:lnSpc>
              <a:spcAft>
                <a:spcPts val="0"/>
              </a:spcAft>
            </a:pPr>
            <a:r>
              <a:rPr sz="1100" i="0">
                <a:solidFill>
                  <a:srgbClr val="1C273A"/>
                </a:solidFill>
                <a:latin typeface="Consolas"/>
              </a:rPr>
              <a:t>jobs:</a:t>
            </a:r>
          </a:p>
          <a:p>
            <a:pPr algn="l">
              <a:lnSpc>
                <a:spcPct val="115000"/>
              </a:lnSpc>
              <a:spcAft>
                <a:spcPts val="0"/>
              </a:spcAft>
            </a:pPr>
            <a:r>
              <a:rPr sz="1100" i="0">
                <a:solidFill>
                  <a:srgbClr val="1C273A"/>
                </a:solidFill>
                <a:latin typeface="Consolas"/>
              </a:rPr>
              <a:t>  simulate:</a:t>
            </a:r>
          </a:p>
          <a:p>
            <a:pPr algn="l">
              <a:lnSpc>
                <a:spcPct val="115000"/>
              </a:lnSpc>
              <a:spcAft>
                <a:spcPts val="0"/>
              </a:spcAft>
            </a:pPr>
            <a:r>
              <a:rPr sz="1100" i="0">
                <a:solidFill>
                  <a:srgbClr val="1C273A"/>
                </a:solidFill>
                <a:latin typeface="Consolas"/>
              </a:rPr>
              <a:t>    runs-on: ubuntu-latest</a:t>
            </a:r>
          </a:p>
          <a:p>
            <a:pPr algn="l">
              <a:lnSpc>
                <a:spcPct val="115000"/>
              </a:lnSpc>
              <a:spcAft>
                <a:spcPts val="0"/>
              </a:spcAft>
            </a:pPr>
            <a:r>
              <a:rPr sz="1100" i="0">
                <a:solidFill>
                  <a:srgbClr val="1C273A"/>
                </a:solidFill>
                <a:latin typeface="Consolas"/>
              </a:rPr>
              <a:t>    steps:</a:t>
            </a:r>
          </a:p>
          <a:p>
            <a:pPr algn="l">
              <a:lnSpc>
                <a:spcPct val="115000"/>
              </a:lnSpc>
              <a:spcAft>
                <a:spcPts val="0"/>
              </a:spcAft>
            </a:pPr>
            <a:r>
              <a:rPr sz="1100" i="0">
                <a:solidFill>
                  <a:srgbClr val="1C273A"/>
                </a:solidFill>
                <a:latin typeface="Consolas"/>
              </a:rPr>
              <a:t>      - uses: actions/checkout@v4</a:t>
            </a:r>
          </a:p>
          <a:p>
            <a:pPr algn="l">
              <a:lnSpc>
                <a:spcPct val="115000"/>
              </a:lnSpc>
              <a:spcAft>
                <a:spcPts val="0"/>
              </a:spcAft>
            </a:pPr>
            <a:r>
              <a:rPr sz="1100" i="0">
                <a:solidFill>
                  <a:srgbClr val="1C273A"/>
                </a:solidFill>
                <a:latin typeface="Consolas"/>
              </a:rPr>
              <a:t>      - name: Simulatoru kur</a:t>
            </a:r>
          </a:p>
          <a:p>
            <a:pPr algn="l">
              <a:lnSpc>
                <a:spcPct val="115000"/>
              </a:lnSpc>
              <a:spcAft>
                <a:spcPts val="0"/>
              </a:spcAft>
            </a:pPr>
            <a:r>
              <a:rPr sz="1100" i="0">
                <a:solidFill>
                  <a:srgbClr val="1C273A"/>
                </a:solidFill>
                <a:latin typeface="Consolas"/>
              </a:rPr>
              <a:t>        run: sudo apt-get install -y ghdl</a:t>
            </a:r>
          </a:p>
          <a:p>
            <a:pPr algn="l">
              <a:lnSpc>
                <a:spcPct val="115000"/>
              </a:lnSpc>
              <a:spcAft>
                <a:spcPts val="0"/>
              </a:spcAft>
            </a:pPr>
            <a:r>
              <a:rPr sz="1100" i="0">
                <a:solidFill>
                  <a:srgbClr val="1C273A"/>
                </a:solidFill>
                <a:latin typeface="Consolas"/>
              </a:rPr>
              <a:t>      - name: Vektorleri uret</a:t>
            </a:r>
          </a:p>
          <a:p>
            <a:pPr algn="l">
              <a:lnSpc>
                <a:spcPct val="115000"/>
              </a:lnSpc>
              <a:spcAft>
                <a:spcPts val="0"/>
              </a:spcAft>
            </a:pPr>
            <a:r>
              <a:rPr sz="1100" i="0">
                <a:solidFill>
                  <a:srgbClr val="1C273A"/>
                </a:solidFill>
                <a:latin typeface="Consolas"/>
              </a:rPr>
              <a:t>        run: python generate_vectors.py</a:t>
            </a:r>
          </a:p>
          <a:p>
            <a:pPr algn="l">
              <a:lnSpc>
                <a:spcPct val="115000"/>
              </a:lnSpc>
              <a:spcAft>
                <a:spcPts val="0"/>
              </a:spcAft>
            </a:pPr>
            <a:r>
              <a:rPr sz="1100" i="0">
                <a:solidFill>
                  <a:srgbClr val="1C273A"/>
                </a:solidFill>
                <a:latin typeface="Consolas"/>
              </a:rPr>
              <a:t>      - name: Regresyon</a:t>
            </a:r>
          </a:p>
          <a:p>
            <a:pPr algn="l">
              <a:lnSpc>
                <a:spcPct val="115000"/>
              </a:lnSpc>
              <a:spcAft>
                <a:spcPts val="0"/>
              </a:spcAft>
            </a:pPr>
            <a:r>
              <a:rPr sz="1100" i="0">
                <a:solidFill>
                  <a:srgbClr val="1C273A"/>
                </a:solidFill>
                <a:latin typeface="Consolas"/>
              </a:rPr>
              <a:t>        run: python run.py --xunit-xml results.xml</a:t>
            </a:r>
          </a:p>
        </p:txBody>
      </p:sp>
      <p:sp>
        <p:nvSpPr>
          <p:cNvPr id="6" name="Rounded Rectangle 5"/>
          <p:cNvSpPr/>
          <p:nvPr/>
        </p:nvSpPr>
        <p:spPr>
          <a:xfrm>
            <a:off x="6903720" y="1874519"/>
            <a:ext cx="3840480" cy="3633216"/>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04888" y="2075688"/>
            <a:ext cx="34381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BU NE DEMEK</a:t>
            </a:r>
          </a:p>
        </p:txBody>
      </p:sp>
      <p:sp>
        <p:nvSpPr>
          <p:cNvPr id="8" name="TextBox 7"/>
          <p:cNvSpPr txBox="1"/>
          <p:nvPr/>
        </p:nvSpPr>
        <p:spPr>
          <a:xfrm>
            <a:off x="7104888" y="2459736"/>
            <a:ext cx="3438144" cy="2938272"/>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Her push'ta bütün testler koşar.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Kimse "ben koşmayı unuttum" diyemez.</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Bozan commit dakikalar içinde belli olur —</a:t>
            </a:r>
          </a:p>
          <a:p>
            <a:pPr algn="l">
              <a:lnSpc>
                <a:spcPct val="112000"/>
              </a:lnSpc>
              <a:spcAft>
                <a:spcPts val="400"/>
              </a:spcAft>
            </a:pPr>
            <a:r>
              <a:rPr sz="1400" b="0" i="0">
                <a:solidFill>
                  <a:srgbClr val="4D4D4D"/>
                </a:solidFill>
                <a:latin typeface="Calibri"/>
              </a:rPr>
              <a:t>üç hafta sonra değil.</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Sonuç exit code olarak döner; pull request</a:t>
            </a:r>
          </a:p>
          <a:p>
            <a:pPr algn="l">
              <a:lnSpc>
                <a:spcPct val="112000"/>
              </a:lnSpc>
              <a:spcAft>
                <a:spcPts val="400"/>
              </a:spcAft>
            </a:pPr>
            <a:r>
              <a:rPr sz="1400" b="0" i="0">
                <a:solidFill>
                  <a:srgbClr val="4D4D4D"/>
                </a:solidFill>
                <a:latin typeface="Calibri"/>
              </a:rPr>
              <a:t>yeşil değilse birleştirilemez.</a:t>
            </a:r>
          </a:p>
        </p:txBody>
      </p:sp>
      <p:sp>
        <p:nvSpPr>
          <p:cNvPr id="9" name="TextBox 8"/>
          <p:cNvSpPr txBox="1"/>
          <p:nvPr/>
        </p:nvSpPr>
        <p:spPr>
          <a:xfrm>
            <a:off x="411480" y="5457443"/>
            <a:ext cx="10332720" cy="868680"/>
          </a:xfrm>
          <a:prstGeom prst="rect">
            <a:avLst/>
          </a:prstGeom>
          <a:noFill/>
        </p:spPr>
        <p:txBody>
          <a:bodyPr wrap="square" lIns="0" tIns="0" rIns="0" bIns="0">
            <a:spAutoFit/>
          </a:bodyPr>
          <a:lstStyle/>
          <a:p>
            <a:pPr algn="l">
              <a:lnSpc>
                <a:spcPct val="115000"/>
              </a:lnSpc>
              <a:spcAft>
                <a:spcPts val="600"/>
              </a:spcAft>
            </a:pPr>
            <a:r>
              <a:rPr sz="1500" b="0" i="0" dirty="0" err="1">
                <a:solidFill>
                  <a:srgbClr val="4D4D4D"/>
                </a:solidFill>
                <a:latin typeface="Calibri"/>
              </a:rPr>
              <a:t>Açık</a:t>
            </a:r>
            <a:r>
              <a:rPr sz="1500" b="0" i="0" dirty="0">
                <a:solidFill>
                  <a:srgbClr val="4D4D4D"/>
                </a:solidFill>
                <a:latin typeface="Calibri"/>
              </a:rPr>
              <a:t> </a:t>
            </a:r>
            <a:r>
              <a:rPr sz="1500" b="0" i="0" dirty="0" err="1">
                <a:solidFill>
                  <a:srgbClr val="4D4D4D"/>
                </a:solidFill>
                <a:latin typeface="Calibri"/>
              </a:rPr>
              <a:t>kaynak</a:t>
            </a:r>
            <a:r>
              <a:rPr sz="1500" b="0" i="0" dirty="0">
                <a:solidFill>
                  <a:srgbClr val="4D4D4D"/>
                </a:solidFill>
                <a:latin typeface="Calibri"/>
              </a:rPr>
              <a:t> </a:t>
            </a:r>
            <a:r>
              <a:rPr sz="1500" b="0" i="0" dirty="0" err="1">
                <a:solidFill>
                  <a:srgbClr val="4D4D4D"/>
                </a:solidFill>
                <a:latin typeface="Calibri"/>
              </a:rPr>
              <a:t>simülatörle</a:t>
            </a:r>
            <a:r>
              <a:rPr sz="1500" b="0" i="0" dirty="0">
                <a:solidFill>
                  <a:srgbClr val="4D4D4D"/>
                </a:solidFill>
                <a:latin typeface="Calibri"/>
              </a:rPr>
              <a:t> </a:t>
            </a:r>
            <a:r>
              <a:rPr sz="1500" b="0" i="0" dirty="0" err="1">
                <a:solidFill>
                  <a:srgbClr val="4D4D4D"/>
                </a:solidFill>
                <a:latin typeface="Calibri"/>
              </a:rPr>
              <a:t>koştuğu</a:t>
            </a:r>
            <a:r>
              <a:rPr sz="1500" b="0" i="0" dirty="0">
                <a:solidFill>
                  <a:srgbClr val="4D4D4D"/>
                </a:solidFill>
                <a:latin typeface="Calibri"/>
              </a:rPr>
              <a:t> </a:t>
            </a:r>
            <a:r>
              <a:rPr sz="1500" b="0" i="0" dirty="0" err="1">
                <a:solidFill>
                  <a:srgbClr val="4D4D4D"/>
                </a:solidFill>
                <a:latin typeface="Calibri"/>
              </a:rPr>
              <a:t>için</a:t>
            </a:r>
            <a:r>
              <a:rPr sz="1500" b="0" i="0" dirty="0">
                <a:solidFill>
                  <a:srgbClr val="4D4D4D"/>
                </a:solidFill>
                <a:latin typeface="Calibri"/>
              </a:rPr>
              <a:t> </a:t>
            </a:r>
            <a:r>
              <a:rPr sz="1500" b="0" i="0" dirty="0" err="1">
                <a:solidFill>
                  <a:srgbClr val="4D4D4D"/>
                </a:solidFill>
                <a:latin typeface="Calibri"/>
              </a:rPr>
              <a:t>CI'da</a:t>
            </a:r>
            <a:r>
              <a:rPr sz="1500" b="0" i="0" dirty="0">
                <a:solidFill>
                  <a:srgbClr val="4D4D4D"/>
                </a:solidFill>
                <a:latin typeface="Calibri"/>
              </a:rPr>
              <a:t> </a:t>
            </a:r>
            <a:r>
              <a:rPr sz="1500" b="0" i="0" dirty="0" err="1">
                <a:solidFill>
                  <a:srgbClr val="4D4D4D"/>
                </a:solidFill>
                <a:latin typeface="Calibri"/>
              </a:rPr>
              <a:t>lisans</a:t>
            </a:r>
            <a:r>
              <a:rPr sz="1500" b="0" i="0" dirty="0">
                <a:solidFill>
                  <a:srgbClr val="4D4D4D"/>
                </a:solidFill>
                <a:latin typeface="Calibri"/>
              </a:rPr>
              <a:t> </a:t>
            </a:r>
            <a:r>
              <a:rPr sz="1500" b="0" i="0" dirty="0" err="1">
                <a:solidFill>
                  <a:srgbClr val="4D4D4D"/>
                </a:solidFill>
                <a:latin typeface="Calibri"/>
              </a:rPr>
              <a:t>sunucusu</a:t>
            </a:r>
            <a:r>
              <a:rPr sz="1500" b="0" i="0" dirty="0">
                <a:solidFill>
                  <a:srgbClr val="4D4D4D"/>
                </a:solidFill>
                <a:latin typeface="Calibri"/>
              </a:rPr>
              <a:t>, </a:t>
            </a:r>
            <a:r>
              <a:rPr sz="1500" b="0" i="0" dirty="0" err="1">
                <a:solidFill>
                  <a:srgbClr val="4D4D4D"/>
                </a:solidFill>
                <a:latin typeface="Calibri"/>
              </a:rPr>
              <a:t>oturum</a:t>
            </a:r>
            <a:r>
              <a:rPr sz="1500" b="0" i="0" dirty="0">
                <a:solidFill>
                  <a:srgbClr val="4D4D4D"/>
                </a:solidFill>
                <a:latin typeface="Calibri"/>
              </a:rPr>
              <a:t> </a:t>
            </a:r>
            <a:r>
              <a:rPr sz="1500" b="0" i="0" dirty="0" err="1">
                <a:solidFill>
                  <a:srgbClr val="4D4D4D"/>
                </a:solidFill>
                <a:latin typeface="Calibri"/>
              </a:rPr>
              <a:t>kuyruğu</a:t>
            </a:r>
            <a:r>
              <a:rPr sz="1500" b="0" i="0" dirty="0">
                <a:solidFill>
                  <a:srgbClr val="4D4D4D"/>
                </a:solidFill>
                <a:latin typeface="Calibri"/>
              </a:rPr>
              <a:t> </a:t>
            </a:r>
            <a:r>
              <a:rPr sz="1500" b="0" i="0" dirty="0" err="1">
                <a:solidFill>
                  <a:srgbClr val="4D4D4D"/>
                </a:solidFill>
                <a:latin typeface="Calibri"/>
              </a:rPr>
              <a:t>veya</a:t>
            </a:r>
            <a:r>
              <a:rPr sz="1500" b="0" i="0" dirty="0">
                <a:solidFill>
                  <a:srgbClr val="4D4D4D"/>
                </a:solidFill>
                <a:latin typeface="Calibri"/>
              </a:rPr>
              <a:t> </a:t>
            </a:r>
            <a:r>
              <a:rPr sz="1500" b="0" i="0" dirty="0" err="1">
                <a:solidFill>
                  <a:srgbClr val="4D4D4D"/>
                </a:solidFill>
                <a:latin typeface="Calibri"/>
              </a:rPr>
              <a:t>ek</a:t>
            </a:r>
            <a:r>
              <a:rPr sz="1500" b="0" i="0" dirty="0">
                <a:solidFill>
                  <a:srgbClr val="4D4D4D"/>
                </a:solidFill>
                <a:latin typeface="Calibri"/>
              </a:rPr>
              <a:t> </a:t>
            </a:r>
            <a:r>
              <a:rPr sz="1500" b="0" i="0" dirty="0" err="1">
                <a:solidFill>
                  <a:srgbClr val="4D4D4D"/>
                </a:solidFill>
                <a:latin typeface="Calibri"/>
              </a:rPr>
              <a:t>maliyet</a:t>
            </a:r>
            <a:r>
              <a:rPr sz="1500" b="0" i="0" dirty="0">
                <a:solidFill>
                  <a:srgbClr val="4D4D4D"/>
                </a:solidFill>
                <a:latin typeface="Calibri"/>
              </a:rPr>
              <a:t> yok. </a:t>
            </a:r>
            <a:r>
              <a:rPr sz="1500" b="0" i="0" dirty="0" err="1">
                <a:solidFill>
                  <a:srgbClr val="4D4D4D"/>
                </a:solidFill>
                <a:latin typeface="Calibri"/>
              </a:rPr>
              <a:t>Regresyonun</a:t>
            </a:r>
            <a:r>
              <a:rPr sz="1500" b="0" i="0" dirty="0">
                <a:solidFill>
                  <a:srgbClr val="4D4D4D"/>
                </a:solidFill>
                <a:latin typeface="Calibri"/>
              </a:rPr>
              <a:t> her </a:t>
            </a:r>
            <a:r>
              <a:rPr sz="1500" b="0" i="0" dirty="0" err="1">
                <a:solidFill>
                  <a:srgbClr val="4D4D4D"/>
                </a:solidFill>
                <a:latin typeface="Calibri"/>
              </a:rPr>
              <a:t>push'ta</a:t>
            </a:r>
            <a:r>
              <a:rPr sz="1500" b="0" i="0" dirty="0">
                <a:solidFill>
                  <a:srgbClr val="4D4D4D"/>
                </a:solidFill>
                <a:latin typeface="Calibri"/>
              </a:rPr>
              <a:t> </a:t>
            </a:r>
            <a:r>
              <a:rPr sz="1500" b="0" i="0" dirty="0" err="1">
                <a:solidFill>
                  <a:srgbClr val="4D4D4D"/>
                </a:solidFill>
                <a:latin typeface="Calibri"/>
              </a:rPr>
              <a:t>koşabilmesinin</a:t>
            </a:r>
            <a:r>
              <a:rPr sz="1500" b="0" i="0" dirty="0">
                <a:solidFill>
                  <a:srgbClr val="4D4D4D"/>
                </a:solidFill>
                <a:latin typeface="Calibri"/>
              </a:rPr>
              <a:t> </a:t>
            </a:r>
            <a:r>
              <a:rPr sz="1500" b="0" i="0" dirty="0" err="1">
                <a:solidFill>
                  <a:srgbClr val="4D4D4D"/>
                </a:solidFill>
                <a:latin typeface="Calibri"/>
              </a:rPr>
              <a:t>asıl</a:t>
            </a:r>
            <a:r>
              <a:rPr sz="1500" b="0" i="0" dirty="0">
                <a:solidFill>
                  <a:srgbClr val="4D4D4D"/>
                </a:solidFill>
                <a:latin typeface="Calibri"/>
              </a:rPr>
              <a:t> </a:t>
            </a:r>
            <a:r>
              <a:rPr sz="1500" b="0" i="0" dirty="0" err="1">
                <a:solidFill>
                  <a:srgbClr val="4D4D4D"/>
                </a:solidFill>
                <a:latin typeface="Calibri"/>
              </a:rPr>
              <a:t>sebebi</a:t>
            </a:r>
            <a:r>
              <a:rPr sz="1500" b="0" i="0" dirty="0">
                <a:solidFill>
                  <a:srgbClr val="4D4D4D"/>
                </a:solidFill>
                <a:latin typeface="Calibri"/>
              </a:rPr>
              <a:t> bu.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217920"/>
          </a:xfrm>
          <a:prstGeom prst="rect">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2240280"/>
            <a:ext cx="2011680" cy="1280160"/>
          </a:xfrm>
          <a:prstGeom prst="rect">
            <a:avLst/>
          </a:prstGeom>
          <a:noFill/>
        </p:spPr>
        <p:txBody>
          <a:bodyPr wrap="square" lIns="0" tIns="0" rIns="0" bIns="0">
            <a:spAutoFit/>
          </a:bodyPr>
          <a:lstStyle/>
          <a:p>
            <a:pPr algn="l">
              <a:spcAft>
                <a:spcPts val="600"/>
              </a:spcAft>
            </a:pPr>
            <a:r>
              <a:rPr sz="8400" b="1" i="0">
                <a:solidFill>
                  <a:srgbClr val="FF5620"/>
                </a:solidFill>
                <a:latin typeface="Segoe UI Black"/>
              </a:rPr>
              <a:t>03</a:t>
            </a:r>
          </a:p>
        </p:txBody>
      </p:sp>
      <p:sp>
        <p:nvSpPr>
          <p:cNvPr id="4" name="TextBox 3"/>
          <p:cNvSpPr txBox="1"/>
          <p:nvPr/>
        </p:nvSpPr>
        <p:spPr>
          <a:xfrm>
            <a:off x="1188720" y="3520440"/>
            <a:ext cx="9326880" cy="868680"/>
          </a:xfrm>
          <a:prstGeom prst="rect">
            <a:avLst/>
          </a:prstGeom>
          <a:noFill/>
        </p:spPr>
        <p:txBody>
          <a:bodyPr wrap="square" lIns="0" tIns="0" rIns="0" bIns="0">
            <a:spAutoFit/>
          </a:bodyPr>
          <a:lstStyle/>
          <a:p>
            <a:pPr algn="l">
              <a:spcAft>
                <a:spcPts val="600"/>
              </a:spcAft>
            </a:pPr>
            <a:r>
              <a:rPr sz="3600" b="1" i="0">
                <a:solidFill>
                  <a:srgbClr val="FFFFFF"/>
                </a:solidFill>
                <a:latin typeface="Segoe UI Black"/>
              </a:rPr>
              <a:t>NEREDE KULLANMALIYIZ?</a:t>
            </a:r>
          </a:p>
        </p:txBody>
      </p:sp>
      <p:sp>
        <p:nvSpPr>
          <p:cNvPr id="5" name="TextBox 4"/>
          <p:cNvSpPr txBox="1"/>
          <p:nvPr/>
        </p:nvSpPr>
        <p:spPr>
          <a:xfrm>
            <a:off x="1234440" y="4434840"/>
            <a:ext cx="8778240" cy="822960"/>
          </a:xfrm>
          <a:prstGeom prst="rect">
            <a:avLst/>
          </a:prstGeom>
          <a:noFill/>
        </p:spPr>
        <p:txBody>
          <a:bodyPr wrap="square" lIns="0" tIns="0" rIns="0" bIns="0">
            <a:spAutoFit/>
          </a:bodyPr>
          <a:lstStyle/>
          <a:p>
            <a:pPr algn="l">
              <a:spcAft>
                <a:spcPts val="600"/>
              </a:spcAft>
            </a:pPr>
            <a:r>
              <a:rPr sz="1800" b="0" i="0">
                <a:solidFill>
                  <a:srgbClr val="C5D3EC"/>
                </a:solidFill>
                <a:latin typeface="Calibri"/>
              </a:rPr>
              <a:t>Her yerde değil. Getirinin yüksek olduğu yerde.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GETİRİ NEREDE YÜKSEK?</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Karar, modülün ömrü ve arayüzünün karmaşıklığıyla ilgili</a:t>
            </a:r>
          </a:p>
        </p:txBody>
      </p:sp>
      <p:sp>
        <p:nvSpPr>
          <p:cNvPr id="4" name="Rounded Rectangle 3"/>
          <p:cNvSpPr/>
          <p:nvPr/>
        </p:nvSpPr>
        <p:spPr>
          <a:xfrm>
            <a:off x="411480" y="1920240"/>
            <a:ext cx="4983480" cy="4031488"/>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2121408"/>
            <a:ext cx="45811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YÜKSEK GETİRİ</a:t>
            </a:r>
          </a:p>
        </p:txBody>
      </p:sp>
      <p:sp>
        <p:nvSpPr>
          <p:cNvPr id="6" name="TextBox 5"/>
          <p:cNvSpPr txBox="1"/>
          <p:nvPr/>
        </p:nvSpPr>
        <p:spPr>
          <a:xfrm>
            <a:off x="612648" y="2505456"/>
            <a:ext cx="4581144" cy="3336544"/>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Yeniden kullanılan IP — bir kez yazılır, on projede koşar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Protokol arayüzleri — AXI-Stream, AXI-Lite, kendi el sıkışman</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Matematiksel bloklar — FIR, CORDIC, karıştırıcı, kanal kodlayıcı</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Konfigüre edilebilir modüller — generic uzayı testle taranmalı</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Uzun ömürlü modüller — altı ay sonra da değişecek olanlar</a:t>
            </a:r>
          </a:p>
        </p:txBody>
      </p:sp>
      <p:sp>
        <p:nvSpPr>
          <p:cNvPr id="7" name="Rounded Rectangle 6"/>
          <p:cNvSpPr/>
          <p:nvPr/>
        </p:nvSpPr>
        <p:spPr>
          <a:xfrm>
            <a:off x="5760720" y="1920240"/>
            <a:ext cx="4983480" cy="343408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961888" y="2121408"/>
            <a:ext cx="4581144" cy="384048"/>
          </a:xfrm>
          <a:prstGeom prst="rect">
            <a:avLst/>
          </a:prstGeom>
          <a:noFill/>
        </p:spPr>
        <p:txBody>
          <a:bodyPr wrap="square" lIns="0" tIns="0" rIns="0" bIns="0">
            <a:spAutoFit/>
          </a:bodyPr>
          <a:lstStyle/>
          <a:p>
            <a:pPr algn="l">
              <a:spcAft>
                <a:spcPts val="600"/>
              </a:spcAft>
            </a:pPr>
            <a:r>
              <a:rPr sz="1700" b="1" i="0">
                <a:solidFill>
                  <a:srgbClr val="4D4D4D"/>
                </a:solidFill>
                <a:latin typeface="Segoe UI"/>
              </a:rPr>
              <a:t>DÜŞÜK GETİRİ</a:t>
            </a:r>
          </a:p>
        </p:txBody>
      </p:sp>
      <p:sp>
        <p:nvSpPr>
          <p:cNvPr id="9" name="TextBox 8"/>
          <p:cNvSpPr txBox="1"/>
          <p:nvPr/>
        </p:nvSpPr>
        <p:spPr>
          <a:xfrm>
            <a:off x="5961888" y="2505456"/>
            <a:ext cx="4581144" cy="2739136"/>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Tek seferlik bring-up / smoke testleri</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Saf bağlantı katmanı — yalnızca sinyal yönlendiren üst seviye</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Gate-level ve zamanlama sonrası simülasyon</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Şifreli vendor IP'nin kendisi — davranışını zaten sen yazmadın</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Bir daha asla açılmayacak deneme kodu</a:t>
            </a:r>
          </a:p>
        </p:txBody>
      </p:sp>
      <p:sp>
        <p:nvSpPr>
          <p:cNvPr id="10" name="TextBox 9"/>
          <p:cNvSpPr txBox="1"/>
          <p:nvPr/>
        </p:nvSpPr>
        <p:spPr>
          <a:xfrm>
            <a:off x="411480" y="6116319"/>
            <a:ext cx="10332720" cy="457200"/>
          </a:xfrm>
          <a:prstGeom prst="rect">
            <a:avLst/>
          </a:prstGeom>
          <a:noFill/>
        </p:spPr>
        <p:txBody>
          <a:bodyPr wrap="square" lIns="0" tIns="0" rIns="0" bIns="0">
            <a:spAutoFit/>
          </a:bodyPr>
          <a:lstStyle/>
          <a:p>
            <a:pPr algn="l">
              <a:spcAft>
                <a:spcPts val="600"/>
              </a:spcAft>
            </a:pPr>
            <a:r>
              <a:rPr sz="1600" b="1" i="0">
                <a:solidFill>
                  <a:srgbClr val="FF5620"/>
                </a:solidFill>
                <a:latin typeface="Segoe UI Semibold"/>
              </a:rPr>
              <a:t>Ölçüt: modül bir kereden fazla değişecekse test kendini amorti eder.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İŞBÖLÜMÜ: YAPI ELLE, HACİM VC İLE</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İki testbench'in ikisi de yerinde duruyor — biri diğerinin yerine geçmez</a:t>
            </a:r>
          </a:p>
        </p:txBody>
      </p:sp>
      <p:graphicFrame>
        <p:nvGraphicFramePr>
          <p:cNvPr id="4" name="Table 3"/>
          <p:cNvGraphicFramePr>
            <a:graphicFrameLocks noGrp="1"/>
          </p:cNvGraphicFramePr>
          <p:nvPr/>
        </p:nvGraphicFramePr>
        <p:xfrm>
          <a:off x="411480" y="1965960"/>
          <a:ext cx="10332719" cy="2121408"/>
        </p:xfrm>
        <a:graphic>
          <a:graphicData uri="http://schemas.openxmlformats.org/drawingml/2006/table">
            <a:tbl>
              <a:tblPr firstRow="1" bandRow="1">
                <a:tableStyleId>{5C22544A-7EE6-4342-B048-85BDC9FD1C3A}</a:tableStyleId>
              </a:tblPr>
              <a:tblGrid>
                <a:gridCol w="1859889">
                  <a:extLst>
                    <a:ext uri="{9D8B030D-6E8A-4147-A177-3AD203B41FA5}">
                      <a16:colId xmlns:a16="http://schemas.microsoft.com/office/drawing/2014/main" val="20000"/>
                    </a:ext>
                  </a:extLst>
                </a:gridCol>
                <a:gridCol w="4236415">
                  <a:extLst>
                    <a:ext uri="{9D8B030D-6E8A-4147-A177-3AD203B41FA5}">
                      <a16:colId xmlns:a16="http://schemas.microsoft.com/office/drawing/2014/main" val="20001"/>
                    </a:ext>
                  </a:extLst>
                </a:gridCol>
                <a:gridCol w="4236415">
                  <a:extLst>
                    <a:ext uri="{9D8B030D-6E8A-4147-A177-3AD203B41FA5}">
                      <a16:colId xmlns:a16="http://schemas.microsoft.com/office/drawing/2014/main" val="20002"/>
                    </a:ext>
                  </a:extLst>
                </a:gridCol>
              </a:tblGrid>
              <a:tr h="365760">
                <a:tc>
                  <a:txBody>
                    <a:bodyPr/>
                    <a:lstStyle/>
                    <a:p>
                      <a:pPr algn="l">
                        <a:spcAft>
                          <a:spcPts val="0"/>
                        </a:spcAft>
                      </a:pPr>
                      <a:endParaRPr/>
                    </a:p>
                  </a:txBody>
                  <a:tcPr marR="73152" marT="27432" marB="27432" anchor="ctr">
                    <a:solidFill>
                      <a:srgbClr val="002D7A"/>
                    </a:solidFill>
                  </a:tcPr>
                </a:tc>
                <a:tc>
                  <a:txBody>
                    <a:bodyPr/>
                    <a:lstStyle/>
                    <a:p>
                      <a:pPr algn="l">
                        <a:spcAft>
                          <a:spcPts val="0"/>
                        </a:spcAft>
                      </a:pPr>
                      <a:r>
                        <a:rPr sz="1400" b="1" i="0">
                          <a:solidFill>
                            <a:srgbClr val="FFFFFF"/>
                          </a:solidFill>
                          <a:latin typeface="Segoe UI Semibold"/>
                        </a:rPr>
                        <a:t>Elle yazılan testbench</a:t>
                      </a:r>
                    </a:p>
                  </a:txBody>
                  <a:tcPr marR="73152" marT="27432" marB="27432" anchor="ctr">
                    <a:solidFill>
                      <a:srgbClr val="002D7A"/>
                    </a:solidFill>
                  </a:tcPr>
                </a:tc>
                <a:tc>
                  <a:txBody>
                    <a:bodyPr/>
                    <a:lstStyle/>
                    <a:p>
                      <a:pPr algn="l">
                        <a:spcAft>
                          <a:spcPts val="0"/>
                        </a:spcAft>
                      </a:pPr>
                      <a:r>
                        <a:rPr sz="1400" b="1" i="0">
                          <a:solidFill>
                            <a:srgbClr val="FFFFFF"/>
                          </a:solidFill>
                          <a:latin typeface="Segoe UI Semibold"/>
                        </a:rPr>
                        <a:t>VC'li testbench</a:t>
                      </a:r>
                    </a:p>
                  </a:txBody>
                  <a:tcPr marR="73152" marT="27432" marB="27432" anchor="ctr">
                    <a:solidFill>
                      <a:srgbClr val="002D7A"/>
                    </a:solidFill>
                  </a:tcPr>
                </a:tc>
                <a:extLst>
                  <a:ext uri="{0D108BD9-81ED-4DB2-BD59-A6C34878D82A}">
                    <a16:rowId xmlns:a16="http://schemas.microsoft.com/office/drawing/2014/main" val="10000"/>
                  </a:ext>
                </a:extLst>
              </a:tr>
              <a:tr h="438912">
                <a:tc>
                  <a:txBody>
                    <a:bodyPr/>
                    <a:lstStyle/>
                    <a:p>
                      <a:pPr algn="l">
                        <a:spcAft>
                          <a:spcPts val="0"/>
                        </a:spcAft>
                      </a:pPr>
                      <a:r>
                        <a:rPr sz="1400" b="0" i="0">
                          <a:solidFill>
                            <a:srgbClr val="4D4D4D"/>
                          </a:solidFill>
                          <a:latin typeface="Calibri"/>
                        </a:rPr>
                        <a:t>Ne doğrular</a:t>
                      </a:r>
                    </a:p>
                  </a:txBody>
                  <a:tcPr marR="73152" marT="27432" marB="27432" anchor="ctr">
                    <a:solidFill>
                      <a:srgbClr val="FFFFFF"/>
                    </a:solidFill>
                  </a:tcPr>
                </a:tc>
                <a:tc>
                  <a:txBody>
                    <a:bodyPr/>
                    <a:lstStyle/>
                    <a:p>
                      <a:pPr algn="l">
                        <a:spcAft>
                          <a:spcPts val="0"/>
                        </a:spcAft>
                      </a:pPr>
                      <a:r>
                        <a:rPr sz="1400" b="0" i="0">
                          <a:solidFill>
                            <a:srgbClr val="4D4D4D"/>
                          </a:solidFill>
                          <a:latin typeface="Calibri"/>
                        </a:rPr>
                        <a:t>Çevrim seviyesi yapı</a:t>
                      </a:r>
                    </a:p>
                  </a:txBody>
                  <a:tcPr marR="73152" marT="27432" marB="27432" anchor="ctr">
                    <a:solidFill>
                      <a:srgbClr val="FFFFFF"/>
                    </a:solidFill>
                  </a:tcPr>
                </a:tc>
                <a:tc>
                  <a:txBody>
                    <a:bodyPr/>
                    <a:lstStyle/>
                    <a:p>
                      <a:pPr algn="l">
                        <a:spcAft>
                          <a:spcPts val="0"/>
                        </a:spcAft>
                      </a:pPr>
                      <a:r>
                        <a:rPr sz="1400" b="0" i="0">
                          <a:solidFill>
                            <a:srgbClr val="4D4D4D"/>
                          </a:solidFill>
                          <a:latin typeface="Calibri"/>
                        </a:rPr>
                        <a:t>Veri bütünlüğü ve protokol</a:t>
                      </a:r>
                    </a:p>
                  </a:txBody>
                  <a:tcPr marR="73152" marT="27432" marB="27432" anchor="ctr">
                    <a:solidFill>
                      <a:srgbClr val="FFFFFF"/>
                    </a:solidFill>
                  </a:tcPr>
                </a:tc>
                <a:extLst>
                  <a:ext uri="{0D108BD9-81ED-4DB2-BD59-A6C34878D82A}">
                    <a16:rowId xmlns:a16="http://schemas.microsoft.com/office/drawing/2014/main" val="10001"/>
                  </a:ext>
                </a:extLst>
              </a:tr>
              <a:tr h="438912">
                <a:tc>
                  <a:txBody>
                    <a:bodyPr/>
                    <a:lstStyle/>
                    <a:p>
                      <a:pPr algn="l">
                        <a:spcAft>
                          <a:spcPts val="0"/>
                        </a:spcAft>
                      </a:pPr>
                      <a:r>
                        <a:rPr sz="1400" b="0" i="0">
                          <a:solidFill>
                            <a:srgbClr val="4D4D4D"/>
                          </a:solidFill>
                          <a:latin typeface="Calibri"/>
                        </a:rPr>
                        <a:t>Örnek test</a:t>
                      </a:r>
                    </a:p>
                  </a:txBody>
                  <a:tcPr marR="73152" marT="27432" marB="27432" anchor="ctr">
                    <a:solidFill>
                      <a:srgbClr val="F1F4F9"/>
                    </a:solidFill>
                  </a:tcPr>
                </a:tc>
                <a:tc>
                  <a:txBody>
                    <a:bodyPr/>
                    <a:lstStyle/>
                    <a:p>
                      <a:pPr algn="l">
                        <a:spcAft>
                          <a:spcPts val="0"/>
                        </a:spcAft>
                      </a:pPr>
                      <a:r>
                        <a:rPr sz="1400" b="0" i="0">
                          <a:solidFill>
                            <a:srgbClr val="4D4D4D"/>
                          </a:solidFill>
                          <a:latin typeface="Calibri"/>
                        </a:rPr>
                        <a:t>her_iki_kayit_doluyken_sira_korunur</a:t>
                      </a:r>
                    </a:p>
                  </a:txBody>
                  <a:tcPr marR="73152" marT="27432" marB="27432" anchor="ctr">
                    <a:solidFill>
                      <a:srgbClr val="F1F4F9"/>
                    </a:solidFill>
                  </a:tcPr>
                </a:tc>
                <a:tc>
                  <a:txBody>
                    <a:bodyPr/>
                    <a:lstStyle/>
                    <a:p>
                      <a:pPr algn="l">
                        <a:spcAft>
                          <a:spcPts val="0"/>
                        </a:spcAft>
                      </a:pPr>
                      <a:r>
                        <a:rPr sz="1400" b="0" i="0">
                          <a:solidFill>
                            <a:srgbClr val="4D4D4D"/>
                          </a:solidFill>
                          <a:latin typeface="Calibri"/>
                        </a:rPr>
                        <a:t>veri_butunlugu × 3 konfigürasyon</a:t>
                      </a:r>
                    </a:p>
                  </a:txBody>
                  <a:tcPr marR="73152" marT="27432" marB="27432" anchor="ctr">
                    <a:solidFill>
                      <a:srgbClr val="F1F4F9"/>
                    </a:solidFill>
                  </a:tcPr>
                </a:tc>
                <a:extLst>
                  <a:ext uri="{0D108BD9-81ED-4DB2-BD59-A6C34878D82A}">
                    <a16:rowId xmlns:a16="http://schemas.microsoft.com/office/drawing/2014/main" val="10002"/>
                  </a:ext>
                </a:extLst>
              </a:tr>
              <a:tr h="438912">
                <a:tc>
                  <a:txBody>
                    <a:bodyPr/>
                    <a:lstStyle/>
                    <a:p>
                      <a:pPr algn="l">
                        <a:spcAft>
                          <a:spcPts val="0"/>
                        </a:spcAft>
                      </a:pPr>
                      <a:r>
                        <a:rPr sz="1400" b="0" i="0">
                          <a:solidFill>
                            <a:srgbClr val="4D4D4D"/>
                          </a:solidFill>
                          <a:latin typeface="Calibri"/>
                        </a:rPr>
                        <a:t>Güçlü yanı</a:t>
                      </a:r>
                    </a:p>
                  </a:txBody>
                  <a:tcPr marR="73152" marT="27432" marB="27432" anchor="ctr">
                    <a:solidFill>
                      <a:srgbClr val="FFFFFF"/>
                    </a:solidFill>
                  </a:tcPr>
                </a:tc>
                <a:tc>
                  <a:txBody>
                    <a:bodyPr/>
                    <a:lstStyle/>
                    <a:p>
                      <a:pPr algn="l">
                        <a:spcAft>
                          <a:spcPts val="0"/>
                        </a:spcAft>
                      </a:pPr>
                      <a:r>
                        <a:rPr sz="1400" b="0" i="0">
                          <a:solidFill>
                            <a:srgbClr val="4D4D4D"/>
                          </a:solidFill>
                          <a:latin typeface="Calibri"/>
                        </a:rPr>
                        <a:t>Hatanın yerini söyler</a:t>
                      </a:r>
                    </a:p>
                  </a:txBody>
                  <a:tcPr marR="73152" marT="27432" marB="27432" anchor="ctr">
                    <a:solidFill>
                      <a:srgbClr val="FFFFFF"/>
                    </a:solidFill>
                  </a:tcPr>
                </a:tc>
                <a:tc>
                  <a:txBody>
                    <a:bodyPr/>
                    <a:lstStyle/>
                    <a:p>
                      <a:pPr algn="l">
                        <a:spcAft>
                          <a:spcPts val="0"/>
                        </a:spcAft>
                      </a:pPr>
                      <a:r>
                        <a:rPr sz="1400" b="0" i="0">
                          <a:solidFill>
                            <a:srgbClr val="4D4D4D"/>
                          </a:solidFill>
                          <a:latin typeface="Calibri"/>
                        </a:rPr>
                        <a:t>Binlerce zamanlama senaryosu bedava</a:t>
                      </a:r>
                    </a:p>
                  </a:txBody>
                  <a:tcPr marR="73152" marT="27432" marB="27432" anchor="ctr">
                    <a:solidFill>
                      <a:srgbClr val="FFFFFF"/>
                    </a:solidFill>
                  </a:tcPr>
                </a:tc>
                <a:extLst>
                  <a:ext uri="{0D108BD9-81ED-4DB2-BD59-A6C34878D82A}">
                    <a16:rowId xmlns:a16="http://schemas.microsoft.com/office/drawing/2014/main" val="10003"/>
                  </a:ext>
                </a:extLst>
              </a:tr>
              <a:tr h="438912">
                <a:tc>
                  <a:txBody>
                    <a:bodyPr/>
                    <a:lstStyle/>
                    <a:p>
                      <a:pPr algn="l">
                        <a:spcAft>
                          <a:spcPts val="0"/>
                        </a:spcAft>
                      </a:pPr>
                      <a:r>
                        <a:rPr sz="1400" b="0" i="0">
                          <a:solidFill>
                            <a:srgbClr val="4D4D4D"/>
                          </a:solidFill>
                          <a:latin typeface="Calibri"/>
                        </a:rPr>
                        <a:t>Yapamadığı</a:t>
                      </a:r>
                    </a:p>
                  </a:txBody>
                  <a:tcPr marR="73152" marT="27432" marB="27432" anchor="ctr">
                    <a:solidFill>
                      <a:srgbClr val="F1F4F9"/>
                    </a:solidFill>
                  </a:tcPr>
                </a:tc>
                <a:tc>
                  <a:txBody>
                    <a:bodyPr/>
                    <a:lstStyle/>
                    <a:p>
                      <a:pPr algn="l">
                        <a:spcAft>
                          <a:spcPts val="0"/>
                        </a:spcAft>
                      </a:pPr>
                      <a:r>
                        <a:rPr sz="1400" b="0" i="0">
                          <a:solidFill>
                            <a:srgbClr val="4D4D4D"/>
                          </a:solidFill>
                          <a:latin typeface="Calibri"/>
                        </a:rPr>
                        <a:t>Hacim üretemez</a:t>
                      </a:r>
                    </a:p>
                  </a:txBody>
                  <a:tcPr marR="73152" marT="27432" marB="27432" anchor="ctr">
                    <a:solidFill>
                      <a:srgbClr val="F1F4F9"/>
                    </a:solidFill>
                  </a:tcPr>
                </a:tc>
                <a:tc>
                  <a:txBody>
                    <a:bodyPr/>
                    <a:lstStyle/>
                    <a:p>
                      <a:pPr algn="l">
                        <a:spcAft>
                          <a:spcPts val="0"/>
                        </a:spcAft>
                      </a:pPr>
                      <a:r>
                        <a:rPr sz="1400" b="0" i="0">
                          <a:solidFill>
                            <a:srgbClr val="4D4D4D"/>
                          </a:solidFill>
                          <a:latin typeface="Calibri"/>
                        </a:rPr>
                        <a:t>"Skid tam bu çevrimde dolar" diyemez</a:t>
                      </a:r>
                    </a:p>
                  </a:txBody>
                  <a:tcPr marR="73152" marT="27432" marB="27432" anchor="ctr">
                    <a:solidFill>
                      <a:srgbClr val="F1F4F9"/>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411480" y="4617720"/>
            <a:ext cx="10332720" cy="1325880"/>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67512" y="4800600"/>
            <a:ext cx="9784080" cy="365760"/>
          </a:xfrm>
          <a:prstGeom prst="rect">
            <a:avLst/>
          </a:prstGeom>
          <a:noFill/>
        </p:spPr>
        <p:txBody>
          <a:bodyPr wrap="square" lIns="0" tIns="0" rIns="0" bIns="0">
            <a:spAutoFit/>
          </a:bodyPr>
          <a:lstStyle/>
          <a:p>
            <a:pPr algn="l">
              <a:spcAft>
                <a:spcPts val="600"/>
              </a:spcAft>
            </a:pPr>
            <a:r>
              <a:rPr sz="1700" b="1" i="0">
                <a:solidFill>
                  <a:srgbClr val="FF5620"/>
                </a:solidFill>
                <a:latin typeface="Segoe UI Semibold"/>
              </a:rPr>
              <a:t>VC zamanlamayı kendi uydurur — bu bir kısıt, kusur değil</a:t>
            </a:r>
          </a:p>
        </p:txBody>
      </p:sp>
      <p:sp>
        <p:nvSpPr>
          <p:cNvPr id="7" name="TextBox 6"/>
          <p:cNvSpPr txBox="1"/>
          <p:nvPr/>
        </p:nvSpPr>
        <p:spPr>
          <a:xfrm>
            <a:off x="667512" y="5193792"/>
            <a:ext cx="9784080" cy="685800"/>
          </a:xfrm>
          <a:prstGeom prst="rect">
            <a:avLst/>
          </a:prstGeom>
          <a:noFill/>
        </p:spPr>
        <p:txBody>
          <a:bodyPr wrap="square" lIns="0" tIns="0" rIns="0" bIns="0">
            <a:spAutoFit/>
          </a:bodyPr>
          <a:lstStyle/>
          <a:p>
            <a:pPr algn="l">
              <a:lnSpc>
                <a:spcPct val="115000"/>
              </a:lnSpc>
              <a:spcAft>
                <a:spcPts val="600"/>
              </a:spcAft>
            </a:pPr>
            <a:r>
              <a:rPr sz="1500" b="0" i="0">
                <a:solidFill>
                  <a:srgbClr val="4D4D4D"/>
                </a:solidFill>
                <a:latin typeface="Calibri"/>
              </a:rPr>
              <a:t>Bu yüzden çevrim sayan iddialar VC ile ifade edilemez. VC'li testbench'te tam hız ancak dolaylı ölçülür: 64 beat'in geçen süresine bakılır. Bu, %50'lik bir kayıp yakalar ama tek çevrimlik bir boşluğu yakalamaz.</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"HEPSİ YEŞİL" TEK BAŞINA BİLGİ DEĞİL</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Mutasyon kontrolü: her testin hangi hata sınıfını yakaladığını bir kez kanıtla</a:t>
            </a:r>
          </a:p>
        </p:txBody>
      </p:sp>
      <p:graphicFrame>
        <p:nvGraphicFramePr>
          <p:cNvPr id="4" name="Table 3"/>
          <p:cNvGraphicFramePr>
            <a:graphicFrameLocks noGrp="1"/>
          </p:cNvGraphicFramePr>
          <p:nvPr/>
        </p:nvGraphicFramePr>
        <p:xfrm>
          <a:off x="411480" y="1965960"/>
          <a:ext cx="10332719" cy="1737360"/>
        </p:xfrm>
        <a:graphic>
          <a:graphicData uri="http://schemas.openxmlformats.org/drawingml/2006/table">
            <a:tbl>
              <a:tblPr firstRow="1" bandRow="1">
                <a:tableStyleId>{5C22544A-7EE6-4342-B048-85BDC9FD1C3A}</a:tableStyleId>
              </a:tblPr>
              <a:tblGrid>
                <a:gridCol w="5373014">
                  <a:extLst>
                    <a:ext uri="{9D8B030D-6E8A-4147-A177-3AD203B41FA5}">
                      <a16:colId xmlns:a16="http://schemas.microsoft.com/office/drawing/2014/main" val="20000"/>
                    </a:ext>
                  </a:extLst>
                </a:gridCol>
                <a:gridCol w="4959705">
                  <a:extLst>
                    <a:ext uri="{9D8B030D-6E8A-4147-A177-3AD203B41FA5}">
                      <a16:colId xmlns:a16="http://schemas.microsoft.com/office/drawing/2014/main" val="20001"/>
                    </a:ext>
                  </a:extLst>
                </a:gridCol>
              </a:tblGrid>
              <a:tr h="365760">
                <a:tc>
                  <a:txBody>
                    <a:bodyPr/>
                    <a:lstStyle/>
                    <a:p>
                      <a:pPr algn="l">
                        <a:spcAft>
                          <a:spcPts val="0"/>
                        </a:spcAft>
                      </a:pPr>
                      <a:r>
                        <a:rPr sz="1400" b="1" i="0">
                          <a:solidFill>
                            <a:srgbClr val="FFFFFF"/>
                          </a:solidFill>
                          <a:latin typeface="Segoe UI Semibold"/>
                        </a:rPr>
                        <a:t>RTL'e kasten sokulan hata</a:t>
                      </a:r>
                    </a:p>
                  </a:txBody>
                  <a:tcPr marR="73152" marT="27432" marB="27432" anchor="ctr">
                    <a:solidFill>
                      <a:srgbClr val="002D7A"/>
                    </a:solidFill>
                  </a:tcPr>
                </a:tc>
                <a:tc>
                  <a:txBody>
                    <a:bodyPr/>
                    <a:lstStyle/>
                    <a:p>
                      <a:pPr algn="l">
                        <a:spcAft>
                          <a:spcPts val="0"/>
                        </a:spcAft>
                      </a:pPr>
                      <a:r>
                        <a:rPr sz="1400" b="1" i="0">
                          <a:solidFill>
                            <a:srgbClr val="FFFFFF"/>
                          </a:solidFill>
                          <a:latin typeface="Segoe UI Semibold"/>
                        </a:rPr>
                        <a:t>Kırmızıya dönmesi gereken test</a:t>
                      </a:r>
                    </a:p>
                  </a:txBody>
                  <a:tcPr marR="73152" marT="27432" marB="27432" anchor="ctr">
                    <a:solidFill>
                      <a:srgbClr val="002D7A"/>
                    </a:solidFill>
                  </a:tcPr>
                </a:tc>
                <a:extLst>
                  <a:ext uri="{0D108BD9-81ED-4DB2-BD59-A6C34878D82A}">
                    <a16:rowId xmlns:a16="http://schemas.microsoft.com/office/drawing/2014/main" val="10000"/>
                  </a:ext>
                </a:extLst>
              </a:tr>
              <a:tr h="457200">
                <a:tc>
                  <a:txBody>
                    <a:bodyPr/>
                    <a:lstStyle/>
                    <a:p>
                      <a:pPr algn="l">
                        <a:spcAft>
                          <a:spcPts val="0"/>
                        </a:spcAft>
                      </a:pPr>
                      <a:r>
                        <a:rPr sz="1400" b="0" i="0">
                          <a:solidFill>
                            <a:srgbClr val="4D4D4D"/>
                          </a:solidFill>
                          <a:latin typeface="Calibri"/>
                        </a:rPr>
                        <a:t>Çıkışa skid önceliği veren mux</a:t>
                      </a:r>
                    </a:p>
                  </a:txBody>
                  <a:tcPr marR="73152" marT="27432" marB="27432" anchor="ctr">
                    <a:solidFill>
                      <a:srgbClr val="FFFFFF"/>
                    </a:solidFill>
                  </a:tcPr>
                </a:tc>
                <a:tc>
                  <a:txBody>
                    <a:bodyPr/>
                    <a:lstStyle/>
                    <a:p>
                      <a:pPr algn="l">
                        <a:spcAft>
                          <a:spcPts val="0"/>
                        </a:spcAft>
                      </a:pPr>
                      <a:r>
                        <a:rPr sz="1400" b="0" i="0">
                          <a:solidFill>
                            <a:srgbClr val="4D4D4D"/>
                          </a:solidFill>
                          <a:latin typeface="Calibri"/>
                        </a:rPr>
                        <a:t>sira_korunur  ·  veri_butunlugu.agir_stall</a:t>
                      </a:r>
                    </a:p>
                  </a:txBody>
                  <a:tcPr marR="73152" marT="27432" marB="27432" anchor="ctr">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400" b="0" i="0">
                          <a:solidFill>
                            <a:srgbClr val="4D4D4D"/>
                          </a:solidFill>
                          <a:latin typeface="Calibri"/>
                        </a:rPr>
                        <a:t>s_axis_tready &lt;= '1';  (hep hazır)</a:t>
                      </a:r>
                    </a:p>
                  </a:txBody>
                  <a:tcPr marR="73152" marT="27432" marB="27432" anchor="ctr">
                    <a:solidFill>
                      <a:srgbClr val="F1F4F9"/>
                    </a:solidFill>
                  </a:tcPr>
                </a:tc>
                <a:tc>
                  <a:txBody>
                    <a:bodyPr/>
                    <a:lstStyle/>
                    <a:p>
                      <a:pPr algn="l">
                        <a:spcAft>
                          <a:spcPts val="0"/>
                        </a:spcAft>
                      </a:pPr>
                      <a:r>
                        <a:rPr sz="1400" b="0" i="0">
                          <a:solidFill>
                            <a:srgbClr val="4D4D4D"/>
                          </a:solidFill>
                          <a:latin typeface="Calibri"/>
                        </a:rPr>
                        <a:t>protokol denetçisi  ·  veri kaybı kontrolü</a:t>
                      </a:r>
                    </a:p>
                  </a:txBody>
                  <a:tcPr marR="73152" marT="27432" marB="27432" anchor="ctr">
                    <a:solidFill>
                      <a:srgbClr val="F1F4F9"/>
                    </a:solidFill>
                  </a:tcPr>
                </a:tc>
                <a:extLst>
                  <a:ext uri="{0D108BD9-81ED-4DB2-BD59-A6C34878D82A}">
                    <a16:rowId xmlns:a16="http://schemas.microsoft.com/office/drawing/2014/main" val="10002"/>
                  </a:ext>
                </a:extLst>
              </a:tr>
              <a:tr h="457200">
                <a:tc>
                  <a:txBody>
                    <a:bodyPr/>
                    <a:lstStyle/>
                    <a:p>
                      <a:pPr algn="l">
                        <a:spcAft>
                          <a:spcPts val="0"/>
                        </a:spcAft>
                      </a:pPr>
                      <a:r>
                        <a:rPr sz="1400" b="0" i="0">
                          <a:solidFill>
                            <a:srgbClr val="4D4D4D"/>
                          </a:solidFill>
                          <a:latin typeface="Calibri"/>
                        </a:rPr>
                        <a:t>s_axis_tready &lt;= not (skid_valid or reg_valid);</a:t>
                      </a:r>
                    </a:p>
                  </a:txBody>
                  <a:tcPr marR="73152" marT="27432" marB="27432" anchor="ctr">
                    <a:solidFill>
                      <a:srgbClr val="FFFFFF"/>
                    </a:solidFill>
                  </a:tcPr>
                </a:tc>
                <a:tc>
                  <a:txBody>
                    <a:bodyPr/>
                    <a:lstStyle/>
                    <a:p>
                      <a:pPr algn="l">
                        <a:spcAft>
                          <a:spcPts val="0"/>
                        </a:spcAft>
                      </a:pPr>
                      <a:r>
                        <a:rPr sz="1400" b="0" i="0">
                          <a:solidFill>
                            <a:srgbClr val="4D4D4D"/>
                          </a:solidFill>
                          <a:latin typeface="Calibri"/>
                        </a:rPr>
                        <a:t>tam_hiz_zamanlamasi</a:t>
                      </a:r>
                    </a:p>
                  </a:txBody>
                  <a:tcPr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411480" y="3977639"/>
            <a:ext cx="10332720" cy="1874519"/>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67512" y="4160520"/>
            <a:ext cx="9784080" cy="365760"/>
          </a:xfrm>
          <a:prstGeom prst="rect">
            <a:avLst/>
          </a:prstGeom>
          <a:noFill/>
        </p:spPr>
        <p:txBody>
          <a:bodyPr wrap="square" lIns="0" tIns="0" rIns="0" bIns="0">
            <a:spAutoFit/>
          </a:bodyPr>
          <a:lstStyle/>
          <a:p>
            <a:pPr algn="l">
              <a:spcAft>
                <a:spcPts val="600"/>
              </a:spcAft>
            </a:pPr>
            <a:r>
              <a:rPr sz="1700" b="1" i="0">
                <a:solidFill>
                  <a:srgbClr val="FF5620"/>
                </a:solidFill>
                <a:latin typeface="Segoe UI Semibold"/>
              </a:rPr>
              <a:t>Üçüncüsü özellikle öğretici</a:t>
            </a:r>
          </a:p>
        </p:txBody>
      </p:sp>
      <p:sp>
        <p:nvSpPr>
          <p:cNvPr id="7" name="TextBox 6"/>
          <p:cNvSpPr txBox="1"/>
          <p:nvPr/>
        </p:nvSpPr>
        <p:spPr>
          <a:xfrm>
            <a:off x="667512" y="4553712"/>
            <a:ext cx="9784080" cy="1234440"/>
          </a:xfrm>
          <a:prstGeom prst="rect">
            <a:avLst/>
          </a:prstGeom>
          <a:noFill/>
        </p:spPr>
        <p:txBody>
          <a:bodyPr wrap="square" lIns="0" tIns="0" rIns="0" bIns="0">
            <a:spAutoFit/>
          </a:bodyPr>
          <a:lstStyle/>
          <a:p>
            <a:pPr algn="l">
              <a:lnSpc>
                <a:spcPct val="115000"/>
              </a:lnSpc>
              <a:spcAft>
                <a:spcPts val="600"/>
              </a:spcAft>
            </a:pPr>
            <a:r>
              <a:rPr sz="1500" b="0" i="0">
                <a:solidFill>
                  <a:srgbClr val="4D4D4D"/>
                </a:solidFill>
                <a:latin typeface="Calibri"/>
              </a:rPr>
              <a:t>Bu mutasyon veri kaybetmez, sırayı bozmaz, protokolü ihlal etmez — sadece yavaştır. Yakalayan tek şey zamanlama testidir. Kural şu: bir mutasyon hiçbir testi kırmıyorsa, o hata sınıfı için testin yok demektir. Kapsama yüzdesi bunu söylemez; satırın çalıştırılmış olması, sonucunun kontrol edildiği anlamına gelmez.</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KAPSAM VE SINIRLAR</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Neyi çözer, neyi çözmez — beklentiyi baştan hizalayalım</a:t>
            </a:r>
          </a:p>
        </p:txBody>
      </p:sp>
      <p:sp>
        <p:nvSpPr>
          <p:cNvPr id="4" name="Rounded Rectangle 3"/>
          <p:cNvSpPr/>
          <p:nvPr/>
        </p:nvSpPr>
        <p:spPr>
          <a:xfrm>
            <a:off x="411480" y="1920240"/>
            <a:ext cx="3246120" cy="2181606"/>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612648" y="2121408"/>
            <a:ext cx="365760" cy="365760"/>
          </a:xfrm>
          <a:prstGeom prst="ellipse">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300" b="1" i="0">
                <a:solidFill>
                  <a:srgbClr val="FFFFFF"/>
                </a:solidFill>
                <a:latin typeface="Segoe UI Black"/>
              </a:rPr>
              <a:t>A</a:t>
            </a:r>
          </a:p>
        </p:txBody>
      </p:sp>
      <p:sp>
        <p:nvSpPr>
          <p:cNvPr id="6" name="TextBox 5"/>
          <p:cNvSpPr txBox="1"/>
          <p:nvPr/>
        </p:nvSpPr>
        <p:spPr>
          <a:xfrm>
            <a:off x="1088136" y="2157984"/>
            <a:ext cx="2368296" cy="631190"/>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Blok seviyesi RTL</a:t>
            </a:r>
          </a:p>
        </p:txBody>
      </p:sp>
      <p:sp>
        <p:nvSpPr>
          <p:cNvPr id="7" name="TextBox 6"/>
          <p:cNvSpPr txBox="1"/>
          <p:nvPr/>
        </p:nvSpPr>
        <p:spPr>
          <a:xfrm>
            <a:off x="612648" y="2752598"/>
            <a:ext cx="2843784" cy="1239520"/>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Kendi yazdığınız modüller.</a:t>
            </a:r>
          </a:p>
          <a:p>
            <a:pPr algn="l">
              <a:lnSpc>
                <a:spcPct val="112000"/>
              </a:lnSpc>
              <a:spcAft>
                <a:spcPts val="400"/>
              </a:spcAft>
            </a:pPr>
            <a:r>
              <a:rPr sz="1400" b="0" i="0">
                <a:solidFill>
                  <a:srgbClr val="4D4D4D"/>
                </a:solidFill>
                <a:latin typeface="Calibri"/>
              </a:rPr>
              <a:t>VUnit'in asıl hedefi burası;</a:t>
            </a:r>
          </a:p>
          <a:p>
            <a:pPr algn="l">
              <a:lnSpc>
                <a:spcPct val="112000"/>
              </a:lnSpc>
              <a:spcAft>
                <a:spcPts val="400"/>
              </a:spcAft>
            </a:pPr>
            <a:r>
              <a:rPr sz="1400" b="0" i="0">
                <a:solidFill>
                  <a:srgbClr val="4D4D4D"/>
                </a:solidFill>
                <a:latin typeface="Calibri"/>
              </a:rPr>
              <a:t>regresyon ve CI tam verim çalışır.</a:t>
            </a:r>
          </a:p>
        </p:txBody>
      </p:sp>
      <p:sp>
        <p:nvSpPr>
          <p:cNvPr id="8" name="Rounded Rectangle 7"/>
          <p:cNvSpPr/>
          <p:nvPr/>
        </p:nvSpPr>
        <p:spPr>
          <a:xfrm>
            <a:off x="3931920" y="1920240"/>
            <a:ext cx="3246120" cy="2380742"/>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4133087" y="2121408"/>
            <a:ext cx="365760" cy="365760"/>
          </a:xfrm>
          <a:prstGeom prst="ellipse">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300" b="1" i="0">
                <a:solidFill>
                  <a:srgbClr val="FFFFFF"/>
                </a:solidFill>
                <a:latin typeface="Segoe UI Black"/>
              </a:rPr>
              <a:t>B</a:t>
            </a:r>
          </a:p>
        </p:txBody>
      </p:sp>
      <p:sp>
        <p:nvSpPr>
          <p:cNvPr id="10" name="TextBox 9"/>
          <p:cNvSpPr txBox="1"/>
          <p:nvPr/>
        </p:nvSpPr>
        <p:spPr>
          <a:xfrm>
            <a:off x="4608575" y="2157984"/>
            <a:ext cx="2368296" cy="631190"/>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Sayısal doğrulama</a:t>
            </a:r>
          </a:p>
        </p:txBody>
      </p:sp>
      <p:sp>
        <p:nvSpPr>
          <p:cNvPr id="11" name="TextBox 10"/>
          <p:cNvSpPr txBox="1"/>
          <p:nvPr/>
        </p:nvSpPr>
        <p:spPr>
          <a:xfrm>
            <a:off x="4133087" y="2752598"/>
            <a:ext cx="2843784" cy="1438656"/>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Python golden model, bit-doğru</a:t>
            </a:r>
          </a:p>
          <a:p>
            <a:pPr algn="l">
              <a:lnSpc>
                <a:spcPct val="112000"/>
              </a:lnSpc>
              <a:spcAft>
                <a:spcPts val="400"/>
              </a:spcAft>
            </a:pPr>
            <a:r>
              <a:rPr sz="1400" b="0" i="0">
                <a:solidFill>
                  <a:srgbClr val="4D4D4D"/>
                </a:solidFill>
                <a:latin typeface="Calibri"/>
              </a:rPr>
              <a:t>karşılaştırma, spektral ölçüm.</a:t>
            </a:r>
          </a:p>
          <a:p>
            <a:pPr algn="l">
              <a:lnSpc>
                <a:spcPct val="112000"/>
              </a:lnSpc>
              <a:spcAft>
                <a:spcPts val="400"/>
              </a:spcAft>
            </a:pPr>
            <a:r>
              <a:rPr sz="1400" b="0" i="0">
                <a:solidFill>
                  <a:srgbClr val="4D4D4D"/>
                </a:solidFill>
                <a:latin typeface="Calibri"/>
              </a:rPr>
              <a:t>VHDL'in tek başına yapamadığı.</a:t>
            </a:r>
          </a:p>
        </p:txBody>
      </p:sp>
      <p:sp>
        <p:nvSpPr>
          <p:cNvPr id="12" name="Rounded Rectangle 11"/>
          <p:cNvSpPr/>
          <p:nvPr/>
        </p:nvSpPr>
        <p:spPr>
          <a:xfrm>
            <a:off x="7452360" y="1920240"/>
            <a:ext cx="3291840" cy="2380742"/>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653528" y="2121408"/>
            <a:ext cx="365760" cy="365760"/>
          </a:xfrm>
          <a:prstGeom prst="ellipse">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300" b="1" i="0">
                <a:solidFill>
                  <a:srgbClr val="FFFFFF"/>
                </a:solidFill>
                <a:latin typeface="Segoe UI Black"/>
              </a:rPr>
              <a:t>C</a:t>
            </a:r>
          </a:p>
        </p:txBody>
      </p:sp>
      <p:sp>
        <p:nvSpPr>
          <p:cNvPr id="14" name="TextBox 13"/>
          <p:cNvSpPr txBox="1"/>
          <p:nvPr/>
        </p:nvSpPr>
        <p:spPr>
          <a:xfrm>
            <a:off x="8129016" y="2157984"/>
            <a:ext cx="2414016" cy="631190"/>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Şifreli IP ve entegrasyon</a:t>
            </a:r>
          </a:p>
        </p:txBody>
      </p:sp>
      <p:sp>
        <p:nvSpPr>
          <p:cNvPr id="15" name="TextBox 14"/>
          <p:cNvSpPr txBox="1"/>
          <p:nvPr/>
        </p:nvSpPr>
        <p:spPr>
          <a:xfrm>
            <a:off x="7653528" y="2752598"/>
            <a:ext cx="2889504" cy="1438656"/>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Vendor IP'si açık kaynak simülatörde</a:t>
            </a:r>
          </a:p>
          <a:p>
            <a:pPr algn="l">
              <a:lnSpc>
                <a:spcPct val="112000"/>
              </a:lnSpc>
              <a:spcAft>
                <a:spcPts val="400"/>
              </a:spcAft>
            </a:pPr>
            <a:r>
              <a:rPr sz="1400" b="0" i="0">
                <a:solidFill>
                  <a:srgbClr val="4D4D4D"/>
                </a:solidFill>
                <a:latin typeface="Calibri"/>
              </a:rPr>
              <a:t>koşmaz. Bu katman mevcut Vivado</a:t>
            </a:r>
          </a:p>
          <a:p>
            <a:pPr algn="l">
              <a:lnSpc>
                <a:spcPct val="112000"/>
              </a:lnSpc>
              <a:spcAft>
                <a:spcPts val="400"/>
              </a:spcAft>
            </a:pPr>
            <a:r>
              <a:rPr sz="1400" b="0" i="0">
                <a:solidFill>
                  <a:srgbClr val="4D4D4D"/>
                </a:solidFill>
                <a:latin typeface="Calibri"/>
              </a:rPr>
              <a:t>akışında kalır; ara çözüm BFM.</a:t>
            </a:r>
          </a:p>
        </p:txBody>
      </p:sp>
      <p:sp>
        <p:nvSpPr>
          <p:cNvPr id="16" name="TextBox 15"/>
          <p:cNvSpPr txBox="1"/>
          <p:nvPr/>
        </p:nvSpPr>
        <p:spPr>
          <a:xfrm>
            <a:off x="411480" y="4265887"/>
            <a:ext cx="10332720" cy="411480"/>
          </a:xfrm>
          <a:prstGeom prst="rect">
            <a:avLst/>
          </a:prstGeom>
          <a:noFill/>
        </p:spPr>
        <p:txBody>
          <a:bodyPr wrap="square" lIns="0" tIns="0" rIns="0" bIns="0">
            <a:spAutoFit/>
          </a:bodyPr>
          <a:lstStyle/>
          <a:p>
            <a:pPr algn="l">
              <a:spcAft>
                <a:spcPts val="600"/>
              </a:spcAft>
            </a:pPr>
            <a:r>
              <a:rPr sz="1700" b="1" i="0" dirty="0" err="1">
                <a:solidFill>
                  <a:srgbClr val="FF5620"/>
                </a:solidFill>
                <a:latin typeface="Segoe UI Semibold"/>
              </a:rPr>
              <a:t>Üç</a:t>
            </a:r>
            <a:r>
              <a:rPr sz="1700" b="1" i="0" dirty="0">
                <a:solidFill>
                  <a:srgbClr val="FF5620"/>
                </a:solidFill>
                <a:latin typeface="Segoe UI Semibold"/>
              </a:rPr>
              <a:t> </a:t>
            </a:r>
            <a:r>
              <a:rPr sz="1700" b="1" i="0" dirty="0" err="1">
                <a:solidFill>
                  <a:srgbClr val="FF5620"/>
                </a:solidFill>
                <a:latin typeface="Segoe UI Semibold"/>
              </a:rPr>
              <a:t>katmanı</a:t>
            </a:r>
            <a:r>
              <a:rPr sz="1700" b="1" i="0" dirty="0">
                <a:solidFill>
                  <a:srgbClr val="FF5620"/>
                </a:solidFill>
                <a:latin typeface="Segoe UI Semibold"/>
              </a:rPr>
              <a:t> </a:t>
            </a:r>
            <a:r>
              <a:rPr sz="1700" b="1" i="0" dirty="0" err="1">
                <a:solidFill>
                  <a:srgbClr val="FF5620"/>
                </a:solidFill>
                <a:latin typeface="Segoe UI Semibold"/>
              </a:rPr>
              <a:t>ayrı</a:t>
            </a:r>
            <a:r>
              <a:rPr sz="1700" b="1" i="0" dirty="0">
                <a:solidFill>
                  <a:srgbClr val="FF5620"/>
                </a:solidFill>
                <a:latin typeface="Segoe UI Semibold"/>
              </a:rPr>
              <a:t> </a:t>
            </a:r>
            <a:r>
              <a:rPr sz="1700" b="1" i="0" dirty="0" err="1">
                <a:solidFill>
                  <a:srgbClr val="FF5620"/>
                </a:solidFill>
                <a:latin typeface="Segoe UI Semibold"/>
              </a:rPr>
              <a:t>tutmak</a:t>
            </a:r>
            <a:r>
              <a:rPr sz="1700" b="1" i="0" dirty="0">
                <a:solidFill>
                  <a:srgbClr val="FF5620"/>
                </a:solidFill>
                <a:latin typeface="Segoe UI Semibold"/>
              </a:rPr>
              <a:t> </a:t>
            </a:r>
            <a:r>
              <a:rPr sz="1700" b="1" i="0" dirty="0" err="1">
                <a:solidFill>
                  <a:srgbClr val="FF5620"/>
                </a:solidFill>
                <a:latin typeface="Segoe UI Semibold"/>
              </a:rPr>
              <a:t>neden</a:t>
            </a:r>
            <a:r>
              <a:rPr sz="1700" b="1" i="0" dirty="0">
                <a:solidFill>
                  <a:srgbClr val="FF5620"/>
                </a:solidFill>
                <a:latin typeface="Segoe UI Semibold"/>
              </a:rPr>
              <a:t> </a:t>
            </a:r>
            <a:r>
              <a:rPr sz="1700" b="1" i="0" dirty="0" err="1">
                <a:solidFill>
                  <a:srgbClr val="FF5620"/>
                </a:solidFill>
                <a:latin typeface="Segoe UI Semibold"/>
              </a:rPr>
              <a:t>önemli</a:t>
            </a:r>
            <a:endParaRPr sz="1700" b="1" i="0" dirty="0">
              <a:solidFill>
                <a:srgbClr val="FF5620"/>
              </a:solidFill>
              <a:latin typeface="Segoe UI Semibold"/>
            </a:endParaRPr>
          </a:p>
        </p:txBody>
      </p:sp>
      <p:sp>
        <p:nvSpPr>
          <p:cNvPr id="17" name="TextBox 16"/>
          <p:cNvSpPr txBox="1"/>
          <p:nvPr/>
        </p:nvSpPr>
        <p:spPr>
          <a:xfrm>
            <a:off x="411480" y="4651279"/>
            <a:ext cx="10332720" cy="1234440"/>
          </a:xfrm>
          <a:prstGeom prst="rect">
            <a:avLst/>
          </a:prstGeom>
          <a:noFill/>
        </p:spPr>
        <p:txBody>
          <a:bodyPr wrap="square" lIns="0" tIns="0" rIns="0" bIns="0">
            <a:spAutoFit/>
          </a:bodyPr>
          <a:lstStyle/>
          <a:p>
            <a:pPr algn="l">
              <a:lnSpc>
                <a:spcPct val="115000"/>
              </a:lnSpc>
              <a:spcAft>
                <a:spcPts val="600"/>
              </a:spcAft>
            </a:pPr>
            <a:r>
              <a:rPr sz="1500" b="0" i="0" dirty="0" err="1">
                <a:solidFill>
                  <a:srgbClr val="4D4D4D"/>
                </a:solidFill>
                <a:latin typeface="Calibri"/>
              </a:rPr>
              <a:t>Karıştırıldığında</a:t>
            </a:r>
            <a:r>
              <a:rPr sz="1500" b="0" i="0" dirty="0">
                <a:solidFill>
                  <a:srgbClr val="4D4D4D"/>
                </a:solidFill>
                <a:latin typeface="Calibri"/>
              </a:rPr>
              <a:t> </a:t>
            </a:r>
            <a:r>
              <a:rPr sz="1500" b="0" i="0" dirty="0" err="1">
                <a:solidFill>
                  <a:srgbClr val="4D4D4D"/>
                </a:solidFill>
                <a:latin typeface="Calibri"/>
              </a:rPr>
              <a:t>ortaya</a:t>
            </a:r>
            <a:r>
              <a:rPr sz="1500" b="0" i="0" dirty="0">
                <a:solidFill>
                  <a:srgbClr val="4D4D4D"/>
                </a:solidFill>
                <a:latin typeface="Calibri"/>
              </a:rPr>
              <a:t> "her </a:t>
            </a:r>
            <a:r>
              <a:rPr sz="1500" b="0" i="0" dirty="0" err="1">
                <a:solidFill>
                  <a:srgbClr val="4D4D4D"/>
                </a:solidFill>
                <a:latin typeface="Calibri"/>
              </a:rPr>
              <a:t>şeyi</a:t>
            </a:r>
            <a:r>
              <a:rPr sz="1500" b="0" i="0" dirty="0">
                <a:solidFill>
                  <a:srgbClr val="4D4D4D"/>
                </a:solidFill>
                <a:latin typeface="Calibri"/>
              </a:rPr>
              <a:t> </a:t>
            </a:r>
            <a:r>
              <a:rPr sz="1500" b="0" i="0" dirty="0" err="1">
                <a:solidFill>
                  <a:srgbClr val="4D4D4D"/>
                </a:solidFill>
                <a:latin typeface="Calibri"/>
              </a:rPr>
              <a:t>doğrulayan</a:t>
            </a:r>
            <a:r>
              <a:rPr sz="1500" b="0" i="0" dirty="0">
                <a:solidFill>
                  <a:srgbClr val="4D4D4D"/>
                </a:solidFill>
                <a:latin typeface="Calibri"/>
              </a:rPr>
              <a:t> </a:t>
            </a:r>
            <a:r>
              <a:rPr sz="1500" b="0" i="0" dirty="0" err="1">
                <a:solidFill>
                  <a:srgbClr val="4D4D4D"/>
                </a:solidFill>
                <a:latin typeface="Calibri"/>
              </a:rPr>
              <a:t>tek</a:t>
            </a:r>
            <a:r>
              <a:rPr sz="1500" b="0" i="0" dirty="0">
                <a:solidFill>
                  <a:srgbClr val="4D4D4D"/>
                </a:solidFill>
                <a:latin typeface="Calibri"/>
              </a:rPr>
              <a:t> testbench" </a:t>
            </a:r>
            <a:r>
              <a:rPr sz="1500" b="0" i="0" dirty="0" err="1">
                <a:solidFill>
                  <a:srgbClr val="4D4D4D"/>
                </a:solidFill>
                <a:latin typeface="Calibri"/>
              </a:rPr>
              <a:t>hedefi</a:t>
            </a:r>
            <a:r>
              <a:rPr sz="1500" b="0" i="0" dirty="0">
                <a:solidFill>
                  <a:srgbClr val="4D4D4D"/>
                </a:solidFill>
                <a:latin typeface="Calibri"/>
              </a:rPr>
              <a:t> </a:t>
            </a:r>
            <a:r>
              <a:rPr sz="1500" b="0" i="0" dirty="0" err="1">
                <a:solidFill>
                  <a:srgbClr val="4D4D4D"/>
                </a:solidFill>
                <a:latin typeface="Calibri"/>
              </a:rPr>
              <a:t>çıkıyor</a:t>
            </a:r>
            <a:r>
              <a:rPr sz="1500" b="0" i="0" dirty="0">
                <a:solidFill>
                  <a:srgbClr val="4D4D4D"/>
                </a:solidFill>
                <a:latin typeface="Calibri"/>
              </a:rPr>
              <a:t> </a:t>
            </a:r>
            <a:r>
              <a:rPr sz="1500" b="0" i="0" dirty="0" err="1">
                <a:solidFill>
                  <a:srgbClr val="4D4D4D"/>
                </a:solidFill>
                <a:latin typeface="Calibri"/>
              </a:rPr>
              <a:t>ve</a:t>
            </a:r>
            <a:r>
              <a:rPr sz="1500" b="0" i="0" dirty="0">
                <a:solidFill>
                  <a:srgbClr val="4D4D4D"/>
                </a:solidFill>
                <a:latin typeface="Calibri"/>
              </a:rPr>
              <a:t> o testbench </a:t>
            </a:r>
            <a:r>
              <a:rPr sz="1500" b="0" i="0" dirty="0" err="1">
                <a:solidFill>
                  <a:srgbClr val="4D4D4D"/>
                </a:solidFill>
                <a:latin typeface="Calibri"/>
              </a:rPr>
              <a:t>hiçbir</a:t>
            </a:r>
            <a:r>
              <a:rPr sz="1500" b="0" i="0" dirty="0">
                <a:solidFill>
                  <a:srgbClr val="4D4D4D"/>
                </a:solidFill>
                <a:latin typeface="Calibri"/>
              </a:rPr>
              <a:t> zaman </a:t>
            </a:r>
            <a:r>
              <a:rPr sz="1500" b="0" i="0" dirty="0" err="1">
                <a:solidFill>
                  <a:srgbClr val="4D4D4D"/>
                </a:solidFill>
                <a:latin typeface="Calibri"/>
              </a:rPr>
              <a:t>bitmiyor</a:t>
            </a:r>
            <a:r>
              <a:rPr sz="1500" b="0" i="0" dirty="0">
                <a:solidFill>
                  <a:srgbClr val="4D4D4D"/>
                </a:solidFill>
                <a:latin typeface="Calibri"/>
              </a:rPr>
              <a:t>. </a:t>
            </a:r>
            <a:r>
              <a:rPr sz="1500" b="0" i="0" dirty="0" err="1">
                <a:solidFill>
                  <a:srgbClr val="4D4D4D"/>
                </a:solidFill>
                <a:latin typeface="Calibri"/>
              </a:rPr>
              <a:t>Ayrı</a:t>
            </a:r>
            <a:r>
              <a:rPr sz="1500" b="0" i="0" dirty="0">
                <a:solidFill>
                  <a:srgbClr val="4D4D4D"/>
                </a:solidFill>
                <a:latin typeface="Calibri"/>
              </a:rPr>
              <a:t> </a:t>
            </a:r>
            <a:r>
              <a:rPr sz="1500" b="0" i="0" dirty="0" err="1">
                <a:solidFill>
                  <a:srgbClr val="4D4D4D"/>
                </a:solidFill>
                <a:latin typeface="Calibri"/>
              </a:rPr>
              <a:t>tutulduğunda</a:t>
            </a:r>
            <a:r>
              <a:rPr sz="1500" b="0" i="0" dirty="0">
                <a:solidFill>
                  <a:srgbClr val="4D4D4D"/>
                </a:solidFill>
                <a:latin typeface="Calibri"/>
              </a:rPr>
              <a:t> A </a:t>
            </a:r>
            <a:r>
              <a:rPr sz="1500" b="0" i="0" dirty="0" err="1">
                <a:solidFill>
                  <a:srgbClr val="4D4D4D"/>
                </a:solidFill>
                <a:latin typeface="Calibri"/>
              </a:rPr>
              <a:t>katmanı</a:t>
            </a:r>
            <a:r>
              <a:rPr sz="1500" b="0" i="0" dirty="0">
                <a:solidFill>
                  <a:srgbClr val="4D4D4D"/>
                </a:solidFill>
                <a:latin typeface="Calibri"/>
              </a:rPr>
              <a:t> </a:t>
            </a:r>
            <a:r>
              <a:rPr sz="1500" b="0" i="0" dirty="0" err="1">
                <a:solidFill>
                  <a:srgbClr val="4D4D4D"/>
                </a:solidFill>
                <a:latin typeface="Calibri"/>
              </a:rPr>
              <a:t>bugün</a:t>
            </a:r>
            <a:r>
              <a:rPr sz="1500" b="0" i="0" dirty="0">
                <a:solidFill>
                  <a:srgbClr val="4D4D4D"/>
                </a:solidFill>
                <a:latin typeface="Calibri"/>
              </a:rPr>
              <a:t>, </a:t>
            </a:r>
            <a:r>
              <a:rPr sz="1500" b="0" i="0" dirty="0" err="1">
                <a:solidFill>
                  <a:srgbClr val="4D4D4D"/>
                </a:solidFill>
                <a:latin typeface="Calibri"/>
              </a:rPr>
              <a:t>lisans</a:t>
            </a:r>
            <a:r>
              <a:rPr sz="1500" b="0" i="0" dirty="0">
                <a:solidFill>
                  <a:srgbClr val="4D4D4D"/>
                </a:solidFill>
                <a:latin typeface="Calibri"/>
              </a:rPr>
              <a:t> </a:t>
            </a:r>
            <a:r>
              <a:rPr sz="1500" b="0" i="0" dirty="0" err="1">
                <a:solidFill>
                  <a:srgbClr val="4D4D4D"/>
                </a:solidFill>
                <a:latin typeface="Calibri"/>
              </a:rPr>
              <a:t>beklemeden</a:t>
            </a:r>
            <a:r>
              <a:rPr sz="1500" b="0" i="0" dirty="0">
                <a:solidFill>
                  <a:srgbClr val="4D4D4D"/>
                </a:solidFill>
                <a:latin typeface="Calibri"/>
              </a:rPr>
              <a:t>, </a:t>
            </a:r>
            <a:r>
              <a:rPr sz="1500" b="0" i="0" dirty="0" err="1">
                <a:solidFill>
                  <a:srgbClr val="4D4D4D"/>
                </a:solidFill>
                <a:latin typeface="Calibri"/>
              </a:rPr>
              <a:t>sıfır</a:t>
            </a:r>
            <a:r>
              <a:rPr sz="1500" b="0" i="0" dirty="0">
                <a:solidFill>
                  <a:srgbClr val="4D4D4D"/>
                </a:solidFill>
                <a:latin typeface="Calibri"/>
              </a:rPr>
              <a:t> </a:t>
            </a:r>
            <a:r>
              <a:rPr sz="1500" b="0" i="0" dirty="0" err="1">
                <a:solidFill>
                  <a:srgbClr val="4D4D4D"/>
                </a:solidFill>
                <a:latin typeface="Calibri"/>
              </a:rPr>
              <a:t>maliyetle</a:t>
            </a:r>
            <a:r>
              <a:rPr sz="1500" b="0" i="0" dirty="0">
                <a:solidFill>
                  <a:srgbClr val="4D4D4D"/>
                </a:solidFill>
                <a:latin typeface="Calibri"/>
              </a:rPr>
              <a:t> </a:t>
            </a:r>
            <a:r>
              <a:rPr sz="1500" b="0" i="0" dirty="0" err="1">
                <a:solidFill>
                  <a:srgbClr val="4D4D4D"/>
                </a:solidFill>
                <a:latin typeface="Calibri"/>
              </a:rPr>
              <a:t>koşmaya</a:t>
            </a:r>
            <a:r>
              <a:rPr sz="1500" b="0" i="0" dirty="0">
                <a:solidFill>
                  <a:srgbClr val="4D4D4D"/>
                </a:solidFill>
                <a:latin typeface="Calibri"/>
              </a:rPr>
              <a:t> </a:t>
            </a:r>
            <a:r>
              <a:rPr sz="1500" b="0" i="0" dirty="0" err="1">
                <a:solidFill>
                  <a:srgbClr val="4D4D4D"/>
                </a:solidFill>
                <a:latin typeface="Calibri"/>
              </a:rPr>
              <a:t>başlar</a:t>
            </a:r>
            <a:r>
              <a:rPr sz="1500" b="0" i="0" dirty="0">
                <a:solidFill>
                  <a:srgbClr val="4D4D4D"/>
                </a:solidFill>
                <a:latin typeface="Calibri"/>
              </a:rPr>
              <a:t>. C </a:t>
            </a:r>
            <a:r>
              <a:rPr sz="1500" b="0" i="0" dirty="0" err="1">
                <a:solidFill>
                  <a:srgbClr val="4D4D4D"/>
                </a:solidFill>
                <a:latin typeface="Calibri"/>
              </a:rPr>
              <a:t>katmanı</a:t>
            </a:r>
            <a:r>
              <a:rPr sz="1500" b="0" i="0" dirty="0">
                <a:solidFill>
                  <a:srgbClr val="4D4D4D"/>
                </a:solidFill>
                <a:latin typeface="Calibri"/>
              </a:rPr>
              <a:t> </a:t>
            </a:r>
            <a:r>
              <a:rPr sz="1500" b="0" i="0" dirty="0" err="1">
                <a:solidFill>
                  <a:srgbClr val="4D4D4D"/>
                </a:solidFill>
                <a:latin typeface="Calibri"/>
              </a:rPr>
              <a:t>için</a:t>
            </a:r>
            <a:r>
              <a:rPr sz="1500" b="0" i="0" dirty="0">
                <a:solidFill>
                  <a:srgbClr val="4D4D4D"/>
                </a:solidFill>
                <a:latin typeface="Calibri"/>
              </a:rPr>
              <a:t> IP </a:t>
            </a:r>
            <a:r>
              <a:rPr sz="1500" b="0" i="0" dirty="0" err="1">
                <a:solidFill>
                  <a:srgbClr val="4D4D4D"/>
                </a:solidFill>
                <a:latin typeface="Calibri"/>
              </a:rPr>
              <a:t>sınırına</a:t>
            </a:r>
            <a:r>
              <a:rPr sz="1500" b="0" i="0" dirty="0">
                <a:solidFill>
                  <a:srgbClr val="4D4D4D"/>
                </a:solidFill>
                <a:latin typeface="Calibri"/>
              </a:rPr>
              <a:t> </a:t>
            </a:r>
            <a:r>
              <a:rPr sz="1500" b="0" i="0" dirty="0" err="1">
                <a:solidFill>
                  <a:srgbClr val="4D4D4D"/>
                </a:solidFill>
                <a:latin typeface="Calibri"/>
              </a:rPr>
              <a:t>davranışsal</a:t>
            </a:r>
            <a:r>
              <a:rPr sz="1500" b="0" i="0" dirty="0">
                <a:solidFill>
                  <a:srgbClr val="4D4D4D"/>
                </a:solidFill>
                <a:latin typeface="Calibri"/>
              </a:rPr>
              <a:t> </a:t>
            </a:r>
            <a:r>
              <a:rPr sz="1500" b="0" i="0" dirty="0" err="1">
                <a:solidFill>
                  <a:srgbClr val="4D4D4D"/>
                </a:solidFill>
                <a:latin typeface="Calibri"/>
              </a:rPr>
              <a:t>bir</a:t>
            </a:r>
            <a:r>
              <a:rPr sz="1500" b="0" i="0" dirty="0">
                <a:solidFill>
                  <a:srgbClr val="4D4D4D"/>
                </a:solidFill>
                <a:latin typeface="Calibri"/>
              </a:rPr>
              <a:t> stub </a:t>
            </a:r>
            <a:r>
              <a:rPr sz="1500" b="0" i="0" dirty="0" err="1">
                <a:solidFill>
                  <a:srgbClr val="4D4D4D"/>
                </a:solidFill>
                <a:latin typeface="Calibri"/>
              </a:rPr>
              <a:t>konur</a:t>
            </a:r>
            <a:r>
              <a:rPr sz="1500" b="0" i="0" dirty="0">
                <a:solidFill>
                  <a:srgbClr val="4D4D4D"/>
                </a:solidFill>
                <a:latin typeface="Calibri"/>
              </a:rPr>
              <a:t>; </a:t>
            </a:r>
            <a:r>
              <a:rPr sz="1500" b="0" i="0" dirty="0" err="1">
                <a:solidFill>
                  <a:srgbClr val="4D4D4D"/>
                </a:solidFill>
                <a:latin typeface="Calibri"/>
              </a:rPr>
              <a:t>stub'ın</a:t>
            </a:r>
            <a:r>
              <a:rPr sz="1500" b="0" i="0" dirty="0">
                <a:solidFill>
                  <a:srgbClr val="4D4D4D"/>
                </a:solidFill>
                <a:latin typeface="Calibri"/>
              </a:rPr>
              <a:t> </a:t>
            </a:r>
            <a:r>
              <a:rPr sz="1500" b="0" i="0" dirty="0" err="1">
                <a:solidFill>
                  <a:srgbClr val="4D4D4D"/>
                </a:solidFill>
                <a:latin typeface="Calibri"/>
              </a:rPr>
              <a:t>doğruluğu</a:t>
            </a:r>
            <a:r>
              <a:rPr sz="1500" b="0" i="0" dirty="0">
                <a:solidFill>
                  <a:srgbClr val="4D4D4D"/>
                </a:solidFill>
                <a:latin typeface="Calibri"/>
              </a:rPr>
              <a:t> </a:t>
            </a:r>
            <a:r>
              <a:rPr sz="1500" b="0" i="0" dirty="0" err="1">
                <a:solidFill>
                  <a:srgbClr val="4D4D4D"/>
                </a:solidFill>
                <a:latin typeface="Calibri"/>
              </a:rPr>
              <a:t>ayrı</a:t>
            </a:r>
            <a:r>
              <a:rPr sz="1500" b="0" i="0" dirty="0">
                <a:solidFill>
                  <a:srgbClr val="4D4D4D"/>
                </a:solidFill>
                <a:latin typeface="Calibri"/>
              </a:rPr>
              <a:t> </a:t>
            </a:r>
            <a:r>
              <a:rPr sz="1500" b="0" i="0" dirty="0" err="1">
                <a:solidFill>
                  <a:srgbClr val="4D4D4D"/>
                </a:solidFill>
                <a:latin typeface="Calibri"/>
              </a:rPr>
              <a:t>bir</a:t>
            </a:r>
            <a:r>
              <a:rPr sz="1500" b="0" i="0" dirty="0">
                <a:solidFill>
                  <a:srgbClr val="4D4D4D"/>
                </a:solidFill>
                <a:latin typeface="Calibri"/>
              </a:rPr>
              <a:t> </a:t>
            </a:r>
            <a:r>
              <a:rPr sz="1500" b="0" i="0" dirty="0" err="1">
                <a:solidFill>
                  <a:srgbClr val="4D4D4D"/>
                </a:solidFill>
                <a:latin typeface="Calibri"/>
              </a:rPr>
              <a:t>sorundur</a:t>
            </a:r>
            <a:r>
              <a:rPr sz="1500" b="0" i="0" dirty="0">
                <a:solidFill>
                  <a:srgbClr val="4D4D4D"/>
                </a:solidFill>
                <a:latin typeface="Calibri"/>
              </a:rPr>
              <a:t> </a:t>
            </a:r>
            <a:r>
              <a:rPr sz="1500" b="0" i="0" dirty="0" err="1">
                <a:solidFill>
                  <a:srgbClr val="4D4D4D"/>
                </a:solidFill>
                <a:latin typeface="Calibri"/>
              </a:rPr>
              <a:t>ve</a:t>
            </a:r>
            <a:r>
              <a:rPr sz="1500" b="0" i="0" dirty="0">
                <a:solidFill>
                  <a:srgbClr val="4D4D4D"/>
                </a:solidFill>
                <a:latin typeface="Calibri"/>
              </a:rPr>
              <a:t> A </a:t>
            </a:r>
            <a:r>
              <a:rPr sz="1500" b="0" i="0" dirty="0" err="1">
                <a:solidFill>
                  <a:srgbClr val="4D4D4D"/>
                </a:solidFill>
                <a:latin typeface="Calibri"/>
              </a:rPr>
              <a:t>katmanının</a:t>
            </a:r>
            <a:r>
              <a:rPr sz="1500" b="0" i="0" dirty="0">
                <a:solidFill>
                  <a:srgbClr val="4D4D4D"/>
                </a:solidFill>
                <a:latin typeface="Calibri"/>
              </a:rPr>
              <a:t> </a:t>
            </a:r>
            <a:r>
              <a:rPr sz="1500" b="0" i="0" dirty="0" err="1">
                <a:solidFill>
                  <a:srgbClr val="4D4D4D"/>
                </a:solidFill>
                <a:latin typeface="Calibri"/>
              </a:rPr>
              <a:t>koşmasını</a:t>
            </a:r>
            <a:r>
              <a:rPr sz="1500" b="0" i="0" dirty="0">
                <a:solidFill>
                  <a:srgbClr val="4D4D4D"/>
                </a:solidFill>
                <a:latin typeface="Calibri"/>
              </a:rPr>
              <a:t> </a:t>
            </a:r>
            <a:r>
              <a:rPr sz="1500" b="0" i="0" dirty="0" err="1">
                <a:solidFill>
                  <a:srgbClr val="4D4D4D"/>
                </a:solidFill>
                <a:latin typeface="Calibri"/>
              </a:rPr>
              <a:t>engellemez</a:t>
            </a:r>
            <a:r>
              <a:rPr sz="1500" b="0" i="0" dirty="0">
                <a:solidFill>
                  <a:srgbClr val="4D4D4D"/>
                </a:solidFill>
                <a:latin typeface="Calibri"/>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217920"/>
          </a:xfrm>
          <a:prstGeom prst="rect">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2240280"/>
            <a:ext cx="2011680" cy="1280160"/>
          </a:xfrm>
          <a:prstGeom prst="rect">
            <a:avLst/>
          </a:prstGeom>
          <a:noFill/>
        </p:spPr>
        <p:txBody>
          <a:bodyPr wrap="square" lIns="0" tIns="0" rIns="0" bIns="0">
            <a:spAutoFit/>
          </a:bodyPr>
          <a:lstStyle/>
          <a:p>
            <a:pPr algn="l">
              <a:spcAft>
                <a:spcPts val="600"/>
              </a:spcAft>
            </a:pPr>
            <a:r>
              <a:rPr sz="8400" b="1" i="0">
                <a:solidFill>
                  <a:srgbClr val="FF5620"/>
                </a:solidFill>
                <a:latin typeface="Segoe UI Black"/>
              </a:rPr>
              <a:t>04</a:t>
            </a:r>
          </a:p>
        </p:txBody>
      </p:sp>
      <p:sp>
        <p:nvSpPr>
          <p:cNvPr id="4" name="TextBox 3"/>
          <p:cNvSpPr txBox="1"/>
          <p:nvPr/>
        </p:nvSpPr>
        <p:spPr>
          <a:xfrm>
            <a:off x="1188720" y="3520440"/>
            <a:ext cx="9326880" cy="868680"/>
          </a:xfrm>
          <a:prstGeom prst="rect">
            <a:avLst/>
          </a:prstGeom>
          <a:noFill/>
        </p:spPr>
        <p:txBody>
          <a:bodyPr wrap="square" lIns="0" tIns="0" rIns="0" bIns="0">
            <a:spAutoFit/>
          </a:bodyPr>
          <a:lstStyle/>
          <a:p>
            <a:pPr algn="l">
              <a:spcAft>
                <a:spcPts val="600"/>
              </a:spcAft>
            </a:pPr>
            <a:r>
              <a:rPr sz="3600" b="1" i="0">
                <a:solidFill>
                  <a:srgbClr val="FFFFFF"/>
                </a:solidFill>
                <a:latin typeface="Segoe UI Black"/>
              </a:rPr>
              <a:t>NASIL BAŞLANIR?</a:t>
            </a:r>
          </a:p>
        </p:txBody>
      </p:sp>
      <p:sp>
        <p:nvSpPr>
          <p:cNvPr id="5" name="TextBox 4"/>
          <p:cNvSpPr txBox="1"/>
          <p:nvPr/>
        </p:nvSpPr>
        <p:spPr>
          <a:xfrm>
            <a:off x="1234440" y="4434840"/>
            <a:ext cx="8778240" cy="822960"/>
          </a:xfrm>
          <a:prstGeom prst="rect">
            <a:avLst/>
          </a:prstGeom>
          <a:noFill/>
        </p:spPr>
        <p:txBody>
          <a:bodyPr wrap="square" lIns="0" tIns="0" rIns="0" bIns="0">
            <a:spAutoFit/>
          </a:bodyPr>
          <a:lstStyle/>
          <a:p>
            <a:pPr algn="l">
              <a:spcAft>
                <a:spcPts val="600"/>
              </a:spcAft>
            </a:pPr>
            <a:r>
              <a:rPr sz="1800" b="0" i="0">
                <a:solidFill>
                  <a:srgbClr val="C5D3EC"/>
                </a:solidFill>
                <a:latin typeface="Calibri"/>
              </a:rPr>
              <a:t>Kurulum, proje iskeleti ve ilk ayın yol haritası</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PROJE İSKELETİ</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Dört dizin, dört script — fazlası yok</a:t>
            </a:r>
          </a:p>
        </p:txBody>
      </p:sp>
      <p:sp>
        <p:nvSpPr>
          <p:cNvPr id="4" name="Rounded Rectangle 3"/>
          <p:cNvSpPr/>
          <p:nvPr/>
        </p:nvSpPr>
        <p:spPr>
          <a:xfrm>
            <a:off x="411480" y="1920240"/>
            <a:ext cx="5760720" cy="2454275"/>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103120"/>
            <a:ext cx="5394959" cy="2088515"/>
          </a:xfrm>
          <a:prstGeom prst="rect">
            <a:avLst/>
          </a:prstGeom>
          <a:noFill/>
        </p:spPr>
        <p:txBody>
          <a:bodyPr wrap="square" lIns="0" tIns="0" rIns="0" bIns="0">
            <a:spAutoFit/>
          </a:bodyPr>
          <a:lstStyle/>
          <a:p>
            <a:pPr algn="l">
              <a:lnSpc>
                <a:spcPct val="115000"/>
              </a:lnSpc>
              <a:spcAft>
                <a:spcPts val="0"/>
              </a:spcAft>
            </a:pPr>
            <a:r>
              <a:rPr sz="1150" i="0">
                <a:solidFill>
                  <a:srgbClr val="1C273A"/>
                </a:solidFill>
                <a:latin typeface="Consolas"/>
              </a:rPr>
              <a:t>proje/</a:t>
            </a:r>
          </a:p>
          <a:p>
            <a:pPr algn="l">
              <a:lnSpc>
                <a:spcPct val="115000"/>
              </a:lnSpc>
              <a:spcAft>
                <a:spcPts val="0"/>
              </a:spcAft>
            </a:pPr>
            <a:r>
              <a:rPr sz="1150" i="0">
                <a:solidFill>
                  <a:srgbClr val="1C273A"/>
                </a:solidFill>
                <a:latin typeface="Consolas"/>
              </a:rPr>
              <a:t>├── hdl/</a:t>
            </a:r>
          </a:p>
          <a:p>
            <a:pPr algn="l">
              <a:lnSpc>
                <a:spcPct val="115000"/>
              </a:lnSpc>
              <a:spcAft>
                <a:spcPts val="0"/>
              </a:spcAft>
            </a:pPr>
            <a:r>
              <a:rPr sz="1150" i="0">
                <a:solidFill>
                  <a:srgbClr val="1C273A"/>
                </a:solidFill>
                <a:latin typeface="Consolas"/>
              </a:rPr>
              <a:t>│   ├── src/          # RTL</a:t>
            </a:r>
          </a:p>
          <a:p>
            <a:pPr algn="l">
              <a:lnSpc>
                <a:spcPct val="115000"/>
              </a:lnSpc>
              <a:spcAft>
                <a:spcPts val="0"/>
              </a:spcAft>
            </a:pPr>
            <a:r>
              <a:rPr sz="1150" i="0">
                <a:solidFill>
                  <a:srgbClr val="1C273A"/>
                </a:solidFill>
                <a:latin typeface="Consolas"/>
              </a:rPr>
              <a:t>│   └── tb/           # testbench'ler</a:t>
            </a:r>
          </a:p>
          <a:p>
            <a:pPr algn="l">
              <a:lnSpc>
                <a:spcPct val="115000"/>
              </a:lnSpc>
              <a:spcAft>
                <a:spcPts val="0"/>
              </a:spcAft>
            </a:pPr>
            <a:r>
              <a:rPr sz="1150" i="0">
                <a:solidFill>
                  <a:srgbClr val="1C273A"/>
                </a:solidFill>
                <a:latin typeface="Consolas"/>
              </a:rPr>
              <a:t>├── dsp/              # Python referans modeli</a:t>
            </a:r>
          </a:p>
          <a:p>
            <a:pPr algn="l">
              <a:lnSpc>
                <a:spcPct val="115000"/>
              </a:lnSpc>
              <a:spcAft>
                <a:spcPts val="0"/>
              </a:spcAft>
            </a:pPr>
            <a:r>
              <a:rPr sz="1150" i="0">
                <a:solidFill>
                  <a:srgbClr val="1C273A"/>
                </a:solidFill>
                <a:latin typeface="Consolas"/>
              </a:rPr>
              <a:t>├── vectors/          # uretilen vektorler + manifest</a:t>
            </a:r>
          </a:p>
          <a:p>
            <a:pPr algn="l">
              <a:lnSpc>
                <a:spcPct val="115000"/>
              </a:lnSpc>
              <a:spcAft>
                <a:spcPts val="0"/>
              </a:spcAft>
            </a:pPr>
            <a:r>
              <a:rPr sz="1150" i="0">
                <a:solidFill>
                  <a:srgbClr val="1C273A"/>
                </a:solidFill>
                <a:latin typeface="Consolas"/>
              </a:rPr>
              <a:t>│</a:t>
            </a:r>
          </a:p>
          <a:p>
            <a:pPr algn="l">
              <a:lnSpc>
                <a:spcPct val="115000"/>
              </a:lnSpc>
              <a:spcAft>
                <a:spcPts val="0"/>
              </a:spcAft>
            </a:pPr>
            <a:r>
              <a:rPr sz="1150" i="0">
                <a:solidFill>
                  <a:srgbClr val="1C273A"/>
                </a:solidFill>
                <a:latin typeface="Consolas"/>
              </a:rPr>
              <a:t>├── generate_vectors.py   # referans model -&gt; vektor</a:t>
            </a:r>
          </a:p>
          <a:p>
            <a:pPr algn="l">
              <a:lnSpc>
                <a:spcPct val="115000"/>
              </a:lnSpc>
              <a:spcAft>
                <a:spcPts val="0"/>
              </a:spcAft>
            </a:pPr>
            <a:r>
              <a:rPr sz="1150" i="0">
                <a:solidFill>
                  <a:srgbClr val="1C273A"/>
                </a:solidFill>
                <a:latin typeface="Consolas"/>
              </a:rPr>
              <a:t>├── vunit_project.py      # kaynak listesi + config'ler</a:t>
            </a:r>
          </a:p>
          <a:p>
            <a:pPr algn="l">
              <a:lnSpc>
                <a:spcPct val="115000"/>
              </a:lnSpc>
              <a:spcAft>
                <a:spcPts val="0"/>
              </a:spcAft>
            </a:pPr>
            <a:r>
              <a:rPr sz="1150" i="0">
                <a:solidFill>
                  <a:srgbClr val="1C273A"/>
                </a:solidFill>
                <a:latin typeface="Consolas"/>
              </a:rPr>
              <a:t>├── run.py                # giris noktasi</a:t>
            </a:r>
          </a:p>
          <a:p>
            <a:pPr algn="l">
              <a:lnSpc>
                <a:spcPct val="115000"/>
              </a:lnSpc>
              <a:spcAft>
                <a:spcPts val="0"/>
              </a:spcAft>
            </a:pPr>
            <a:r>
              <a:rPr sz="1150" i="0">
                <a:solidFill>
                  <a:srgbClr val="1C273A"/>
                </a:solidFill>
                <a:latin typeface="Consolas"/>
              </a:rPr>
              <a:t>└── generate_vhdl_ls.py   # editor icin dil sunucusu</a:t>
            </a:r>
          </a:p>
        </p:txBody>
      </p:sp>
      <p:sp>
        <p:nvSpPr>
          <p:cNvPr id="6" name="Rounded Rectangle 5"/>
          <p:cNvSpPr/>
          <p:nvPr/>
        </p:nvSpPr>
        <p:spPr>
          <a:xfrm>
            <a:off x="6446520" y="1920240"/>
            <a:ext cx="4297680" cy="2633472"/>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647688" y="2121408"/>
            <a:ext cx="38953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NEDEN AYRI DOSYALAR?</a:t>
            </a:r>
          </a:p>
        </p:txBody>
      </p:sp>
      <p:sp>
        <p:nvSpPr>
          <p:cNvPr id="8" name="TextBox 7"/>
          <p:cNvSpPr txBox="1"/>
          <p:nvPr/>
        </p:nvSpPr>
        <p:spPr>
          <a:xfrm>
            <a:off x="6647688" y="2505456"/>
            <a:ext cx="3895344" cy="1938528"/>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run.py sadece giriş noktasıdır — CLI argümanları</a:t>
            </a:r>
          </a:p>
          <a:p>
            <a:pPr algn="l">
              <a:lnSpc>
                <a:spcPct val="112000"/>
              </a:lnSpc>
              <a:spcAft>
                <a:spcPts val="400"/>
              </a:spcAft>
            </a:pPr>
            <a:r>
              <a:rPr sz="1400" b="0" i="0">
                <a:solidFill>
                  <a:srgbClr val="4D4D4D"/>
                </a:solidFill>
                <a:latin typeface="Calibri"/>
              </a:rPr>
              <a:t>ve kancalar burada durur.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vunit_project.py kaynak listesini ve konfigürasyonları</a:t>
            </a:r>
          </a:p>
          <a:p>
            <a:pPr algn="l">
              <a:lnSpc>
                <a:spcPct val="112000"/>
              </a:lnSpc>
              <a:spcAft>
                <a:spcPts val="400"/>
              </a:spcAft>
            </a:pPr>
            <a:r>
              <a:rPr sz="1400" b="0" i="0">
                <a:solidFill>
                  <a:srgbClr val="4D4D4D"/>
                </a:solidFill>
                <a:latin typeface="Calibri"/>
              </a:rPr>
              <a:t>tutar; başka bir script de onu import edebilir.</a:t>
            </a:r>
          </a:p>
        </p:txBody>
      </p:sp>
      <p:sp>
        <p:nvSpPr>
          <p:cNvPr id="9" name="Rounded Rectangle 8"/>
          <p:cNvSpPr/>
          <p:nvPr/>
        </p:nvSpPr>
        <p:spPr>
          <a:xfrm>
            <a:off x="6446520" y="4206240"/>
            <a:ext cx="4297680" cy="1934464"/>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647688" y="4407407"/>
            <a:ext cx="3895344" cy="384048"/>
          </a:xfrm>
          <a:prstGeom prst="rect">
            <a:avLst/>
          </a:prstGeom>
          <a:noFill/>
        </p:spPr>
        <p:txBody>
          <a:bodyPr wrap="square" lIns="0" tIns="0" rIns="0" bIns="0">
            <a:spAutoFit/>
          </a:bodyPr>
          <a:lstStyle/>
          <a:p>
            <a:pPr algn="l">
              <a:spcAft>
                <a:spcPts val="600"/>
              </a:spcAft>
            </a:pPr>
            <a:r>
              <a:rPr sz="1700" b="1" i="0">
                <a:solidFill>
                  <a:srgbClr val="FF5620"/>
                </a:solidFill>
                <a:latin typeface="Segoe UI"/>
              </a:rPr>
              <a:t>ÇALIŞTIRMA SIRASI</a:t>
            </a:r>
          </a:p>
        </p:txBody>
      </p:sp>
      <p:sp>
        <p:nvSpPr>
          <p:cNvPr id="11" name="TextBox 10"/>
          <p:cNvSpPr txBox="1"/>
          <p:nvPr/>
        </p:nvSpPr>
        <p:spPr>
          <a:xfrm>
            <a:off x="6647688" y="4791455"/>
            <a:ext cx="3895344" cy="1239520"/>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1. python generate_vectors.py   (taze klonda ilk bu)</a:t>
            </a:r>
          </a:p>
          <a:p>
            <a:pPr algn="l">
              <a:lnSpc>
                <a:spcPct val="112000"/>
              </a:lnSpc>
              <a:spcAft>
                <a:spcPts val="400"/>
              </a:spcAft>
            </a:pPr>
            <a:r>
              <a:rPr sz="1400" b="0" i="0">
                <a:solidFill>
                  <a:srgbClr val="4D4D4D"/>
                </a:solidFill>
                <a:latin typeface="Calibri"/>
              </a:rPr>
              <a:t>2. python run.py</a:t>
            </a:r>
          </a:p>
          <a:p>
            <a:pPr algn="l">
              <a:lnSpc>
                <a:spcPct val="112000"/>
              </a:lnSpc>
              <a:spcAft>
                <a:spcPts val="400"/>
              </a:spcAft>
            </a:pPr>
            <a:r>
              <a:rPr sz="1400" b="0" i="0">
                <a:solidFill>
                  <a:srgbClr val="4D4D4D"/>
                </a:solidFill>
                <a:latin typeface="Calibri"/>
              </a:rPr>
              <a:t>3. python generate_vhdl_ls.py   (yeni .vhd eklendiyse)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KURULUM: ÜÇ ADIM</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Toplam süre on dakika, lisans gerekmiyor</a:t>
            </a:r>
          </a:p>
        </p:txBody>
      </p:sp>
      <p:sp>
        <p:nvSpPr>
          <p:cNvPr id="4" name="Oval 3"/>
          <p:cNvSpPr/>
          <p:nvPr/>
        </p:nvSpPr>
        <p:spPr>
          <a:xfrm>
            <a:off x="411480" y="1920240"/>
            <a:ext cx="475488" cy="475488"/>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600" b="1" i="0">
                <a:solidFill>
                  <a:srgbClr val="FFFFFF"/>
                </a:solidFill>
                <a:latin typeface="Segoe UI Black"/>
              </a:rPr>
              <a:t>01</a:t>
            </a:r>
          </a:p>
        </p:txBody>
      </p:sp>
      <p:sp>
        <p:nvSpPr>
          <p:cNvPr id="5" name="TextBox 4"/>
          <p:cNvSpPr txBox="1"/>
          <p:nvPr/>
        </p:nvSpPr>
        <p:spPr>
          <a:xfrm>
            <a:off x="1033272" y="2011680"/>
            <a:ext cx="2651760" cy="365760"/>
          </a:xfrm>
          <a:prstGeom prst="rect">
            <a:avLst/>
          </a:prstGeom>
          <a:noFill/>
        </p:spPr>
        <p:txBody>
          <a:bodyPr wrap="square" lIns="0" tIns="0" rIns="0" bIns="0">
            <a:spAutoFit/>
          </a:bodyPr>
          <a:lstStyle/>
          <a:p>
            <a:pPr algn="l">
              <a:spcAft>
                <a:spcPts val="600"/>
              </a:spcAft>
            </a:pPr>
            <a:r>
              <a:rPr sz="1600" b="1" i="0">
                <a:solidFill>
                  <a:srgbClr val="002D7A"/>
                </a:solidFill>
                <a:latin typeface="Segoe UI"/>
              </a:rPr>
              <a:t>Sanal ortam ve VUnit</a:t>
            </a:r>
          </a:p>
        </p:txBody>
      </p:sp>
      <p:sp>
        <p:nvSpPr>
          <p:cNvPr id="6" name="Rounded Rectangle 5"/>
          <p:cNvSpPr/>
          <p:nvPr/>
        </p:nvSpPr>
        <p:spPr>
          <a:xfrm>
            <a:off x="411480" y="2606040"/>
            <a:ext cx="3246120" cy="885825"/>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94360" y="2788920"/>
            <a:ext cx="2880360" cy="520065"/>
          </a:xfrm>
          <a:prstGeom prst="rect">
            <a:avLst/>
          </a:prstGeom>
          <a:noFill/>
        </p:spPr>
        <p:txBody>
          <a:bodyPr wrap="square" lIns="0" tIns="0" rIns="0" bIns="0">
            <a:spAutoFit/>
          </a:bodyPr>
          <a:lstStyle/>
          <a:p>
            <a:pPr algn="l">
              <a:lnSpc>
                <a:spcPct val="115000"/>
              </a:lnSpc>
              <a:spcAft>
                <a:spcPts val="0"/>
              </a:spcAft>
            </a:pPr>
            <a:r>
              <a:rPr sz="1050" i="0">
                <a:solidFill>
                  <a:srgbClr val="1C273A"/>
                </a:solidFill>
                <a:latin typeface="Consolas"/>
              </a:rPr>
              <a:t>python -m venv .venv</a:t>
            </a:r>
          </a:p>
          <a:p>
            <a:pPr algn="l">
              <a:lnSpc>
                <a:spcPct val="115000"/>
              </a:lnSpc>
              <a:spcAft>
                <a:spcPts val="0"/>
              </a:spcAft>
            </a:pPr>
            <a:r>
              <a:rPr sz="1050" i="0">
                <a:solidFill>
                  <a:srgbClr val="1C273A"/>
                </a:solidFill>
                <a:latin typeface="Consolas"/>
              </a:rPr>
              <a:t>.venv\Scripts\activate</a:t>
            </a:r>
          </a:p>
          <a:p>
            <a:pPr algn="l">
              <a:lnSpc>
                <a:spcPct val="115000"/>
              </a:lnSpc>
              <a:spcAft>
                <a:spcPts val="0"/>
              </a:spcAft>
            </a:pPr>
            <a:r>
              <a:rPr sz="1050" i="0">
                <a:solidFill>
                  <a:srgbClr val="1C273A"/>
                </a:solidFill>
                <a:latin typeface="Consolas"/>
              </a:rPr>
              <a:t>pip install vunit_hdl</a:t>
            </a:r>
          </a:p>
        </p:txBody>
      </p:sp>
      <p:sp>
        <p:nvSpPr>
          <p:cNvPr id="8" name="Oval 7"/>
          <p:cNvSpPr/>
          <p:nvPr/>
        </p:nvSpPr>
        <p:spPr>
          <a:xfrm>
            <a:off x="3959352" y="1920240"/>
            <a:ext cx="475488" cy="475488"/>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600" b="1" i="0">
                <a:solidFill>
                  <a:srgbClr val="FFFFFF"/>
                </a:solidFill>
                <a:latin typeface="Segoe UI Black"/>
              </a:rPr>
              <a:t>02</a:t>
            </a:r>
          </a:p>
        </p:txBody>
      </p:sp>
      <p:sp>
        <p:nvSpPr>
          <p:cNvPr id="9" name="TextBox 8"/>
          <p:cNvSpPr txBox="1"/>
          <p:nvPr/>
        </p:nvSpPr>
        <p:spPr>
          <a:xfrm>
            <a:off x="4581144" y="2011680"/>
            <a:ext cx="2651760" cy="365760"/>
          </a:xfrm>
          <a:prstGeom prst="rect">
            <a:avLst/>
          </a:prstGeom>
          <a:noFill/>
        </p:spPr>
        <p:txBody>
          <a:bodyPr wrap="square" lIns="0" tIns="0" rIns="0" bIns="0">
            <a:spAutoFit/>
          </a:bodyPr>
          <a:lstStyle/>
          <a:p>
            <a:pPr algn="l">
              <a:spcAft>
                <a:spcPts val="600"/>
              </a:spcAft>
            </a:pPr>
            <a:r>
              <a:rPr sz="1600" b="1" i="0">
                <a:solidFill>
                  <a:srgbClr val="002D7A"/>
                </a:solidFill>
                <a:latin typeface="Segoe UI"/>
              </a:rPr>
              <a:t>Simülatör</a:t>
            </a:r>
          </a:p>
        </p:txBody>
      </p:sp>
      <p:sp>
        <p:nvSpPr>
          <p:cNvPr id="10" name="Rounded Rectangle 9"/>
          <p:cNvSpPr/>
          <p:nvPr/>
        </p:nvSpPr>
        <p:spPr>
          <a:xfrm>
            <a:off x="3959352" y="2606040"/>
            <a:ext cx="3246120" cy="885825"/>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142232" y="2788920"/>
            <a:ext cx="2880360" cy="520065"/>
          </a:xfrm>
          <a:prstGeom prst="rect">
            <a:avLst/>
          </a:prstGeom>
          <a:noFill/>
        </p:spPr>
        <p:txBody>
          <a:bodyPr wrap="square" lIns="0" tIns="0" rIns="0" bIns="0">
            <a:spAutoFit/>
          </a:bodyPr>
          <a:lstStyle/>
          <a:p>
            <a:pPr algn="l">
              <a:lnSpc>
                <a:spcPct val="115000"/>
              </a:lnSpc>
              <a:spcAft>
                <a:spcPts val="0"/>
              </a:spcAft>
            </a:pPr>
            <a:r>
              <a:rPr sz="1050" i="1">
                <a:solidFill>
                  <a:srgbClr val="7A8699"/>
                </a:solidFill>
                <a:latin typeface="Consolas"/>
              </a:rPr>
              <a:t># NVC veya GHDL — ikisi de ucretsiz</a:t>
            </a:r>
          </a:p>
          <a:p>
            <a:pPr algn="l">
              <a:lnSpc>
                <a:spcPct val="115000"/>
              </a:lnSpc>
              <a:spcAft>
                <a:spcPts val="0"/>
              </a:spcAft>
            </a:pPr>
            <a:r>
              <a:rPr sz="1050" i="1">
                <a:solidFill>
                  <a:srgbClr val="7A8699"/>
                </a:solidFill>
                <a:latin typeface="Consolas"/>
              </a:rPr>
              <a:t># PATH'e ekle, VUnit kendisi bulur</a:t>
            </a:r>
          </a:p>
          <a:p>
            <a:pPr algn="l">
              <a:lnSpc>
                <a:spcPct val="115000"/>
              </a:lnSpc>
              <a:spcAft>
                <a:spcPts val="0"/>
              </a:spcAft>
            </a:pPr>
            <a:r>
              <a:rPr sz="1050" i="0">
                <a:solidFill>
                  <a:srgbClr val="1C273A"/>
                </a:solidFill>
                <a:latin typeface="Consolas"/>
              </a:rPr>
              <a:t>nvc --version</a:t>
            </a:r>
          </a:p>
        </p:txBody>
      </p:sp>
      <p:sp>
        <p:nvSpPr>
          <p:cNvPr id="12" name="Oval 11"/>
          <p:cNvSpPr/>
          <p:nvPr/>
        </p:nvSpPr>
        <p:spPr>
          <a:xfrm>
            <a:off x="7507224" y="1920240"/>
            <a:ext cx="475488" cy="475488"/>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600" b="1" i="0">
                <a:solidFill>
                  <a:srgbClr val="FFFFFF"/>
                </a:solidFill>
                <a:latin typeface="Segoe UI Black"/>
              </a:rPr>
              <a:t>03</a:t>
            </a:r>
          </a:p>
        </p:txBody>
      </p:sp>
      <p:sp>
        <p:nvSpPr>
          <p:cNvPr id="13" name="TextBox 12"/>
          <p:cNvSpPr txBox="1"/>
          <p:nvPr/>
        </p:nvSpPr>
        <p:spPr>
          <a:xfrm>
            <a:off x="8129016" y="2011680"/>
            <a:ext cx="2651760" cy="365760"/>
          </a:xfrm>
          <a:prstGeom prst="rect">
            <a:avLst/>
          </a:prstGeom>
          <a:noFill/>
        </p:spPr>
        <p:txBody>
          <a:bodyPr wrap="square" lIns="0" tIns="0" rIns="0" bIns="0">
            <a:spAutoFit/>
          </a:bodyPr>
          <a:lstStyle/>
          <a:p>
            <a:pPr algn="l">
              <a:spcAft>
                <a:spcPts val="600"/>
              </a:spcAft>
            </a:pPr>
            <a:r>
              <a:rPr sz="1600" b="1" i="0">
                <a:solidFill>
                  <a:srgbClr val="002D7A"/>
                </a:solidFill>
                <a:latin typeface="Segoe UI"/>
              </a:rPr>
              <a:t>İlk koşu</a:t>
            </a:r>
          </a:p>
        </p:txBody>
      </p:sp>
      <p:sp>
        <p:nvSpPr>
          <p:cNvPr id="14" name="Rounded Rectangle 13"/>
          <p:cNvSpPr/>
          <p:nvPr/>
        </p:nvSpPr>
        <p:spPr>
          <a:xfrm>
            <a:off x="7507224" y="2606040"/>
            <a:ext cx="3246120" cy="71247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0104" y="2788920"/>
            <a:ext cx="2880360" cy="346710"/>
          </a:xfrm>
          <a:prstGeom prst="rect">
            <a:avLst/>
          </a:prstGeom>
          <a:noFill/>
        </p:spPr>
        <p:txBody>
          <a:bodyPr wrap="square" lIns="0" tIns="0" rIns="0" bIns="0">
            <a:spAutoFit/>
          </a:bodyPr>
          <a:lstStyle/>
          <a:p>
            <a:pPr algn="l">
              <a:lnSpc>
                <a:spcPct val="115000"/>
              </a:lnSpc>
              <a:spcAft>
                <a:spcPts val="0"/>
              </a:spcAft>
            </a:pPr>
            <a:r>
              <a:rPr sz="1050" i="0">
                <a:solidFill>
                  <a:srgbClr val="1C273A"/>
                </a:solidFill>
                <a:latin typeface="Consolas"/>
              </a:rPr>
              <a:t>python run.py --list</a:t>
            </a:r>
          </a:p>
          <a:p>
            <a:pPr algn="l">
              <a:lnSpc>
                <a:spcPct val="115000"/>
              </a:lnSpc>
              <a:spcAft>
                <a:spcPts val="0"/>
              </a:spcAft>
            </a:pPr>
            <a:r>
              <a:rPr sz="1050" i="0">
                <a:solidFill>
                  <a:srgbClr val="1C273A"/>
                </a:solidFill>
                <a:latin typeface="Consolas"/>
              </a:rPr>
              <a:t>python run.py -v</a:t>
            </a:r>
          </a:p>
        </p:txBody>
      </p:sp>
      <p:sp>
        <p:nvSpPr>
          <p:cNvPr id="16" name="Rounded Rectangle 15"/>
          <p:cNvSpPr/>
          <p:nvPr/>
        </p:nvSpPr>
        <p:spPr>
          <a:xfrm>
            <a:off x="411480" y="4343400"/>
            <a:ext cx="10332720" cy="1554480"/>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67512" y="4526280"/>
            <a:ext cx="9784080" cy="365760"/>
          </a:xfrm>
          <a:prstGeom prst="rect">
            <a:avLst/>
          </a:prstGeom>
          <a:noFill/>
        </p:spPr>
        <p:txBody>
          <a:bodyPr wrap="square" lIns="0" tIns="0" rIns="0" bIns="0">
            <a:spAutoFit/>
          </a:bodyPr>
          <a:lstStyle/>
          <a:p>
            <a:pPr algn="l">
              <a:spcAft>
                <a:spcPts val="600"/>
              </a:spcAft>
            </a:pPr>
            <a:r>
              <a:rPr sz="1700" b="1" i="0">
                <a:solidFill>
                  <a:srgbClr val="FF5620"/>
                </a:solidFill>
                <a:latin typeface="Segoe UI Semibold"/>
              </a:rPr>
              <a:t>Öğrenme projesi için ayrı bir .venv aç</a:t>
            </a:r>
          </a:p>
        </p:txBody>
      </p:sp>
      <p:sp>
        <p:nvSpPr>
          <p:cNvPr id="18" name="TextBox 17"/>
          <p:cNvSpPr txBox="1"/>
          <p:nvPr/>
        </p:nvSpPr>
        <p:spPr>
          <a:xfrm>
            <a:off x="667512" y="4919472"/>
            <a:ext cx="9784080" cy="868680"/>
          </a:xfrm>
          <a:prstGeom prst="rect">
            <a:avLst/>
          </a:prstGeom>
          <a:noFill/>
        </p:spPr>
        <p:txBody>
          <a:bodyPr wrap="square" lIns="0" tIns="0" rIns="0" bIns="0">
            <a:spAutoFit/>
          </a:bodyPr>
          <a:lstStyle/>
          <a:p>
            <a:pPr algn="l">
              <a:lnSpc>
                <a:spcPct val="115000"/>
              </a:lnSpc>
              <a:spcAft>
                <a:spcPts val="600"/>
              </a:spcAft>
            </a:pPr>
            <a:r>
              <a:rPr sz="1500" b="0" i="0">
                <a:solidFill>
                  <a:srgbClr val="4D4D4D"/>
                </a:solidFill>
                <a:latin typeface="Calibri"/>
              </a:rPr>
              <a:t>VUnit'in ön sürümleri (5.0.0.dev) yeni özellikler getiriyor ama geriye dönük kırılmalar da içeriyor — örneğin from_argv'nin compile_builtins argümanı kaldırıldı. Deneme ortamını üretim projesinden ayırmak, bu kırılmaların maliyetini sıfırlar.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BENİMSEME YOL HARİTASI</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Bir blok, bir hafta, sıfır lisans maliyeti</a:t>
            </a:r>
          </a:p>
        </p:txBody>
      </p:sp>
      <p:sp>
        <p:nvSpPr>
          <p:cNvPr id="4" name="Rounded Rectangle 3"/>
          <p:cNvSpPr/>
          <p:nvPr/>
        </p:nvSpPr>
        <p:spPr>
          <a:xfrm>
            <a:off x="411480" y="1965960"/>
            <a:ext cx="2402128" cy="868680"/>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İLK GÜN
tek modül, tek test
yeşile döndür</a:t>
            </a:r>
          </a:p>
        </p:txBody>
      </p:sp>
      <p:sp>
        <p:nvSpPr>
          <p:cNvPr id="5" name="Right Arrow 4"/>
          <p:cNvSpPr/>
          <p:nvPr/>
        </p:nvSpPr>
        <p:spPr>
          <a:xfrm>
            <a:off x="2852013" y="2331720"/>
            <a:ext cx="164592" cy="137160"/>
          </a:xfrm>
          <a:prstGeom prst="rightArrow">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055010" y="1965960"/>
            <a:ext cx="2402128" cy="868680"/>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İLK HAFTA
scoreboard, negatif test
mutasyon kontrolü</a:t>
            </a:r>
          </a:p>
        </p:txBody>
      </p:sp>
      <p:sp>
        <p:nvSpPr>
          <p:cNvPr id="7" name="Right Arrow 6"/>
          <p:cNvSpPr/>
          <p:nvPr/>
        </p:nvSpPr>
        <p:spPr>
          <a:xfrm>
            <a:off x="5495544" y="2331720"/>
            <a:ext cx="164592" cy="137160"/>
          </a:xfrm>
          <a:prstGeom prst="rightArrow">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698540" y="1965960"/>
            <a:ext cx="2402128" cy="868680"/>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İLK AY
VC'ler, parametrik test
CI'da regresyon</a:t>
            </a:r>
          </a:p>
        </p:txBody>
      </p:sp>
      <p:sp>
        <p:nvSpPr>
          <p:cNvPr id="9" name="Right Arrow 8"/>
          <p:cNvSpPr/>
          <p:nvPr/>
        </p:nvSpPr>
        <p:spPr>
          <a:xfrm>
            <a:off x="8139074" y="2331720"/>
            <a:ext cx="164592" cy="137160"/>
          </a:xfrm>
          <a:prstGeom prst="rightArrow">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342071" y="1965960"/>
            <a:ext cx="2402128" cy="868680"/>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lnSpc>
                <a:spcPct val="110000"/>
              </a:lnSpc>
              <a:spcAft>
                <a:spcPts val="0"/>
              </a:spcAft>
            </a:pPr>
            <a:r>
              <a:rPr sz="1300" b="1" i="0">
                <a:solidFill>
                  <a:srgbClr val="FFFFFF"/>
                </a:solidFill>
                <a:latin typeface="Segoe UI"/>
              </a:rPr>
              <a:t>SONRASI
ekip standardı
yeni modül = yeni tb</a:t>
            </a:r>
          </a:p>
        </p:txBody>
      </p:sp>
      <p:sp>
        <p:nvSpPr>
          <p:cNvPr id="11" name="Rounded Rectangle 10"/>
          <p:cNvSpPr/>
          <p:nvPr/>
        </p:nvSpPr>
        <p:spPr>
          <a:xfrm>
            <a:off x="411480" y="3154680"/>
            <a:ext cx="4983480" cy="2883408"/>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3355848"/>
            <a:ext cx="45811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PİLOT İÇİN DOĞRU MODÜL</a:t>
            </a:r>
          </a:p>
        </p:txBody>
      </p:sp>
      <p:sp>
        <p:nvSpPr>
          <p:cNvPr id="13" name="TextBox 12"/>
          <p:cNvSpPr txBox="1"/>
          <p:nvPr/>
        </p:nvSpPr>
        <p:spPr>
          <a:xfrm>
            <a:off x="612648" y="3739896"/>
            <a:ext cx="4581144" cy="2188464"/>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Arayüzü net, davranışı kapalı formda ifade edilebilen bir blok seç.</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Skid buffer, FIFO, indeks üreteci, basit bir eşleyici — hepsi iyi</a:t>
            </a:r>
          </a:p>
          <a:p>
            <a:pPr algn="l">
              <a:lnSpc>
                <a:spcPct val="112000"/>
              </a:lnSpc>
              <a:spcAft>
                <a:spcPts val="400"/>
              </a:spcAft>
            </a:pPr>
            <a:r>
              <a:rPr sz="1400" b="0" i="0">
                <a:solidFill>
                  <a:srgbClr val="4D4D4D"/>
                </a:solidFill>
                <a:latin typeface="Calibri"/>
              </a:rPr>
              <a:t>aday.</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Kaçın: yarısı bitmemiş, şartnamesi hâlâ tartışılan modüller.</a:t>
            </a:r>
          </a:p>
        </p:txBody>
      </p:sp>
      <p:sp>
        <p:nvSpPr>
          <p:cNvPr id="14" name="Rounded Rectangle 13"/>
          <p:cNvSpPr/>
          <p:nvPr/>
        </p:nvSpPr>
        <p:spPr>
          <a:xfrm>
            <a:off x="5760720" y="3154680"/>
            <a:ext cx="4983480" cy="2434336"/>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61888" y="3355848"/>
            <a:ext cx="4581144" cy="384048"/>
          </a:xfrm>
          <a:prstGeom prst="rect">
            <a:avLst/>
          </a:prstGeom>
          <a:noFill/>
        </p:spPr>
        <p:txBody>
          <a:bodyPr wrap="square" lIns="0" tIns="0" rIns="0" bIns="0">
            <a:spAutoFit/>
          </a:bodyPr>
          <a:lstStyle/>
          <a:p>
            <a:pPr algn="l">
              <a:spcAft>
                <a:spcPts val="600"/>
              </a:spcAft>
            </a:pPr>
            <a:r>
              <a:rPr sz="1700" b="1" i="0">
                <a:solidFill>
                  <a:srgbClr val="FF5620"/>
                </a:solidFill>
                <a:latin typeface="Segoe UI"/>
              </a:rPr>
              <a:t>BAŞARI ÖLÇÜTÜ NE OLMALI?</a:t>
            </a:r>
          </a:p>
        </p:txBody>
      </p:sp>
      <p:sp>
        <p:nvSpPr>
          <p:cNvPr id="16" name="TextBox 15"/>
          <p:cNvSpPr txBox="1"/>
          <p:nvPr/>
        </p:nvSpPr>
        <p:spPr>
          <a:xfrm>
            <a:off x="5961888" y="3739896"/>
            <a:ext cx="4581144" cy="1739392"/>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"Testler geçiyor" değil.</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Doğru ölçüt: RTL'e kasten bir hata soktuğunda testin kırmızıya dönmesi.</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Pilotu bu şekilde bitirirsen ekip, testin ne işe yaradığını tartışmak zorunda kalmaz.</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TUZAK LİSTESİ</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Hepsi bu projede bir kez yaşandı — ikinci kez yaşamanıza gerek yok</a:t>
            </a:r>
          </a:p>
        </p:txBody>
      </p:sp>
      <p:sp>
        <p:nvSpPr>
          <p:cNvPr id="4" name="Oval 3"/>
          <p:cNvSpPr/>
          <p:nvPr/>
        </p:nvSpPr>
        <p:spPr>
          <a:xfrm>
            <a:off x="438912" y="1941896"/>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874519"/>
            <a:ext cx="4709160" cy="472440"/>
          </a:xfrm>
          <a:prstGeom prst="rect">
            <a:avLst/>
          </a:prstGeom>
          <a:noFill/>
        </p:spPr>
        <p:txBody>
          <a:bodyPr wrap="square" lIns="0" tIns="0" rIns="0" bIns="0">
            <a:spAutoFit/>
          </a:bodyPr>
          <a:lstStyle/>
          <a:p>
            <a:pPr algn="l">
              <a:lnSpc>
                <a:spcPct val="118000"/>
              </a:lnSpc>
              <a:spcAft>
                <a:spcPts val="0"/>
              </a:spcAft>
            </a:pPr>
            <a:r>
              <a:rPr sz="1400" b="1">
                <a:solidFill>
                  <a:srgbClr val="002D7A"/>
                </a:solidFill>
                <a:latin typeface="Segoe UI"/>
              </a:rPr>
              <a:t>Sıfır kontrol çağıran test geçer. </a:t>
            </a:r>
            <a:r>
              <a:rPr sz="1400">
                <a:solidFill>
                  <a:srgbClr val="4D4D4D"/>
                </a:solidFill>
                <a:latin typeface="Calibri"/>
              </a:rPr>
              <a:t>Döngüsüne hiç girmeyen bir test yeşil görünür.</a:t>
            </a:r>
          </a:p>
        </p:txBody>
      </p:sp>
      <p:sp>
        <p:nvSpPr>
          <p:cNvPr id="6" name="Oval 5"/>
          <p:cNvSpPr/>
          <p:nvPr/>
        </p:nvSpPr>
        <p:spPr>
          <a:xfrm>
            <a:off x="438912" y="2941640"/>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874264"/>
            <a:ext cx="4709160" cy="472440"/>
          </a:xfrm>
          <a:prstGeom prst="rect">
            <a:avLst/>
          </a:prstGeom>
          <a:noFill/>
        </p:spPr>
        <p:txBody>
          <a:bodyPr wrap="square" lIns="0" tIns="0" rIns="0" bIns="0">
            <a:spAutoFit/>
          </a:bodyPr>
          <a:lstStyle/>
          <a:p>
            <a:pPr algn="l">
              <a:lnSpc>
                <a:spcPct val="118000"/>
              </a:lnSpc>
              <a:spcAft>
                <a:spcPts val="0"/>
              </a:spcAft>
            </a:pPr>
            <a:r>
              <a:rPr sz="1400" b="1">
                <a:solidFill>
                  <a:srgbClr val="002D7A"/>
                </a:solidFill>
                <a:latin typeface="Segoe UI"/>
              </a:rPr>
              <a:t>Testbench yalnızca in portlarını sürer. </a:t>
            </a:r>
            <a:r>
              <a:rPr sz="1400">
                <a:solidFill>
                  <a:srgbClr val="4D4D4D"/>
                </a:solidFill>
                <a:latin typeface="Calibri"/>
              </a:rPr>
              <a:t>DUT çıkışını sürmek sessizce 'X' üretir.</a:t>
            </a:r>
          </a:p>
        </p:txBody>
      </p:sp>
      <p:sp>
        <p:nvSpPr>
          <p:cNvPr id="8" name="Oval 7"/>
          <p:cNvSpPr/>
          <p:nvPr/>
        </p:nvSpPr>
        <p:spPr>
          <a:xfrm>
            <a:off x="438912" y="3941384"/>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3874007"/>
            <a:ext cx="4709160" cy="472440"/>
          </a:xfrm>
          <a:prstGeom prst="rect">
            <a:avLst/>
          </a:prstGeom>
          <a:noFill/>
        </p:spPr>
        <p:txBody>
          <a:bodyPr wrap="square" lIns="0" tIns="0" rIns="0" bIns="0">
            <a:spAutoFit/>
          </a:bodyPr>
          <a:lstStyle/>
          <a:p>
            <a:pPr algn="l">
              <a:lnSpc>
                <a:spcPct val="118000"/>
              </a:lnSpc>
              <a:spcAft>
                <a:spcPts val="0"/>
              </a:spcAft>
            </a:pPr>
            <a:r>
              <a:rPr sz="1400" b="1">
                <a:solidFill>
                  <a:srgbClr val="002D7A"/>
                </a:solidFill>
                <a:latin typeface="Segoe UI"/>
              </a:rPr>
              <a:t>El sıkışma okurken wait for 1 ns koyma. </a:t>
            </a:r>
            <a:r>
              <a:rPr sz="1400">
                <a:solidFill>
                  <a:srgbClr val="4D4D4D"/>
                </a:solidFill>
                <a:latin typeface="Calibri"/>
              </a:rPr>
              <a:t>Bir çevrim ileri kayarsın.</a:t>
            </a:r>
          </a:p>
        </p:txBody>
      </p:sp>
      <p:sp>
        <p:nvSpPr>
          <p:cNvPr id="10" name="Oval 9"/>
          <p:cNvSpPr/>
          <p:nvPr/>
        </p:nvSpPr>
        <p:spPr>
          <a:xfrm>
            <a:off x="438912" y="4941128"/>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4873752"/>
            <a:ext cx="4709160" cy="472440"/>
          </a:xfrm>
          <a:prstGeom prst="rect">
            <a:avLst/>
          </a:prstGeom>
          <a:noFill/>
        </p:spPr>
        <p:txBody>
          <a:bodyPr wrap="square" lIns="0" tIns="0" rIns="0" bIns="0">
            <a:spAutoFit/>
          </a:bodyPr>
          <a:lstStyle/>
          <a:p>
            <a:pPr algn="l">
              <a:lnSpc>
                <a:spcPct val="118000"/>
              </a:lnSpc>
              <a:spcAft>
                <a:spcPts val="0"/>
              </a:spcAft>
            </a:pPr>
            <a:r>
              <a:rPr sz="1400" b="1">
                <a:solidFill>
                  <a:srgbClr val="002D7A"/>
                </a:solidFill>
                <a:latin typeface="Segoe UI"/>
              </a:rPr>
              <a:t>Kendi sürdüğün sinyali kontrol etme. </a:t>
            </a:r>
            <a:r>
              <a:rPr sz="1400">
                <a:solidFill>
                  <a:srgbClr val="4D4D4D"/>
                </a:solidFill>
                <a:latin typeface="Calibri"/>
              </a:rPr>
              <a:t>DUT sökülse bile geçen test bir şey ölçmez.</a:t>
            </a:r>
          </a:p>
        </p:txBody>
      </p:sp>
      <p:sp>
        <p:nvSpPr>
          <p:cNvPr id="12" name="Oval 11"/>
          <p:cNvSpPr/>
          <p:nvPr/>
        </p:nvSpPr>
        <p:spPr>
          <a:xfrm>
            <a:off x="5788152" y="1941896"/>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35040" y="1874519"/>
            <a:ext cx="4709160" cy="472440"/>
          </a:xfrm>
          <a:prstGeom prst="rect">
            <a:avLst/>
          </a:prstGeom>
          <a:noFill/>
        </p:spPr>
        <p:txBody>
          <a:bodyPr wrap="square" lIns="0" tIns="0" rIns="0" bIns="0">
            <a:spAutoFit/>
          </a:bodyPr>
          <a:lstStyle/>
          <a:p>
            <a:pPr algn="l">
              <a:lnSpc>
                <a:spcPct val="118000"/>
              </a:lnSpc>
              <a:spcAft>
                <a:spcPts val="0"/>
              </a:spcAft>
            </a:pPr>
            <a:r>
              <a:rPr sz="1400" b="1">
                <a:solidFill>
                  <a:srgbClr val="002D7A"/>
                </a:solidFill>
                <a:latin typeface="Segoe UI"/>
              </a:rPr>
              <a:t>Göreli --wave yolu testleri birbirine ezdirir. </a:t>
            </a:r>
            <a:r>
              <a:rPr sz="1400">
                <a:solidFill>
                  <a:srgbClr val="4D4D4D"/>
                </a:solidFill>
                <a:latin typeface="Calibri"/>
              </a:rPr>
              <a:t>Test başına ayrı dosya adı ver.</a:t>
            </a:r>
          </a:p>
        </p:txBody>
      </p:sp>
      <p:sp>
        <p:nvSpPr>
          <p:cNvPr id="14" name="Oval 13"/>
          <p:cNvSpPr/>
          <p:nvPr/>
        </p:nvSpPr>
        <p:spPr>
          <a:xfrm>
            <a:off x="5788152" y="2941640"/>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35040" y="2874264"/>
            <a:ext cx="4709160" cy="472440"/>
          </a:xfrm>
          <a:prstGeom prst="rect">
            <a:avLst/>
          </a:prstGeom>
          <a:noFill/>
        </p:spPr>
        <p:txBody>
          <a:bodyPr wrap="square" lIns="0" tIns="0" rIns="0" bIns="0">
            <a:spAutoFit/>
          </a:bodyPr>
          <a:lstStyle/>
          <a:p>
            <a:pPr algn="l">
              <a:lnSpc>
                <a:spcPct val="118000"/>
              </a:lnSpc>
              <a:spcAft>
                <a:spcPts val="0"/>
              </a:spcAft>
            </a:pPr>
            <a:r>
              <a:rPr sz="1400" b="1">
                <a:solidFill>
                  <a:srgbClr val="002D7A"/>
                </a:solidFill>
                <a:latin typeface="Segoe UI"/>
              </a:rPr>
              <a:t>add_config dizi generic geçiremez. </a:t>
            </a:r>
            <a:r>
              <a:rPr sz="1400">
                <a:solidFill>
                  <a:srgbClr val="4D4D4D"/>
                </a:solidFill>
                <a:latin typeface="Calibri"/>
              </a:rPr>
              <a:t>Katsayılar üretilmiş bir pakete konur.</a:t>
            </a:r>
          </a:p>
        </p:txBody>
      </p:sp>
      <p:sp>
        <p:nvSpPr>
          <p:cNvPr id="16" name="Oval 15"/>
          <p:cNvSpPr/>
          <p:nvPr/>
        </p:nvSpPr>
        <p:spPr>
          <a:xfrm>
            <a:off x="5788152" y="3941384"/>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35040" y="3874007"/>
            <a:ext cx="4709160" cy="472440"/>
          </a:xfrm>
          <a:prstGeom prst="rect">
            <a:avLst/>
          </a:prstGeom>
          <a:noFill/>
        </p:spPr>
        <p:txBody>
          <a:bodyPr wrap="square" lIns="0" tIns="0" rIns="0" bIns="0">
            <a:spAutoFit/>
          </a:bodyPr>
          <a:lstStyle/>
          <a:p>
            <a:pPr algn="l">
              <a:lnSpc>
                <a:spcPct val="118000"/>
              </a:lnSpc>
              <a:spcAft>
                <a:spcPts val="0"/>
              </a:spcAft>
            </a:pPr>
            <a:r>
              <a:rPr sz="1400" b="1">
                <a:solidFill>
                  <a:srgbClr val="002D7A"/>
                </a:solidFill>
                <a:latin typeface="Segoe UI"/>
              </a:rPr>
              <a:t>VC'ler areset_n ister. </a:t>
            </a:r>
            <a:r>
              <a:rPr sz="1400">
                <a:solidFill>
                  <a:srgbClr val="4D4D4D"/>
                </a:solidFill>
                <a:latin typeface="Calibri"/>
              </a:rPr>
              <a:t>Senkron aktif-yüksek reset kullanıyorsan ters çevir.</a:t>
            </a:r>
          </a:p>
        </p:txBody>
      </p:sp>
      <p:sp>
        <p:nvSpPr>
          <p:cNvPr id="18" name="Oval 17"/>
          <p:cNvSpPr/>
          <p:nvPr/>
        </p:nvSpPr>
        <p:spPr>
          <a:xfrm>
            <a:off x="5788152" y="4941128"/>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35040" y="4873752"/>
            <a:ext cx="4709160" cy="472440"/>
          </a:xfrm>
          <a:prstGeom prst="rect">
            <a:avLst/>
          </a:prstGeom>
          <a:noFill/>
        </p:spPr>
        <p:txBody>
          <a:bodyPr wrap="square" lIns="0" tIns="0" rIns="0" bIns="0">
            <a:spAutoFit/>
          </a:bodyPr>
          <a:lstStyle/>
          <a:p>
            <a:pPr algn="l">
              <a:lnSpc>
                <a:spcPct val="118000"/>
              </a:lnSpc>
              <a:spcAft>
                <a:spcPts val="0"/>
              </a:spcAft>
            </a:pPr>
            <a:r>
              <a:rPr sz="1400" b="1">
                <a:solidFill>
                  <a:srgbClr val="002D7A"/>
                </a:solidFill>
                <a:latin typeface="Segoe UI"/>
              </a:rPr>
              <a:t>stall_pkg diye bir paket yok. </a:t>
            </a:r>
            <a:r>
              <a:rPr sz="1400">
                <a:solidFill>
                  <a:srgbClr val="4D4D4D"/>
                </a:solidFill>
                <a:latin typeface="Calibri"/>
              </a:rPr>
              <a:t>stall_config_t zaten axi_stream_pkg'den görünür.</a:t>
            </a:r>
          </a:p>
        </p:txBody>
      </p:sp>
      <p:sp>
        <p:nvSpPr>
          <p:cNvPr id="20" name="TextBox 19"/>
          <p:cNvSpPr txBox="1"/>
          <p:nvPr/>
        </p:nvSpPr>
        <p:spPr>
          <a:xfrm>
            <a:off x="411480" y="5946648"/>
            <a:ext cx="10332720" cy="411480"/>
          </a:xfrm>
          <a:prstGeom prst="rect">
            <a:avLst/>
          </a:prstGeom>
          <a:noFill/>
        </p:spPr>
        <p:txBody>
          <a:bodyPr wrap="square" lIns="0" tIns="0" rIns="0" bIns="0">
            <a:spAutoFit/>
          </a:bodyPr>
          <a:lstStyle/>
          <a:p>
            <a:pPr algn="l">
              <a:spcAft>
                <a:spcPts val="600"/>
              </a:spcAft>
            </a:pPr>
            <a:r>
              <a:rPr sz="1600" b="1" i="0">
                <a:solidFill>
                  <a:srgbClr val="FF5620"/>
                </a:solidFill>
                <a:latin typeface="Segoe UI Semibold"/>
              </a:rPr>
              <a:t>Ortak nokta: sekizinin de belirtisi "test geçti".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217920"/>
          </a:xfrm>
          <a:prstGeom prst="rect">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2240280"/>
            <a:ext cx="2011680" cy="1280160"/>
          </a:xfrm>
          <a:prstGeom prst="rect">
            <a:avLst/>
          </a:prstGeom>
          <a:noFill/>
        </p:spPr>
        <p:txBody>
          <a:bodyPr wrap="square" lIns="0" tIns="0" rIns="0" bIns="0">
            <a:spAutoFit/>
          </a:bodyPr>
          <a:lstStyle/>
          <a:p>
            <a:pPr algn="l">
              <a:spcAft>
                <a:spcPts val="600"/>
              </a:spcAft>
            </a:pPr>
            <a:r>
              <a:rPr sz="8400" b="1" i="0">
                <a:solidFill>
                  <a:srgbClr val="FF5620"/>
                </a:solidFill>
                <a:latin typeface="Segoe UI Black"/>
              </a:rPr>
              <a:t>05</a:t>
            </a:r>
          </a:p>
        </p:txBody>
      </p:sp>
      <p:sp>
        <p:nvSpPr>
          <p:cNvPr id="4" name="TextBox 3"/>
          <p:cNvSpPr txBox="1"/>
          <p:nvPr/>
        </p:nvSpPr>
        <p:spPr>
          <a:xfrm>
            <a:off x="1188720" y="3520440"/>
            <a:ext cx="9326880" cy="868680"/>
          </a:xfrm>
          <a:prstGeom prst="rect">
            <a:avLst/>
          </a:prstGeom>
          <a:noFill/>
        </p:spPr>
        <p:txBody>
          <a:bodyPr wrap="square" lIns="0" tIns="0" rIns="0" bIns="0">
            <a:spAutoFit/>
          </a:bodyPr>
          <a:lstStyle/>
          <a:p>
            <a:pPr algn="l">
              <a:spcAft>
                <a:spcPts val="600"/>
              </a:spcAft>
            </a:pPr>
            <a:r>
              <a:rPr sz="3600" b="1" i="0">
                <a:solidFill>
                  <a:srgbClr val="FFFFFF"/>
                </a:solidFill>
                <a:latin typeface="Segoe UI Black"/>
              </a:rPr>
              <a:t>TAM ÖRNEK: RB_MAPPER</a:t>
            </a:r>
          </a:p>
        </p:txBody>
      </p:sp>
      <p:sp>
        <p:nvSpPr>
          <p:cNvPr id="5" name="TextBox 4"/>
          <p:cNvSpPr txBox="1"/>
          <p:nvPr/>
        </p:nvSpPr>
        <p:spPr>
          <a:xfrm>
            <a:off x="1234440" y="4434840"/>
            <a:ext cx="8778240" cy="822960"/>
          </a:xfrm>
          <a:prstGeom prst="rect">
            <a:avLst/>
          </a:prstGeom>
          <a:noFill/>
        </p:spPr>
        <p:txBody>
          <a:bodyPr wrap="square" lIns="0" tIns="0" rIns="0" bIns="0">
            <a:spAutoFit/>
          </a:bodyPr>
          <a:lstStyle/>
          <a:p>
            <a:pPr algn="l">
              <a:spcAft>
                <a:spcPts val="600"/>
              </a:spcAft>
            </a:pPr>
            <a:r>
              <a:rPr sz="1800" b="0" i="0">
                <a:solidFill>
                  <a:srgbClr val="C5D3EC"/>
                </a:solidFill>
                <a:latin typeface="Calibri"/>
              </a:rPr>
              <a:t>Baştan sona bir testbench — sözleşmeden mutasyon kontrolüne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RB_MAPPER: TASARIM SÖZLEŞMESİ</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Testi yazmadan önce cevaplanması gereken tek soru: ne vaat ediliyor?</a:t>
            </a:r>
          </a:p>
        </p:txBody>
      </p:sp>
      <p:sp>
        <p:nvSpPr>
          <p:cNvPr id="4" name="Rounded Rectangle 3"/>
          <p:cNvSpPr/>
          <p:nvPr/>
        </p:nvSpPr>
        <p:spPr>
          <a:xfrm>
            <a:off x="411480" y="1920240"/>
            <a:ext cx="5760720" cy="2966085"/>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103120"/>
            <a:ext cx="5394959" cy="2600325"/>
          </a:xfrm>
          <a:prstGeom prst="rect">
            <a:avLst/>
          </a:prstGeom>
          <a:noFill/>
        </p:spPr>
        <p:txBody>
          <a:bodyPr wrap="square" lIns="0" tIns="0" rIns="0" bIns="0">
            <a:spAutoFit/>
          </a:bodyPr>
          <a:lstStyle/>
          <a:p>
            <a:pPr algn="l">
              <a:lnSpc>
                <a:spcPct val="115000"/>
              </a:lnSpc>
              <a:spcAft>
                <a:spcPts val="0"/>
              </a:spcAft>
            </a:pPr>
            <a:r>
              <a:rPr sz="1050" i="0">
                <a:solidFill>
                  <a:srgbClr val="1C273A"/>
                </a:solidFill>
                <a:latin typeface="Consolas"/>
              </a:rPr>
              <a:t>entity rb_mapper is</a:t>
            </a:r>
          </a:p>
          <a:p>
            <a:pPr algn="l">
              <a:lnSpc>
                <a:spcPct val="115000"/>
              </a:lnSpc>
              <a:spcAft>
                <a:spcPts val="0"/>
              </a:spcAft>
            </a:pPr>
            <a:r>
              <a:rPr sz="1050" i="0">
                <a:solidFill>
                  <a:srgbClr val="1C273A"/>
                </a:solidFill>
                <a:latin typeface="Consolas"/>
              </a:rPr>
              <a:t>  generic (DATA_WIDTH   : positive := 32;</a:t>
            </a:r>
          </a:p>
          <a:p>
            <a:pPr algn="l">
              <a:lnSpc>
                <a:spcPct val="115000"/>
              </a:lnSpc>
              <a:spcAft>
                <a:spcPts val="0"/>
              </a:spcAft>
            </a:pPr>
            <a:r>
              <a:rPr sz="1050" i="0">
                <a:solidFill>
                  <a:srgbClr val="1C273A"/>
                </a:solidFill>
                <a:latin typeface="Consolas"/>
              </a:rPr>
              <a:t>           TUSER_WIDTH  : positive := 16;</a:t>
            </a:r>
          </a:p>
          <a:p>
            <a:pPr algn="l">
              <a:lnSpc>
                <a:spcPct val="115000"/>
              </a:lnSpc>
              <a:spcAft>
                <a:spcPts val="0"/>
              </a:spcAft>
            </a:pPr>
            <a:r>
              <a:rPr sz="1050" i="0">
                <a:solidFill>
                  <a:srgbClr val="1C273A"/>
                </a:solidFill>
                <a:latin typeface="Consolas"/>
              </a:rPr>
              <a:t>           CONFIG_WIDTH : positive := 32);</a:t>
            </a:r>
          </a:p>
          <a:p>
            <a:pPr algn="l">
              <a:lnSpc>
                <a:spcPct val="115000"/>
              </a:lnSpc>
              <a:spcAft>
                <a:spcPts val="0"/>
              </a:spcAft>
            </a:pPr>
            <a:r>
              <a:rPr sz="1050" i="0">
                <a:solidFill>
                  <a:srgbClr val="1C273A"/>
                </a:solidFill>
                <a:latin typeface="Consolas"/>
              </a:rPr>
              <a:t>  port (</a:t>
            </a:r>
          </a:p>
          <a:p>
            <a:pPr algn="l">
              <a:lnSpc>
                <a:spcPct val="115000"/>
              </a:lnSpc>
              <a:spcAft>
                <a:spcPts val="0"/>
              </a:spcAft>
            </a:pPr>
            <a:r>
              <a:rPr sz="1050" i="0">
                <a:solidFill>
                  <a:srgbClr val="1C273A"/>
                </a:solidFill>
                <a:latin typeface="Consolas"/>
              </a:rPr>
              <a:t>    clk, rst_n          : in  std_logic;</a:t>
            </a:r>
          </a:p>
          <a:p>
            <a:pPr algn="l">
              <a:lnSpc>
                <a:spcPct val="115000"/>
              </a:lnSpc>
              <a:spcAft>
                <a:spcPts val="0"/>
              </a:spcAft>
            </a:pPr>
            <a:r>
              <a:rPr sz="1050" i="1">
                <a:solidFill>
                  <a:srgbClr val="7A8699"/>
                </a:solidFill>
                <a:latin typeface="Consolas"/>
              </a:rPr>
              <a:t>    -- konfigurasyon: sc_count ve sym_count</a:t>
            </a:r>
          </a:p>
          <a:p>
            <a:pPr algn="l">
              <a:lnSpc>
                <a:spcPct val="115000"/>
              </a:lnSpc>
              <a:spcAft>
                <a:spcPts val="0"/>
              </a:spcAft>
            </a:pPr>
            <a:r>
              <a:rPr sz="1050" i="0">
                <a:solidFill>
                  <a:srgbClr val="1C273A"/>
                </a:solidFill>
                <a:latin typeface="Consolas"/>
              </a:rPr>
              <a:t>    s_axi_config_tdata  : in  std_logic_vector(...);</a:t>
            </a:r>
          </a:p>
          <a:p>
            <a:pPr algn="l">
              <a:lnSpc>
                <a:spcPct val="115000"/>
              </a:lnSpc>
              <a:spcAft>
                <a:spcPts val="0"/>
              </a:spcAft>
            </a:pPr>
            <a:r>
              <a:rPr sz="1050" i="0">
                <a:solidFill>
                  <a:srgbClr val="1C273A"/>
                </a:solidFill>
                <a:latin typeface="Consolas"/>
              </a:rPr>
              <a:t>    s_axi_config_tvalid : in  std_logic;</a:t>
            </a:r>
          </a:p>
          <a:p>
            <a:pPr algn="l">
              <a:lnSpc>
                <a:spcPct val="115000"/>
              </a:lnSpc>
              <a:spcAft>
                <a:spcPts val="0"/>
              </a:spcAft>
            </a:pPr>
            <a:r>
              <a:rPr sz="1050" i="1">
                <a:solidFill>
                  <a:srgbClr val="7A8699"/>
                </a:solidFill>
                <a:latin typeface="Consolas"/>
              </a:rPr>
              <a:t>    -- giris akisi</a:t>
            </a:r>
          </a:p>
          <a:p>
            <a:pPr algn="l">
              <a:lnSpc>
                <a:spcPct val="115000"/>
              </a:lnSpc>
              <a:spcAft>
                <a:spcPts val="0"/>
              </a:spcAft>
            </a:pPr>
            <a:r>
              <a:rPr sz="1050" i="0">
                <a:solidFill>
                  <a:srgbClr val="1C273A"/>
                </a:solidFill>
                <a:latin typeface="Consolas"/>
              </a:rPr>
              <a:t>    s_axis_tdata, s_axis_tvalid, s_axis_tlast  : in  ...;</a:t>
            </a:r>
          </a:p>
          <a:p>
            <a:pPr algn="l">
              <a:lnSpc>
                <a:spcPct val="115000"/>
              </a:lnSpc>
              <a:spcAft>
                <a:spcPts val="0"/>
              </a:spcAft>
            </a:pPr>
            <a:r>
              <a:rPr sz="1050" i="0">
                <a:solidFill>
                  <a:srgbClr val="1C273A"/>
                </a:solidFill>
                <a:latin typeface="Consolas"/>
              </a:rPr>
              <a:t>    s_axis_tready       : out std_logic;</a:t>
            </a:r>
          </a:p>
          <a:p>
            <a:pPr algn="l">
              <a:lnSpc>
                <a:spcPct val="115000"/>
              </a:lnSpc>
              <a:spcAft>
                <a:spcPts val="0"/>
              </a:spcAft>
            </a:pPr>
            <a:r>
              <a:rPr sz="1050" i="1">
                <a:solidFill>
                  <a:srgbClr val="7A8699"/>
                </a:solidFill>
                <a:latin typeface="Consolas"/>
              </a:rPr>
              <a:t>    -- cikis akisi + damgalanmis tuser</a:t>
            </a:r>
          </a:p>
          <a:p>
            <a:pPr algn="l">
              <a:lnSpc>
                <a:spcPct val="115000"/>
              </a:lnSpc>
              <a:spcAft>
                <a:spcPts val="0"/>
              </a:spcAft>
            </a:pPr>
            <a:r>
              <a:rPr sz="1050" i="0">
                <a:solidFill>
                  <a:srgbClr val="1C273A"/>
                </a:solidFill>
                <a:latin typeface="Consolas"/>
              </a:rPr>
              <a:t>    m_axis_tdata, m_axis_tvalid, m_axis_tlast  : out ...;</a:t>
            </a:r>
          </a:p>
          <a:p>
            <a:pPr algn="l">
              <a:lnSpc>
                <a:spcPct val="115000"/>
              </a:lnSpc>
              <a:spcAft>
                <a:spcPts val="0"/>
              </a:spcAft>
            </a:pPr>
            <a:r>
              <a:rPr sz="1050" i="0">
                <a:solidFill>
                  <a:srgbClr val="1C273A"/>
                </a:solidFill>
                <a:latin typeface="Consolas"/>
              </a:rPr>
              <a:t>    m_axis_tuser        : out std_logic_vector(...));</a:t>
            </a:r>
          </a:p>
        </p:txBody>
      </p:sp>
      <p:sp>
        <p:nvSpPr>
          <p:cNvPr id="6" name="Rounded Rectangle 5"/>
          <p:cNvSpPr/>
          <p:nvPr/>
        </p:nvSpPr>
        <p:spPr>
          <a:xfrm>
            <a:off x="6446520" y="1920240"/>
            <a:ext cx="4297680" cy="329184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647688" y="2121408"/>
            <a:ext cx="38953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SÖZLEŞME ÜÇ PARÇA</a:t>
            </a:r>
          </a:p>
        </p:txBody>
      </p:sp>
      <p:sp>
        <p:nvSpPr>
          <p:cNvPr id="8" name="TextBox 7"/>
          <p:cNvSpPr txBox="1"/>
          <p:nvPr/>
        </p:nvSpPr>
        <p:spPr>
          <a:xfrm>
            <a:off x="6647688" y="2505456"/>
            <a:ext cx="3895344" cy="2489200"/>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1.  tdata ve tlast doğrudan geçer</a:t>
            </a:r>
          </a:p>
          <a:p>
            <a:pPr algn="l">
              <a:lnSpc>
                <a:spcPct val="112000"/>
              </a:lnSpc>
              <a:spcAft>
                <a:spcPts val="400"/>
              </a:spcAft>
            </a:pPr>
            <a:r>
              <a:rPr sz="1400" b="0" i="0">
                <a:solidFill>
                  <a:srgbClr val="4D4D4D"/>
                </a:solidFill>
                <a:latin typeface="Calibri"/>
              </a:rPr>
              <a:t>     (pass-through)</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2.  tuser = { sym_index[7:0], sc_index[7:0] }</a:t>
            </a:r>
          </a:p>
          <a:p>
            <a:pPr algn="l">
              <a:lnSpc>
                <a:spcPct val="112000"/>
              </a:lnSpc>
              <a:spcAft>
                <a:spcPts val="400"/>
              </a:spcAft>
            </a:pPr>
            <a:r>
              <a:rPr sz="1400" b="0" i="0">
                <a:solidFill>
                  <a:srgbClr val="4D4D4D"/>
                </a:solidFill>
                <a:latin typeface="Calibri"/>
              </a:rPr>
              <a:t>     beat kabul edilmeden önceki indeksle</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3.  sc önce artar; sc_count'a varınca</a:t>
            </a:r>
          </a:p>
          <a:p>
            <a:pPr algn="l">
              <a:lnSpc>
                <a:spcPct val="112000"/>
              </a:lnSpc>
              <a:spcAft>
                <a:spcPts val="400"/>
              </a:spcAft>
            </a:pPr>
            <a:r>
              <a:rPr sz="1400" b="0" i="0">
                <a:solidFill>
                  <a:srgbClr val="4D4D4D"/>
                </a:solidFill>
                <a:latin typeface="Calibri"/>
              </a:rPr>
              <a:t>     sıfırlanır ve sym artar</a:t>
            </a:r>
          </a:p>
        </p:txBody>
      </p:sp>
      <p:sp>
        <p:nvSpPr>
          <p:cNvPr id="9" name="Rounded Rectangle 8"/>
          <p:cNvSpPr/>
          <p:nvPr/>
        </p:nvSpPr>
        <p:spPr>
          <a:xfrm>
            <a:off x="411480" y="5394960"/>
            <a:ext cx="10332720" cy="685800"/>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67512" y="5532120"/>
            <a:ext cx="9784080" cy="457200"/>
          </a:xfrm>
          <a:prstGeom prst="rect">
            <a:avLst/>
          </a:prstGeom>
          <a:noFill/>
        </p:spPr>
        <p:txBody>
          <a:bodyPr wrap="square" lIns="0" tIns="0" rIns="0" bIns="0">
            <a:spAutoFit/>
          </a:bodyPr>
          <a:lstStyle/>
          <a:p>
            <a:pPr algn="l">
              <a:spcAft>
                <a:spcPts val="600"/>
              </a:spcAft>
            </a:pPr>
            <a:r>
              <a:rPr sz="1500" b="1" i="0">
                <a:solidFill>
                  <a:srgbClr val="FF5620"/>
                </a:solidFill>
                <a:latin typeface="Segoe UI Semibold"/>
              </a:rPr>
              <a:t>Asıl doğrulanan çıktı tuser dizisi. tdata yalnızca beat'lerin sırasını takip etmek için var.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TEST PLANI</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Her test bir hata sınıfına karşılık gelir — süs test yok</a:t>
            </a:r>
          </a:p>
        </p:txBody>
      </p:sp>
      <p:graphicFrame>
        <p:nvGraphicFramePr>
          <p:cNvPr id="4" name="Table 3"/>
          <p:cNvGraphicFramePr>
            <a:graphicFrameLocks noGrp="1"/>
          </p:cNvGraphicFramePr>
          <p:nvPr/>
        </p:nvGraphicFramePr>
        <p:xfrm>
          <a:off x="411480" y="1965960"/>
          <a:ext cx="10332719" cy="2743200"/>
        </p:xfrm>
        <a:graphic>
          <a:graphicData uri="http://schemas.openxmlformats.org/drawingml/2006/table">
            <a:tbl>
              <a:tblPr firstRow="1" bandRow="1">
                <a:tableStyleId>{5C22544A-7EE6-4342-B048-85BDC9FD1C3A}</a:tableStyleId>
              </a:tblPr>
              <a:tblGrid>
                <a:gridCol w="3409797">
                  <a:extLst>
                    <a:ext uri="{9D8B030D-6E8A-4147-A177-3AD203B41FA5}">
                      <a16:colId xmlns:a16="http://schemas.microsoft.com/office/drawing/2014/main" val="20000"/>
                    </a:ext>
                  </a:extLst>
                </a:gridCol>
                <a:gridCol w="4856378">
                  <a:extLst>
                    <a:ext uri="{9D8B030D-6E8A-4147-A177-3AD203B41FA5}">
                      <a16:colId xmlns:a16="http://schemas.microsoft.com/office/drawing/2014/main" val="20001"/>
                    </a:ext>
                  </a:extLst>
                </a:gridCol>
                <a:gridCol w="2066544">
                  <a:extLst>
                    <a:ext uri="{9D8B030D-6E8A-4147-A177-3AD203B41FA5}">
                      <a16:colId xmlns:a16="http://schemas.microsoft.com/office/drawing/2014/main" val="20002"/>
                    </a:ext>
                  </a:extLst>
                </a:gridCol>
              </a:tblGrid>
              <a:tr h="365760">
                <a:tc>
                  <a:txBody>
                    <a:bodyPr/>
                    <a:lstStyle/>
                    <a:p>
                      <a:pPr algn="l">
                        <a:spcAft>
                          <a:spcPts val="0"/>
                        </a:spcAft>
                      </a:pPr>
                      <a:r>
                        <a:rPr sz="1350" b="1" i="0">
                          <a:solidFill>
                            <a:srgbClr val="FFFFFF"/>
                          </a:solidFill>
                          <a:latin typeface="Segoe UI Semibold"/>
                        </a:rPr>
                        <a:t>Test adı</a:t>
                      </a:r>
                    </a:p>
                  </a:txBody>
                  <a:tcPr marR="73152" marT="27432" marB="27432" anchor="ctr">
                    <a:solidFill>
                      <a:srgbClr val="002D7A"/>
                    </a:solidFill>
                  </a:tcPr>
                </a:tc>
                <a:tc>
                  <a:txBody>
                    <a:bodyPr/>
                    <a:lstStyle/>
                    <a:p>
                      <a:pPr algn="l">
                        <a:spcAft>
                          <a:spcPts val="0"/>
                        </a:spcAft>
                      </a:pPr>
                      <a:r>
                        <a:rPr sz="1350" b="1" i="0">
                          <a:solidFill>
                            <a:srgbClr val="FFFFFF"/>
                          </a:solidFill>
                          <a:latin typeface="Segoe UI Semibold"/>
                        </a:rPr>
                        <a:t>Ne kanıtlar</a:t>
                      </a:r>
                    </a:p>
                  </a:txBody>
                  <a:tcPr marR="73152" marT="27432" marB="27432" anchor="ctr">
                    <a:solidFill>
                      <a:srgbClr val="002D7A"/>
                    </a:solidFill>
                  </a:tcPr>
                </a:tc>
                <a:tc>
                  <a:txBody>
                    <a:bodyPr/>
                    <a:lstStyle/>
                    <a:p>
                      <a:pPr algn="l">
                        <a:spcAft>
                          <a:spcPts val="0"/>
                        </a:spcAft>
                      </a:pPr>
                      <a:r>
                        <a:rPr sz="1350" b="1" i="0">
                          <a:solidFill>
                            <a:srgbClr val="FFFFFF"/>
                          </a:solidFill>
                          <a:latin typeface="Segoe UI Semibold"/>
                        </a:rPr>
                        <a:t>Türü</a:t>
                      </a:r>
                    </a:p>
                  </a:txBody>
                  <a:tcPr marR="73152" marT="27432" marB="27432" anchor="ctr">
                    <a:solidFill>
                      <a:srgbClr val="002D7A"/>
                    </a:solidFill>
                  </a:tcPr>
                </a:tc>
                <a:extLst>
                  <a:ext uri="{0D108BD9-81ED-4DB2-BD59-A6C34878D82A}">
                    <a16:rowId xmlns:a16="http://schemas.microsoft.com/office/drawing/2014/main" val="10000"/>
                  </a:ext>
                </a:extLst>
              </a:tr>
              <a:tr h="475488">
                <a:tc>
                  <a:txBody>
                    <a:bodyPr/>
                    <a:lstStyle/>
                    <a:p>
                      <a:pPr algn="l">
                        <a:spcAft>
                          <a:spcPts val="0"/>
                        </a:spcAft>
                      </a:pPr>
                      <a:r>
                        <a:rPr sz="1350" b="0" i="0">
                          <a:solidFill>
                            <a:srgbClr val="4D4D4D"/>
                          </a:solidFill>
                          <a:latin typeface="Calibri"/>
                        </a:rPr>
                        <a:t>config_sc4_sym2</a:t>
                      </a:r>
                    </a:p>
                  </a:txBody>
                  <a:tcPr marR="73152" marT="27432" marB="27432" anchor="ctr">
                    <a:solidFill>
                      <a:srgbClr val="FFFFFF"/>
                    </a:solidFill>
                  </a:tcPr>
                </a:tc>
                <a:tc>
                  <a:txBody>
                    <a:bodyPr/>
                    <a:lstStyle/>
                    <a:p>
                      <a:pPr algn="l">
                        <a:spcAft>
                          <a:spcPts val="0"/>
                        </a:spcAft>
                      </a:pPr>
                      <a:r>
                        <a:rPr sz="1350" b="0" i="0">
                          <a:solidFill>
                            <a:srgbClr val="4D4D4D"/>
                          </a:solidFill>
                          <a:latin typeface="Calibri"/>
                        </a:rPr>
                        <a:t>Temel eşleme: elle hesaplanmış tuser dizisi</a:t>
                      </a:r>
                    </a:p>
                  </a:txBody>
                  <a:tcPr marR="73152" marT="27432" marB="27432" anchor="ctr">
                    <a:solidFill>
                      <a:srgbClr val="FFFFFF"/>
                    </a:solidFill>
                  </a:tcPr>
                </a:tc>
                <a:tc>
                  <a:txBody>
                    <a:bodyPr/>
                    <a:lstStyle/>
                    <a:p>
                      <a:pPr algn="l">
                        <a:spcAft>
                          <a:spcPts val="0"/>
                        </a:spcAft>
                      </a:pPr>
                      <a:r>
                        <a:rPr sz="1350" b="0" i="0">
                          <a:solidFill>
                            <a:srgbClr val="4D4D4D"/>
                          </a:solidFill>
                          <a:latin typeface="Calibri"/>
                        </a:rPr>
                        <a:t>Prosedürel</a:t>
                      </a:r>
                    </a:p>
                  </a:txBody>
                  <a:tcPr marR="73152" marT="27432" marB="27432" anchor="ctr">
                    <a:solidFill>
                      <a:srgbClr val="FFFFFF"/>
                    </a:solidFill>
                  </a:tcPr>
                </a:tc>
                <a:extLst>
                  <a:ext uri="{0D108BD9-81ED-4DB2-BD59-A6C34878D82A}">
                    <a16:rowId xmlns:a16="http://schemas.microsoft.com/office/drawing/2014/main" val="10001"/>
                  </a:ext>
                </a:extLst>
              </a:tr>
              <a:tr h="475488">
                <a:tc>
                  <a:txBody>
                    <a:bodyPr/>
                    <a:lstStyle/>
                    <a:p>
                      <a:pPr algn="l">
                        <a:spcAft>
                          <a:spcPts val="0"/>
                        </a:spcAft>
                      </a:pPr>
                      <a:r>
                        <a:rPr sz="1350" b="0" i="0">
                          <a:solidFill>
                            <a:srgbClr val="4D4D4D"/>
                          </a:solidFill>
                          <a:latin typeface="Calibri"/>
                        </a:rPr>
                        <a:t>tlast_indeksi_sifirlar</a:t>
                      </a:r>
                    </a:p>
                  </a:txBody>
                  <a:tcPr marR="73152" marT="27432" marB="27432" anchor="ctr">
                    <a:solidFill>
                      <a:srgbClr val="F1F4F9"/>
                    </a:solidFill>
                  </a:tcPr>
                </a:tc>
                <a:tc>
                  <a:txBody>
                    <a:bodyPr/>
                    <a:lstStyle/>
                    <a:p>
                      <a:pPr algn="l">
                        <a:spcAft>
                          <a:spcPts val="0"/>
                        </a:spcAft>
                      </a:pPr>
                      <a:r>
                        <a:rPr sz="1350" b="0" i="0">
                          <a:solidFill>
                            <a:srgbClr val="4D4D4D"/>
                          </a:solidFill>
                          <a:latin typeface="Calibri"/>
                        </a:rPr>
                        <a:t>Çerçeve sonunda indeksler sıfırlanır</a:t>
                      </a:r>
                    </a:p>
                  </a:txBody>
                  <a:tcPr marR="73152" marT="27432" marB="27432" anchor="ctr">
                    <a:solidFill>
                      <a:srgbClr val="F1F4F9"/>
                    </a:solidFill>
                  </a:tcPr>
                </a:tc>
                <a:tc>
                  <a:txBody>
                    <a:bodyPr/>
                    <a:lstStyle/>
                    <a:p>
                      <a:pPr algn="l">
                        <a:spcAft>
                          <a:spcPts val="0"/>
                        </a:spcAft>
                      </a:pPr>
                      <a:r>
                        <a:rPr sz="1350" b="0" i="0">
                          <a:solidFill>
                            <a:srgbClr val="4D4D4D"/>
                          </a:solidFill>
                          <a:latin typeface="Calibri"/>
                        </a:rPr>
                        <a:t>Prosedürel</a:t>
                      </a:r>
                    </a:p>
                  </a:txBody>
                  <a:tcPr marR="73152" marT="27432" marB="27432" anchor="ctr">
                    <a:solidFill>
                      <a:srgbClr val="F1F4F9"/>
                    </a:solidFill>
                  </a:tcPr>
                </a:tc>
                <a:extLst>
                  <a:ext uri="{0D108BD9-81ED-4DB2-BD59-A6C34878D82A}">
                    <a16:rowId xmlns:a16="http://schemas.microsoft.com/office/drawing/2014/main" val="10002"/>
                  </a:ext>
                </a:extLst>
              </a:tr>
              <a:tr h="475488">
                <a:tc>
                  <a:txBody>
                    <a:bodyPr/>
                    <a:lstStyle/>
                    <a:p>
                      <a:pPr algn="l">
                        <a:spcAft>
                          <a:spcPts val="0"/>
                        </a:spcAft>
                      </a:pPr>
                      <a:r>
                        <a:rPr sz="1350" b="0" i="0">
                          <a:solidFill>
                            <a:srgbClr val="4D4D4D"/>
                          </a:solidFill>
                          <a:latin typeface="Calibri"/>
                        </a:rPr>
                        <a:t>backpressure_indeksi_ilerletmez</a:t>
                      </a:r>
                    </a:p>
                  </a:txBody>
                  <a:tcPr marR="73152" marT="27432" marB="27432" anchor="ctr">
                    <a:solidFill>
                      <a:srgbClr val="FFFFFF"/>
                    </a:solidFill>
                  </a:tcPr>
                </a:tc>
                <a:tc>
                  <a:txBody>
                    <a:bodyPr/>
                    <a:lstStyle/>
                    <a:p>
                      <a:pPr algn="l">
                        <a:spcAft>
                          <a:spcPts val="0"/>
                        </a:spcAft>
                      </a:pPr>
                      <a:r>
                        <a:rPr sz="1350" b="0" i="0">
                          <a:solidFill>
                            <a:srgbClr val="4D4D4D"/>
                          </a:solidFill>
                          <a:latin typeface="Calibri"/>
                        </a:rPr>
                        <a:t>tready düşükken indeks ilerlemez</a:t>
                      </a:r>
                    </a:p>
                  </a:txBody>
                  <a:tcPr marR="73152" marT="27432" marB="27432" anchor="ctr">
                    <a:solidFill>
                      <a:srgbClr val="FFFFFF"/>
                    </a:solidFill>
                  </a:tcPr>
                </a:tc>
                <a:tc>
                  <a:txBody>
                    <a:bodyPr/>
                    <a:lstStyle/>
                    <a:p>
                      <a:pPr algn="l">
                        <a:spcAft>
                          <a:spcPts val="0"/>
                        </a:spcAft>
                      </a:pPr>
                      <a:r>
                        <a:rPr sz="1350" b="0" i="0">
                          <a:solidFill>
                            <a:srgbClr val="4D4D4D"/>
                          </a:solidFill>
                          <a:latin typeface="Calibri"/>
                        </a:rPr>
                        <a:t>Prosedürel</a:t>
                      </a:r>
                    </a:p>
                  </a:txBody>
                  <a:tcPr marR="73152" marT="27432" marB="27432" anchor="ctr">
                    <a:solidFill>
                      <a:srgbClr val="FFFFFF"/>
                    </a:solidFill>
                  </a:tcPr>
                </a:tc>
                <a:extLst>
                  <a:ext uri="{0D108BD9-81ED-4DB2-BD59-A6C34878D82A}">
                    <a16:rowId xmlns:a16="http://schemas.microsoft.com/office/drawing/2014/main" val="10003"/>
                  </a:ext>
                </a:extLst>
              </a:tr>
              <a:tr h="475488">
                <a:tc>
                  <a:txBody>
                    <a:bodyPr/>
                    <a:lstStyle/>
                    <a:p>
                      <a:pPr algn="l">
                        <a:spcAft>
                          <a:spcPts val="0"/>
                        </a:spcAft>
                      </a:pPr>
                      <a:r>
                        <a:rPr sz="1350" b="0" i="0">
                          <a:solidFill>
                            <a:srgbClr val="4D4D4D"/>
                          </a:solidFill>
                          <a:latin typeface="Calibri"/>
                        </a:rPr>
                        <a:t>el_sikisma_beklerken_kararli</a:t>
                      </a:r>
                    </a:p>
                  </a:txBody>
                  <a:tcPr marR="73152" marT="27432" marB="27432" anchor="ctr">
                    <a:solidFill>
                      <a:srgbClr val="F1F4F9"/>
                    </a:solidFill>
                  </a:tcPr>
                </a:tc>
                <a:tc>
                  <a:txBody>
                    <a:bodyPr/>
                    <a:lstStyle/>
                    <a:p>
                      <a:pPr algn="l">
                        <a:spcAft>
                          <a:spcPts val="0"/>
                        </a:spcAft>
                      </a:pPr>
                      <a:r>
                        <a:rPr sz="1350" b="0" i="0">
                          <a:solidFill>
                            <a:srgbClr val="4D4D4D"/>
                          </a:solidFill>
                          <a:latin typeface="Calibri"/>
                        </a:rPr>
                        <a:t>tvalid asılıyken tdata ve tuser değişmez</a:t>
                      </a:r>
                    </a:p>
                  </a:txBody>
                  <a:tcPr marR="73152" marT="27432" marB="27432" anchor="ctr">
                    <a:solidFill>
                      <a:srgbClr val="F1F4F9"/>
                    </a:solidFill>
                  </a:tcPr>
                </a:tc>
                <a:tc>
                  <a:txBody>
                    <a:bodyPr/>
                    <a:lstStyle/>
                    <a:p>
                      <a:pPr algn="l">
                        <a:spcAft>
                          <a:spcPts val="0"/>
                        </a:spcAft>
                      </a:pPr>
                      <a:r>
                        <a:rPr sz="1350" b="0" i="0">
                          <a:solidFill>
                            <a:srgbClr val="4D4D4D"/>
                          </a:solidFill>
                          <a:latin typeface="Calibri"/>
                        </a:rPr>
                        <a:t>Zamansal</a:t>
                      </a:r>
                    </a:p>
                  </a:txBody>
                  <a:tcPr marR="73152" marT="27432" marB="27432" anchor="ctr">
                    <a:solidFill>
                      <a:srgbClr val="F1F4F9"/>
                    </a:solidFill>
                  </a:tcPr>
                </a:tc>
                <a:extLst>
                  <a:ext uri="{0D108BD9-81ED-4DB2-BD59-A6C34878D82A}">
                    <a16:rowId xmlns:a16="http://schemas.microsoft.com/office/drawing/2014/main" val="10004"/>
                  </a:ext>
                </a:extLst>
              </a:tr>
              <a:tr h="475488">
                <a:tc>
                  <a:txBody>
                    <a:bodyPr/>
                    <a:lstStyle/>
                    <a:p>
                      <a:pPr algn="l">
                        <a:spcAft>
                          <a:spcPts val="0"/>
                        </a:spcAft>
                      </a:pPr>
                      <a:r>
                        <a:rPr sz="1350" b="0" i="0">
                          <a:solidFill>
                            <a:srgbClr val="4D4D4D"/>
                          </a:solidFill>
                          <a:latin typeface="Calibri"/>
                        </a:rPr>
                        <a:t>rastgele_config</a:t>
                      </a:r>
                    </a:p>
                  </a:txBody>
                  <a:tcPr marR="73152" marT="27432" marB="27432" anchor="ctr">
                    <a:solidFill>
                      <a:srgbClr val="FFFFFF"/>
                    </a:solidFill>
                  </a:tcPr>
                </a:tc>
                <a:tc>
                  <a:txBody>
                    <a:bodyPr/>
                    <a:lstStyle/>
                    <a:p>
                      <a:pPr algn="l">
                        <a:spcAft>
                          <a:spcPts val="0"/>
                        </a:spcAft>
                      </a:pPr>
                      <a:r>
                        <a:rPr sz="1350" b="0" i="0">
                          <a:solidFill>
                            <a:srgbClr val="4D4D4D"/>
                          </a:solidFill>
                          <a:latin typeface="Calibri"/>
                        </a:rPr>
                        <a:t>Kapalı formlu golden model ile 20 iterasyon</a:t>
                      </a:r>
                    </a:p>
                  </a:txBody>
                  <a:tcPr marR="73152" marT="27432" marB="27432" anchor="ctr">
                    <a:solidFill>
                      <a:srgbClr val="FFFFFF"/>
                    </a:solidFill>
                  </a:tcPr>
                </a:tc>
                <a:tc>
                  <a:txBody>
                    <a:bodyPr/>
                    <a:lstStyle/>
                    <a:p>
                      <a:pPr algn="l">
                        <a:spcAft>
                          <a:spcPts val="0"/>
                        </a:spcAft>
                      </a:pPr>
                      <a:r>
                        <a:rPr sz="1350" b="0" i="0">
                          <a:solidFill>
                            <a:srgbClr val="4D4D4D"/>
                          </a:solidFill>
                          <a:latin typeface="Calibri"/>
                        </a:rPr>
                        <a:t>Kısıtlı rastgele</a:t>
                      </a:r>
                    </a:p>
                  </a:txBody>
                  <a:tcPr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411480" y="5074920"/>
            <a:ext cx="10332720" cy="914400"/>
          </a:xfrm>
          <a:prstGeom prst="rect">
            <a:avLst/>
          </a:prstGeom>
          <a:noFill/>
        </p:spPr>
        <p:txBody>
          <a:bodyPr wrap="square" lIns="0" tIns="0" rIns="0" bIns="0">
            <a:spAutoFit/>
          </a:bodyPr>
          <a:lstStyle/>
          <a:p>
            <a:pPr algn="l">
              <a:lnSpc>
                <a:spcPct val="115000"/>
              </a:lnSpc>
              <a:spcAft>
                <a:spcPts val="600"/>
              </a:spcAft>
            </a:pPr>
            <a:r>
              <a:rPr sz="1500" b="0" i="0">
                <a:solidFill>
                  <a:srgbClr val="4D4D4D"/>
                </a:solidFill>
                <a:latin typeface="Calibri"/>
              </a:rPr>
              <a:t>Sıralama tesadüf değil: elle hesaplanmış tek bir vaka önce yazılır, çünkü golden model'in kendisi de doğrulanmalıdır. Model, elle hesaplanan vakayı üretemiyorsa hata modeldedir, RTL'de değil.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TESTBENCH MİMARİSİ</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Üç process, tek kuyruk</a:t>
            </a:r>
          </a:p>
        </p:txBody>
      </p:sp>
      <p:sp>
        <p:nvSpPr>
          <p:cNvPr id="4" name="Rounded Rectangle 3"/>
          <p:cNvSpPr/>
          <p:nvPr/>
        </p:nvSpPr>
        <p:spPr>
          <a:xfrm>
            <a:off x="411480" y="2011680"/>
            <a:ext cx="3246120" cy="502920"/>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500" b="1" i="0">
                <a:solidFill>
                  <a:srgbClr val="FFFFFF"/>
                </a:solidFill>
                <a:latin typeface="Consolas"/>
              </a:rPr>
              <a:t>test_runner</a:t>
            </a:r>
          </a:p>
        </p:txBody>
      </p:sp>
      <p:sp>
        <p:nvSpPr>
          <p:cNvPr id="5" name="TextBox 4"/>
          <p:cNvSpPr txBox="1"/>
          <p:nvPr/>
        </p:nvSpPr>
        <p:spPr>
          <a:xfrm>
            <a:off x="502920" y="2651760"/>
            <a:ext cx="3063240" cy="1005840"/>
          </a:xfrm>
          <a:prstGeom prst="rect">
            <a:avLst/>
          </a:prstGeom>
          <a:noFill/>
        </p:spPr>
        <p:txBody>
          <a:bodyPr wrap="square" lIns="0" tIns="0" rIns="0" bIns="0">
            <a:spAutoFit/>
          </a:bodyPr>
          <a:lstStyle/>
          <a:p>
            <a:pPr algn="l">
              <a:spcAft>
                <a:spcPts val="300"/>
              </a:spcAft>
            </a:pPr>
            <a:r>
              <a:rPr sz="1400" b="0" i="0">
                <a:solidFill>
                  <a:srgbClr val="4D4D4D"/>
                </a:solidFill>
                <a:latin typeface="Calibri"/>
              </a:rPr>
              <a:t>Uyaranı sürer</a:t>
            </a:r>
          </a:p>
          <a:p>
            <a:pPr algn="l">
              <a:spcAft>
                <a:spcPts val="300"/>
              </a:spcAft>
            </a:pPr>
            <a:r>
              <a:rPr sz="1400" b="0" i="0">
                <a:solidFill>
                  <a:srgbClr val="4D4D4D"/>
                </a:solidFill>
                <a:latin typeface="Calibri"/>
              </a:rPr>
              <a:t>Beklentiyi kuyruğa iter</a:t>
            </a:r>
          </a:p>
          <a:p>
            <a:pPr algn="l">
              <a:spcAft>
                <a:spcPts val="300"/>
              </a:spcAft>
            </a:pPr>
            <a:r>
              <a:rPr sz="1400" b="0" i="0">
                <a:solidFill>
                  <a:srgbClr val="4D4D4D"/>
                </a:solidFill>
                <a:latin typeface="Calibri"/>
              </a:rPr>
              <a:t>run("...") ile test seçer</a:t>
            </a:r>
          </a:p>
        </p:txBody>
      </p:sp>
      <p:sp>
        <p:nvSpPr>
          <p:cNvPr id="6" name="Rounded Rectangle 5"/>
          <p:cNvSpPr/>
          <p:nvPr/>
        </p:nvSpPr>
        <p:spPr>
          <a:xfrm>
            <a:off x="3931920" y="2011680"/>
            <a:ext cx="3246120" cy="502920"/>
          </a:xfrm>
          <a:prstGeom prst="roundRect">
            <a:avLst>
              <a:gd name="adj" fmla="val 4500"/>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500" b="1" i="0">
                <a:solidFill>
                  <a:srgbClr val="FFFFFF"/>
                </a:solidFill>
                <a:latin typeface="Consolas"/>
              </a:rPr>
              <a:t>exp_queue</a:t>
            </a:r>
          </a:p>
        </p:txBody>
      </p:sp>
      <p:sp>
        <p:nvSpPr>
          <p:cNvPr id="7" name="TextBox 6"/>
          <p:cNvSpPr txBox="1"/>
          <p:nvPr/>
        </p:nvSpPr>
        <p:spPr>
          <a:xfrm>
            <a:off x="4023359" y="2651760"/>
            <a:ext cx="3063240" cy="1005840"/>
          </a:xfrm>
          <a:prstGeom prst="rect">
            <a:avLst/>
          </a:prstGeom>
          <a:noFill/>
        </p:spPr>
        <p:txBody>
          <a:bodyPr wrap="square" lIns="0" tIns="0" rIns="0" bIns="0">
            <a:spAutoFit/>
          </a:bodyPr>
          <a:lstStyle/>
          <a:p>
            <a:pPr algn="l">
              <a:spcAft>
                <a:spcPts val="300"/>
              </a:spcAft>
            </a:pPr>
            <a:r>
              <a:rPr sz="1400" b="0" i="0">
                <a:solidFill>
                  <a:srgbClr val="4D4D4D"/>
                </a:solidFill>
                <a:latin typeface="Calibri"/>
              </a:rPr>
              <a:t>VUnit queue_t</a:t>
            </a:r>
          </a:p>
          <a:p>
            <a:pPr algn="l">
              <a:spcAft>
                <a:spcPts val="300"/>
              </a:spcAft>
            </a:pPr>
            <a:r>
              <a:rPr sz="1400" b="0" i="0">
                <a:solidFill>
                  <a:srgbClr val="4D4D4D"/>
                </a:solidFill>
                <a:latin typeface="Calibri"/>
              </a:rPr>
              <a:t>data · sc · sym · last</a:t>
            </a:r>
          </a:p>
          <a:p>
            <a:pPr algn="l">
              <a:spcAft>
                <a:spcPts val="300"/>
              </a:spcAft>
            </a:pPr>
            <a:r>
              <a:rPr sz="1400" b="0" i="0">
                <a:solidFill>
                  <a:srgbClr val="4D4D4D"/>
                </a:solidFill>
                <a:latin typeface="Calibri"/>
              </a:rPr>
              <a:t>FIFO sırası korunur</a:t>
            </a:r>
          </a:p>
        </p:txBody>
      </p:sp>
      <p:sp>
        <p:nvSpPr>
          <p:cNvPr id="8" name="Rounded Rectangle 7"/>
          <p:cNvSpPr/>
          <p:nvPr/>
        </p:nvSpPr>
        <p:spPr>
          <a:xfrm>
            <a:off x="7452360" y="2011680"/>
            <a:ext cx="3246120" cy="502920"/>
          </a:xfrm>
          <a:prstGeom prst="roundRect">
            <a:avLst>
              <a:gd name="adj" fmla="val 4500"/>
            </a:avLst>
          </a:prstGeom>
          <a:solidFill>
            <a:srgbClr val="002D7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500" b="1" i="0">
                <a:solidFill>
                  <a:srgbClr val="FFFFFF"/>
                </a:solidFill>
                <a:latin typeface="Consolas"/>
              </a:rPr>
              <a:t>monitor</a:t>
            </a:r>
          </a:p>
        </p:txBody>
      </p:sp>
      <p:sp>
        <p:nvSpPr>
          <p:cNvPr id="9" name="TextBox 8"/>
          <p:cNvSpPr txBox="1"/>
          <p:nvPr/>
        </p:nvSpPr>
        <p:spPr>
          <a:xfrm>
            <a:off x="7543800" y="2651760"/>
            <a:ext cx="3063240" cy="1005840"/>
          </a:xfrm>
          <a:prstGeom prst="rect">
            <a:avLst/>
          </a:prstGeom>
          <a:noFill/>
        </p:spPr>
        <p:txBody>
          <a:bodyPr wrap="square" lIns="0" tIns="0" rIns="0" bIns="0">
            <a:spAutoFit/>
          </a:bodyPr>
          <a:lstStyle/>
          <a:p>
            <a:pPr algn="l">
              <a:spcAft>
                <a:spcPts val="300"/>
              </a:spcAft>
            </a:pPr>
            <a:r>
              <a:rPr sz="1400" b="0" i="0">
                <a:solidFill>
                  <a:srgbClr val="4D4D4D"/>
                </a:solidFill>
                <a:latin typeface="Calibri"/>
              </a:rPr>
              <a:t>El sıkışmayı gözler</a:t>
            </a:r>
          </a:p>
          <a:p>
            <a:pPr algn="l">
              <a:spcAft>
                <a:spcPts val="300"/>
              </a:spcAft>
            </a:pPr>
            <a:r>
              <a:rPr sz="1400" b="0" i="0">
                <a:solidFill>
                  <a:srgbClr val="4D4D4D"/>
                </a:solidFill>
                <a:latin typeface="Calibri"/>
              </a:rPr>
              <a:t>Kuyruktan çeker</a:t>
            </a:r>
          </a:p>
          <a:p>
            <a:pPr algn="l">
              <a:spcAft>
                <a:spcPts val="300"/>
              </a:spcAft>
            </a:pPr>
            <a:r>
              <a:rPr sz="1400" b="0" i="0">
                <a:solidFill>
                  <a:srgbClr val="4D4D4D"/>
                </a:solidFill>
                <a:latin typeface="Calibri"/>
              </a:rPr>
              <a:t>check_equal ile karşılaştırır</a:t>
            </a:r>
          </a:p>
        </p:txBody>
      </p:sp>
      <p:sp>
        <p:nvSpPr>
          <p:cNvPr id="10" name="Right Arrow 9"/>
          <p:cNvSpPr/>
          <p:nvPr/>
        </p:nvSpPr>
        <p:spPr>
          <a:xfrm>
            <a:off x="3566160" y="2194560"/>
            <a:ext cx="310896" cy="146304"/>
          </a:xfrm>
          <a:prstGeom prst="rightArrow">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Arrow 10"/>
          <p:cNvSpPr/>
          <p:nvPr/>
        </p:nvSpPr>
        <p:spPr>
          <a:xfrm>
            <a:off x="7086600" y="2194560"/>
            <a:ext cx="310896" cy="146304"/>
          </a:xfrm>
          <a:prstGeom prst="rightArrow">
            <a:avLst/>
          </a:prstGeom>
          <a:solidFill>
            <a:srgbClr val="F7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11480" y="3931920"/>
            <a:ext cx="4983480" cy="213360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12648" y="4133087"/>
            <a:ext cx="45811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TEK SÜRÜCÜ KURALI</a:t>
            </a:r>
          </a:p>
        </p:txBody>
      </p:sp>
      <p:sp>
        <p:nvSpPr>
          <p:cNvPr id="14" name="TextBox 13"/>
          <p:cNvSpPr txBox="1"/>
          <p:nvPr/>
        </p:nvSpPr>
        <p:spPr>
          <a:xfrm>
            <a:off x="612648" y="4517136"/>
            <a:ext cx="4581144" cy="1438656"/>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Bir sinyali iki process süremez.</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beat_count'u hem monitor artırıp hem test_runner sıfırlayınca elaborasyon hatası alındı. Çözüm: sayaç tek yerde artar, testler yerel bir değişkenle göreli ilerleme ölçer.</a:t>
            </a:r>
          </a:p>
        </p:txBody>
      </p:sp>
      <p:sp>
        <p:nvSpPr>
          <p:cNvPr id="15" name="Rounded Rectangle 14"/>
          <p:cNvSpPr/>
          <p:nvPr/>
        </p:nvSpPr>
        <p:spPr>
          <a:xfrm>
            <a:off x="5760720" y="3931920"/>
            <a:ext cx="4983480" cy="1934464"/>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961888" y="4133087"/>
            <a:ext cx="4581144" cy="384048"/>
          </a:xfrm>
          <a:prstGeom prst="rect">
            <a:avLst/>
          </a:prstGeom>
          <a:noFill/>
        </p:spPr>
        <p:txBody>
          <a:bodyPr wrap="square" lIns="0" tIns="0" rIns="0" bIns="0">
            <a:spAutoFit/>
          </a:bodyPr>
          <a:lstStyle/>
          <a:p>
            <a:pPr algn="l">
              <a:spcAft>
                <a:spcPts val="600"/>
              </a:spcAft>
            </a:pPr>
            <a:r>
              <a:rPr sz="1700" b="1" i="0">
                <a:solidFill>
                  <a:srgbClr val="FF5620"/>
                </a:solidFill>
                <a:latin typeface="Segoe UI"/>
              </a:rPr>
              <a:t>VAKUM KORUMASI</a:t>
            </a:r>
          </a:p>
        </p:txBody>
      </p:sp>
      <p:sp>
        <p:nvSpPr>
          <p:cNvPr id="17" name="TextBox 16"/>
          <p:cNvSpPr txBox="1"/>
          <p:nvPr/>
        </p:nvSpPr>
        <p:spPr>
          <a:xfrm>
            <a:off x="5961888" y="4517136"/>
            <a:ext cx="4581144" cy="1239520"/>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beat_count teşhis için değil, testin anlamlı olduğunu kanıtlamak için var.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Hiç beat gözlenmediyse test hiçbir şey ölçmemiştir — o hâlde yeşil dönmemelidir.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SCOREBOARD VE MONİTOR</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Boru hattı gecikmesi ve geri basınç burada soğurulur</a:t>
            </a:r>
          </a:p>
        </p:txBody>
      </p:sp>
      <p:sp>
        <p:nvSpPr>
          <p:cNvPr id="4" name="Rounded Rectangle 3"/>
          <p:cNvSpPr/>
          <p:nvPr/>
        </p:nvSpPr>
        <p:spPr>
          <a:xfrm>
            <a:off x="411480" y="1920240"/>
            <a:ext cx="6903720" cy="399796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103120"/>
            <a:ext cx="6537959" cy="3632200"/>
          </a:xfrm>
          <a:prstGeom prst="rect">
            <a:avLst/>
          </a:prstGeom>
          <a:noFill/>
        </p:spPr>
        <p:txBody>
          <a:bodyPr wrap="square" lIns="0" tIns="0" rIns="0" bIns="0">
            <a:spAutoFit/>
          </a:bodyPr>
          <a:lstStyle/>
          <a:p>
            <a:pPr algn="l">
              <a:lnSpc>
                <a:spcPct val="115000"/>
              </a:lnSpc>
              <a:spcAft>
                <a:spcPts val="0"/>
              </a:spcAft>
            </a:pPr>
            <a:r>
              <a:rPr sz="1100" i="1">
                <a:solidFill>
                  <a:srgbClr val="7A8699"/>
                </a:solidFill>
                <a:latin typeface="Consolas"/>
              </a:rPr>
              <a:t>-- test_runner tarafi: bir beat gonderilmeden ONCE beklentisi kuyruga girer</a:t>
            </a:r>
          </a:p>
          <a:p>
            <a:pPr algn="l">
              <a:lnSpc>
                <a:spcPct val="115000"/>
              </a:lnSpc>
              <a:spcAft>
                <a:spcPts val="0"/>
              </a:spcAft>
            </a:pPr>
            <a:r>
              <a:rPr sz="1100" i="0">
                <a:solidFill>
                  <a:srgbClr val="1C273A"/>
                </a:solidFill>
                <a:latin typeface="Consolas"/>
              </a:rPr>
              <a:t>procedure expect(data, sc, sym : natural; last : boolean) is</a:t>
            </a:r>
          </a:p>
          <a:p>
            <a:pPr algn="l">
              <a:lnSpc>
                <a:spcPct val="115000"/>
              </a:lnSpc>
              <a:spcAft>
                <a:spcPts val="0"/>
              </a:spcAft>
            </a:pPr>
            <a:r>
              <a:rPr sz="1100" i="0">
                <a:solidFill>
                  <a:srgbClr val="1C273A"/>
                </a:solidFill>
                <a:latin typeface="Consolas"/>
              </a:rPr>
              <a:t>begin</a:t>
            </a:r>
          </a:p>
          <a:p>
            <a:pPr algn="l">
              <a:lnSpc>
                <a:spcPct val="115000"/>
              </a:lnSpc>
              <a:spcAft>
                <a:spcPts val="0"/>
              </a:spcAft>
            </a:pPr>
            <a:r>
              <a:rPr sz="1100" i="0">
                <a:solidFill>
                  <a:srgbClr val="1C273A"/>
                </a:solidFill>
                <a:latin typeface="Consolas"/>
              </a:rPr>
              <a:t>    push(exp_queue, data);  push(exp_queue, sc);</a:t>
            </a:r>
          </a:p>
          <a:p>
            <a:pPr algn="l">
              <a:lnSpc>
                <a:spcPct val="115000"/>
              </a:lnSpc>
              <a:spcAft>
                <a:spcPts val="0"/>
              </a:spcAft>
            </a:pPr>
            <a:r>
              <a:rPr sz="1100" i="0">
                <a:solidFill>
                  <a:srgbClr val="1C273A"/>
                </a:solidFill>
                <a:latin typeface="Consolas"/>
              </a:rPr>
              <a:t>    push(exp_queue, sym);   push(exp_queue, last);</a:t>
            </a:r>
          </a:p>
          <a:p>
            <a:pPr algn="l">
              <a:lnSpc>
                <a:spcPct val="115000"/>
              </a:lnSpc>
              <a:spcAft>
                <a:spcPts val="0"/>
              </a:spcAft>
            </a:pPr>
            <a:r>
              <a:rPr sz="1100" i="0">
                <a:solidFill>
                  <a:srgbClr val="1C273A"/>
                </a:solidFill>
                <a:latin typeface="Consolas"/>
              </a:rPr>
              <a:t>end procedure;</a:t>
            </a:r>
          </a:p>
          <a:p>
            <a:pPr algn="l">
              <a:lnSpc>
                <a:spcPct val="115000"/>
              </a:lnSpc>
              <a:spcAft>
                <a:spcPts val="0"/>
              </a:spcAft>
            </a:pPr>
            <a:r>
              <a:rPr sz="1100" i="0">
                <a:solidFill>
                  <a:srgbClr val="1C273A"/>
                </a:solidFill>
                <a:latin typeface="Consolas"/>
              </a:rPr>
              <a:t> </a:t>
            </a:r>
          </a:p>
          <a:p>
            <a:pPr algn="l">
              <a:lnSpc>
                <a:spcPct val="115000"/>
              </a:lnSpc>
              <a:spcAft>
                <a:spcPts val="0"/>
              </a:spcAft>
            </a:pPr>
            <a:r>
              <a:rPr sz="1100" i="1">
                <a:solidFill>
                  <a:srgbClr val="7A8699"/>
                </a:solidFill>
                <a:latin typeface="Consolas"/>
              </a:rPr>
              <a:t>-- monitor tarafi: cikista el sikisan HER beat bir beklenti tuketir</a:t>
            </a:r>
          </a:p>
          <a:p>
            <a:pPr algn="l">
              <a:lnSpc>
                <a:spcPct val="115000"/>
              </a:lnSpc>
              <a:spcAft>
                <a:spcPts val="0"/>
              </a:spcAft>
            </a:pPr>
            <a:r>
              <a:rPr sz="1100" i="0">
                <a:solidFill>
                  <a:srgbClr val="1C273A"/>
                </a:solidFill>
                <a:latin typeface="Consolas"/>
              </a:rPr>
              <a:t>monitor : process</a:t>
            </a:r>
          </a:p>
          <a:p>
            <a:pPr algn="l">
              <a:lnSpc>
                <a:spcPct val="115000"/>
              </a:lnSpc>
              <a:spcAft>
                <a:spcPts val="0"/>
              </a:spcAft>
            </a:pPr>
            <a:r>
              <a:rPr sz="1100" i="0">
                <a:solidFill>
                  <a:srgbClr val="1C273A"/>
                </a:solidFill>
                <a:latin typeface="Consolas"/>
              </a:rPr>
              <a:t>begin</a:t>
            </a:r>
          </a:p>
          <a:p>
            <a:pPr algn="l">
              <a:lnSpc>
                <a:spcPct val="115000"/>
              </a:lnSpc>
              <a:spcAft>
                <a:spcPts val="0"/>
              </a:spcAft>
            </a:pPr>
            <a:r>
              <a:rPr sz="1100" i="0">
                <a:solidFill>
                  <a:srgbClr val="1C273A"/>
                </a:solidFill>
                <a:latin typeface="Consolas"/>
              </a:rPr>
              <a:t>    wait until rising_edge(clk);            -- kenarin GORDUGU degerler</a:t>
            </a:r>
          </a:p>
          <a:p>
            <a:pPr algn="l">
              <a:lnSpc>
                <a:spcPct val="115000"/>
              </a:lnSpc>
              <a:spcAft>
                <a:spcPts val="0"/>
              </a:spcAft>
            </a:pPr>
            <a:r>
              <a:rPr sz="1100" i="0">
                <a:solidFill>
                  <a:srgbClr val="1C273A"/>
                </a:solidFill>
                <a:latin typeface="Consolas"/>
              </a:rPr>
              <a:t>    if rst_n = '1' and m_axis_tvalid = '1' and m_axis_tready = '1' then</a:t>
            </a:r>
          </a:p>
          <a:p>
            <a:pPr algn="l">
              <a:lnSpc>
                <a:spcPct val="115000"/>
              </a:lnSpc>
              <a:spcAft>
                <a:spcPts val="0"/>
              </a:spcAft>
            </a:pPr>
            <a:r>
              <a:rPr sz="1100" i="0">
                <a:solidFill>
                  <a:srgbClr val="1C273A"/>
                </a:solidFill>
                <a:latin typeface="Consolas"/>
              </a:rPr>
              <a:t>        check_equal(unsigned(m_axis_tdata), pop_integer(exp_queue), "tdata");</a:t>
            </a:r>
          </a:p>
          <a:p>
            <a:pPr algn="l">
              <a:lnSpc>
                <a:spcPct val="115000"/>
              </a:lnSpc>
              <a:spcAft>
                <a:spcPts val="0"/>
              </a:spcAft>
            </a:pPr>
            <a:r>
              <a:rPr sz="1100" i="0">
                <a:solidFill>
                  <a:srgbClr val="1C273A"/>
                </a:solidFill>
                <a:latin typeface="Consolas"/>
              </a:rPr>
              <a:t>        check_equal(unsigned(m_axis_tuser(7 downto 0)),</a:t>
            </a:r>
          </a:p>
          <a:p>
            <a:pPr algn="l">
              <a:lnSpc>
                <a:spcPct val="115000"/>
              </a:lnSpc>
              <a:spcAft>
                <a:spcPts val="0"/>
              </a:spcAft>
            </a:pPr>
            <a:r>
              <a:rPr sz="1100" i="0">
                <a:solidFill>
                  <a:srgbClr val="1C273A"/>
                </a:solidFill>
                <a:latin typeface="Consolas"/>
              </a:rPr>
              <a:t>                    pop_integer(exp_queue), "sc_index");</a:t>
            </a:r>
          </a:p>
          <a:p>
            <a:pPr algn="l">
              <a:lnSpc>
                <a:spcPct val="115000"/>
              </a:lnSpc>
              <a:spcAft>
                <a:spcPts val="0"/>
              </a:spcAft>
            </a:pPr>
            <a:r>
              <a:rPr sz="1100" i="0">
                <a:solidFill>
                  <a:srgbClr val="1C273A"/>
                </a:solidFill>
                <a:latin typeface="Consolas"/>
              </a:rPr>
              <a:t>        check_equal(unsigned(m_axis_tuser(15 downto 8)),</a:t>
            </a:r>
          </a:p>
          <a:p>
            <a:pPr algn="l">
              <a:lnSpc>
                <a:spcPct val="115000"/>
              </a:lnSpc>
              <a:spcAft>
                <a:spcPts val="0"/>
              </a:spcAft>
            </a:pPr>
            <a:r>
              <a:rPr sz="1100" i="0">
                <a:solidFill>
                  <a:srgbClr val="1C273A"/>
                </a:solidFill>
                <a:latin typeface="Consolas"/>
              </a:rPr>
              <a:t>                    pop_integer(exp_queue), "sym_index");</a:t>
            </a:r>
          </a:p>
          <a:p>
            <a:pPr algn="l">
              <a:lnSpc>
                <a:spcPct val="115000"/>
              </a:lnSpc>
              <a:spcAft>
                <a:spcPts val="0"/>
              </a:spcAft>
            </a:pPr>
            <a:r>
              <a:rPr sz="1100" i="0">
                <a:solidFill>
                  <a:srgbClr val="1C273A"/>
                </a:solidFill>
                <a:latin typeface="Consolas"/>
              </a:rPr>
              <a:t>        beat_count &lt;= beat_count + 1;</a:t>
            </a:r>
          </a:p>
          <a:p>
            <a:pPr algn="l">
              <a:lnSpc>
                <a:spcPct val="115000"/>
              </a:lnSpc>
              <a:spcAft>
                <a:spcPts val="0"/>
              </a:spcAft>
            </a:pPr>
            <a:r>
              <a:rPr sz="1100" i="0">
                <a:solidFill>
                  <a:srgbClr val="1C273A"/>
                </a:solidFill>
                <a:latin typeface="Consolas"/>
              </a:rPr>
              <a:t>    end if;</a:t>
            </a:r>
          </a:p>
          <a:p>
            <a:pPr algn="l">
              <a:lnSpc>
                <a:spcPct val="115000"/>
              </a:lnSpc>
              <a:spcAft>
                <a:spcPts val="0"/>
              </a:spcAft>
            </a:pPr>
            <a:r>
              <a:rPr sz="1100" i="0">
                <a:solidFill>
                  <a:srgbClr val="1C273A"/>
                </a:solidFill>
                <a:latin typeface="Consolas"/>
              </a:rPr>
              <a:t>end process;</a:t>
            </a:r>
          </a:p>
        </p:txBody>
      </p:sp>
      <p:sp>
        <p:nvSpPr>
          <p:cNvPr id="6" name="Rounded Rectangle 5"/>
          <p:cNvSpPr/>
          <p:nvPr/>
        </p:nvSpPr>
        <p:spPr>
          <a:xfrm>
            <a:off x="7589520" y="1920240"/>
            <a:ext cx="3154680" cy="2474976"/>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790688" y="2121408"/>
            <a:ext cx="27523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ÖRNEKLEME KURALI</a:t>
            </a:r>
          </a:p>
        </p:txBody>
      </p:sp>
      <p:sp>
        <p:nvSpPr>
          <p:cNvPr id="8" name="TextBox 7"/>
          <p:cNvSpPr txBox="1"/>
          <p:nvPr/>
        </p:nvSpPr>
        <p:spPr>
          <a:xfrm>
            <a:off x="7790688" y="2505456"/>
            <a:ext cx="2752344" cy="1780032"/>
          </a:xfrm>
          <a:prstGeom prst="rect">
            <a:avLst/>
          </a:prstGeom>
          <a:noFill/>
        </p:spPr>
        <p:txBody>
          <a:bodyPr wrap="square" lIns="0" tIns="0" rIns="0" bIns="0">
            <a:spAutoFit/>
          </a:bodyPr>
          <a:lstStyle/>
          <a:p>
            <a:pPr algn="l">
              <a:lnSpc>
                <a:spcPct val="112000"/>
              </a:lnSpc>
              <a:spcAft>
                <a:spcPts val="400"/>
              </a:spcAft>
            </a:pPr>
            <a:r>
              <a:rPr sz="1350" b="0" i="0">
                <a:solidFill>
                  <a:srgbClr val="4D4D4D"/>
                </a:solidFill>
                <a:latin typeface="Calibri"/>
              </a:rPr>
              <a:t>El sıkışma, wait until rising_edge(clk) sonrası ARA GECİKME OLMADAN okunur.</a:t>
            </a:r>
          </a:p>
          <a:p>
            <a:pPr algn="l">
              <a:lnSpc>
                <a:spcPct val="112000"/>
              </a:lnSpc>
              <a:spcAft>
                <a:spcPts val="400"/>
              </a:spcAft>
            </a:pPr>
            <a:endParaRPr sz="1350" b="0" i="0">
              <a:solidFill>
                <a:srgbClr val="4D4D4D"/>
              </a:solidFill>
              <a:latin typeface="Calibri"/>
            </a:endParaRPr>
          </a:p>
          <a:p>
            <a:pPr algn="l">
              <a:lnSpc>
                <a:spcPct val="112000"/>
              </a:lnSpc>
              <a:spcAft>
                <a:spcPts val="400"/>
              </a:spcAft>
            </a:pPr>
            <a:r>
              <a:rPr sz="1350" b="0" i="0">
                <a:solidFill>
                  <a:srgbClr val="4D4D4D"/>
                </a:solidFill>
                <a:latin typeface="Calibri"/>
              </a:rPr>
              <a:t>Bu anda sinyaller hâlâ kenar öncesi değerini taşır — yani el sıkışmayı belirleyen değeri.</a:t>
            </a:r>
          </a:p>
        </p:txBody>
      </p:sp>
      <p:sp>
        <p:nvSpPr>
          <p:cNvPr id="9" name="Rounded Rectangle 8"/>
          <p:cNvSpPr/>
          <p:nvPr/>
        </p:nvSpPr>
        <p:spPr>
          <a:xfrm>
            <a:off x="7589520" y="4434840"/>
            <a:ext cx="3154680" cy="1797304"/>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90688" y="4636007"/>
            <a:ext cx="2752344" cy="384048"/>
          </a:xfrm>
          <a:prstGeom prst="rect">
            <a:avLst/>
          </a:prstGeom>
          <a:noFill/>
        </p:spPr>
        <p:txBody>
          <a:bodyPr wrap="square" lIns="0" tIns="0" rIns="0" bIns="0">
            <a:spAutoFit/>
          </a:bodyPr>
          <a:lstStyle/>
          <a:p>
            <a:pPr algn="l">
              <a:spcAft>
                <a:spcPts val="600"/>
              </a:spcAft>
            </a:pPr>
            <a:r>
              <a:rPr sz="1700" b="1" i="0">
                <a:solidFill>
                  <a:srgbClr val="FF5620"/>
                </a:solidFill>
                <a:latin typeface="Segoe UI"/>
              </a:rPr>
              <a:t>TUZAK</a:t>
            </a:r>
          </a:p>
        </p:txBody>
      </p:sp>
      <p:sp>
        <p:nvSpPr>
          <p:cNvPr id="11" name="TextBox 10"/>
          <p:cNvSpPr txBox="1"/>
          <p:nvPr/>
        </p:nvSpPr>
        <p:spPr>
          <a:xfrm>
            <a:off x="7790688" y="5020055"/>
            <a:ext cx="2752344" cy="1102360"/>
          </a:xfrm>
          <a:prstGeom prst="rect">
            <a:avLst/>
          </a:prstGeom>
          <a:noFill/>
        </p:spPr>
        <p:txBody>
          <a:bodyPr wrap="square" lIns="0" tIns="0" rIns="0" bIns="0">
            <a:spAutoFit/>
          </a:bodyPr>
          <a:lstStyle/>
          <a:p>
            <a:pPr algn="l">
              <a:lnSpc>
                <a:spcPct val="112000"/>
              </a:lnSpc>
              <a:spcAft>
                <a:spcPts val="400"/>
              </a:spcAft>
            </a:pPr>
            <a:r>
              <a:rPr sz="1350" b="0" i="0">
                <a:solidFill>
                  <a:srgbClr val="4D4D4D"/>
                </a:solidFill>
                <a:latin typeface="Calibri"/>
              </a:rPr>
              <a:t>Araya wait for 1 ns koymak kenarın SONUCUNU okumak demektir — bir çevrim ileri kayar, olmamış transferi olmuş sayarsın.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PROSEDÜREL TEST: BEAT SAYIMI VE TLAST</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"Toplam kaç valid gelecek, tlast ne zaman gelecek" buraya yazılır</a:t>
            </a:r>
          </a:p>
        </p:txBody>
      </p:sp>
      <p:sp>
        <p:nvSpPr>
          <p:cNvPr id="4" name="Rounded Rectangle 3"/>
          <p:cNvSpPr/>
          <p:nvPr/>
        </p:nvSpPr>
        <p:spPr>
          <a:xfrm>
            <a:off x="411480" y="1920240"/>
            <a:ext cx="6446520" cy="417957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103120"/>
            <a:ext cx="6080759" cy="3813810"/>
          </a:xfrm>
          <a:prstGeom prst="rect">
            <a:avLst/>
          </a:prstGeom>
          <a:noFill/>
        </p:spPr>
        <p:txBody>
          <a:bodyPr wrap="square" lIns="0" tIns="0" rIns="0" bIns="0">
            <a:spAutoFit/>
          </a:bodyPr>
          <a:lstStyle/>
          <a:p>
            <a:pPr algn="l">
              <a:lnSpc>
                <a:spcPct val="115000"/>
              </a:lnSpc>
              <a:spcAft>
                <a:spcPts val="0"/>
              </a:spcAft>
            </a:pPr>
            <a:r>
              <a:rPr sz="1050" i="0">
                <a:solidFill>
                  <a:srgbClr val="1C273A"/>
                </a:solidFill>
                <a:latin typeface="Consolas"/>
              </a:rPr>
              <a:t>elsif run("tlast_indeksi_sifirlar") then</a:t>
            </a:r>
          </a:p>
          <a:p>
            <a:pPr algn="l">
              <a:lnSpc>
                <a:spcPct val="115000"/>
              </a:lnSpc>
              <a:spcAft>
                <a:spcPts val="0"/>
              </a:spcAft>
            </a:pPr>
            <a:r>
              <a:rPr sz="1050" i="0">
                <a:solidFill>
                  <a:srgbClr val="1C273A"/>
                </a:solidFill>
                <a:latin typeface="Consolas"/>
              </a:rPr>
              <a:t>    write_config(sc_count =&gt; 2, sym_count =&gt; 2);</a:t>
            </a:r>
          </a:p>
          <a:p>
            <a:pPr algn="l">
              <a:lnSpc>
                <a:spcPct val="115000"/>
              </a:lnSpc>
              <a:spcAft>
                <a:spcPts val="0"/>
              </a:spcAft>
            </a:pPr>
            <a:r>
              <a:rPr sz="1050" i="0">
                <a:solidFill>
                  <a:srgbClr val="1C273A"/>
                </a:solidFill>
                <a:latin typeface="Consolas"/>
              </a:rPr>
              <a:t>    beats_at_start := beat_count;          -- goreli olcum</a:t>
            </a:r>
          </a:p>
          <a:p>
            <a:pPr algn="l">
              <a:lnSpc>
                <a:spcPct val="115000"/>
              </a:lnSpc>
              <a:spcAft>
                <a:spcPts val="0"/>
              </a:spcAft>
            </a:pPr>
            <a:r>
              <a:rPr sz="1050" i="0">
                <a:solidFill>
                  <a:srgbClr val="1C273A"/>
                </a:solidFill>
                <a:latin typeface="Consolas"/>
              </a:rPr>
              <a:t> </a:t>
            </a:r>
          </a:p>
          <a:p>
            <a:pPr algn="l">
              <a:lnSpc>
                <a:spcPct val="115000"/>
              </a:lnSpc>
              <a:spcAft>
                <a:spcPts val="0"/>
              </a:spcAft>
            </a:pPr>
            <a:r>
              <a:rPr sz="1050" i="1">
                <a:solidFill>
                  <a:srgbClr val="7A8699"/>
                </a:solidFill>
                <a:latin typeface="Consolas"/>
              </a:rPr>
              <a:t>    -- 4 beat'lik bir cerceve: (0,0) (1,0) (0,1) (1,1)</a:t>
            </a:r>
          </a:p>
          <a:p>
            <a:pPr algn="l">
              <a:lnSpc>
                <a:spcPct val="115000"/>
              </a:lnSpc>
              <a:spcAft>
                <a:spcPts val="0"/>
              </a:spcAft>
            </a:pPr>
            <a:r>
              <a:rPr sz="1050" i="0">
                <a:solidFill>
                  <a:srgbClr val="1C273A"/>
                </a:solidFill>
                <a:latin typeface="Consolas"/>
              </a:rPr>
              <a:t>    expect(data =&gt; 10, sc =&gt; 0, sym =&gt; 0, last =&gt; false);</a:t>
            </a:r>
          </a:p>
          <a:p>
            <a:pPr algn="l">
              <a:lnSpc>
                <a:spcPct val="115000"/>
              </a:lnSpc>
              <a:spcAft>
                <a:spcPts val="0"/>
              </a:spcAft>
            </a:pPr>
            <a:r>
              <a:rPr sz="1050" i="0">
                <a:solidFill>
                  <a:srgbClr val="1C273A"/>
                </a:solidFill>
                <a:latin typeface="Consolas"/>
              </a:rPr>
              <a:t>    expect(data =&gt; 11, sc =&gt; 1, sym =&gt; 0, last =&gt; false);</a:t>
            </a:r>
          </a:p>
          <a:p>
            <a:pPr algn="l">
              <a:lnSpc>
                <a:spcPct val="115000"/>
              </a:lnSpc>
              <a:spcAft>
                <a:spcPts val="0"/>
              </a:spcAft>
            </a:pPr>
            <a:r>
              <a:rPr sz="1050" i="0">
                <a:solidFill>
                  <a:srgbClr val="1C273A"/>
                </a:solidFill>
                <a:latin typeface="Consolas"/>
              </a:rPr>
              <a:t>    expect(data =&gt; 12, sc =&gt; 0, sym =&gt; 1, last =&gt; false);</a:t>
            </a:r>
          </a:p>
          <a:p>
            <a:pPr algn="l">
              <a:lnSpc>
                <a:spcPct val="115000"/>
              </a:lnSpc>
              <a:spcAft>
                <a:spcPts val="0"/>
              </a:spcAft>
            </a:pPr>
            <a:r>
              <a:rPr sz="1050" i="0">
                <a:solidFill>
                  <a:srgbClr val="1C273A"/>
                </a:solidFill>
                <a:latin typeface="Consolas"/>
              </a:rPr>
              <a:t>    expect(data =&gt; 13, sc =&gt; 1, sym =&gt; 1, last =&gt; true);   -- tlast</a:t>
            </a:r>
          </a:p>
          <a:p>
            <a:pPr algn="l">
              <a:lnSpc>
                <a:spcPct val="115000"/>
              </a:lnSpc>
              <a:spcAft>
                <a:spcPts val="0"/>
              </a:spcAft>
            </a:pPr>
            <a:r>
              <a:rPr sz="1050" i="0">
                <a:solidFill>
                  <a:srgbClr val="1C273A"/>
                </a:solidFill>
                <a:latin typeface="Consolas"/>
              </a:rPr>
              <a:t> </a:t>
            </a:r>
          </a:p>
          <a:p>
            <a:pPr algn="l">
              <a:lnSpc>
                <a:spcPct val="115000"/>
              </a:lnSpc>
              <a:spcAft>
                <a:spcPts val="0"/>
              </a:spcAft>
            </a:pPr>
            <a:r>
              <a:rPr sz="1050" i="0">
                <a:solidFill>
                  <a:srgbClr val="1C273A"/>
                </a:solidFill>
                <a:latin typeface="Consolas"/>
              </a:rPr>
              <a:t>    send_beat(data =&gt; 10, last =&gt; false);</a:t>
            </a:r>
          </a:p>
          <a:p>
            <a:pPr algn="l">
              <a:lnSpc>
                <a:spcPct val="115000"/>
              </a:lnSpc>
              <a:spcAft>
                <a:spcPts val="0"/>
              </a:spcAft>
            </a:pPr>
            <a:r>
              <a:rPr sz="1050" i="0">
                <a:solidFill>
                  <a:srgbClr val="1C273A"/>
                </a:solidFill>
                <a:latin typeface="Consolas"/>
              </a:rPr>
              <a:t>    send_beat(data =&gt; 11, last =&gt; false);</a:t>
            </a:r>
          </a:p>
          <a:p>
            <a:pPr algn="l">
              <a:lnSpc>
                <a:spcPct val="115000"/>
              </a:lnSpc>
              <a:spcAft>
                <a:spcPts val="0"/>
              </a:spcAft>
            </a:pPr>
            <a:r>
              <a:rPr sz="1050" i="0">
                <a:solidFill>
                  <a:srgbClr val="1C273A"/>
                </a:solidFill>
                <a:latin typeface="Consolas"/>
              </a:rPr>
              <a:t>    send_beat(data =&gt; 12, last =&gt; false);</a:t>
            </a:r>
          </a:p>
          <a:p>
            <a:pPr algn="l">
              <a:lnSpc>
                <a:spcPct val="115000"/>
              </a:lnSpc>
              <a:spcAft>
                <a:spcPts val="0"/>
              </a:spcAft>
            </a:pPr>
            <a:r>
              <a:rPr sz="1050" i="0">
                <a:solidFill>
                  <a:srgbClr val="1C273A"/>
                </a:solidFill>
                <a:latin typeface="Consolas"/>
              </a:rPr>
              <a:t>    send_beat(data =&gt; 13, last =&gt; true);</a:t>
            </a:r>
          </a:p>
          <a:p>
            <a:pPr algn="l">
              <a:lnSpc>
                <a:spcPct val="115000"/>
              </a:lnSpc>
              <a:spcAft>
                <a:spcPts val="0"/>
              </a:spcAft>
            </a:pPr>
            <a:r>
              <a:rPr sz="1050" i="0">
                <a:solidFill>
                  <a:srgbClr val="1C273A"/>
                </a:solidFill>
                <a:latin typeface="Consolas"/>
              </a:rPr>
              <a:t> </a:t>
            </a:r>
          </a:p>
          <a:p>
            <a:pPr algn="l">
              <a:lnSpc>
                <a:spcPct val="115000"/>
              </a:lnSpc>
              <a:spcAft>
                <a:spcPts val="0"/>
              </a:spcAft>
            </a:pPr>
            <a:r>
              <a:rPr sz="1050" i="1">
                <a:solidFill>
                  <a:srgbClr val="7A8699"/>
                </a:solidFill>
                <a:latin typeface="Consolas"/>
              </a:rPr>
              <a:t>    -- cerceve bitti: indeks sifirlanmali</a:t>
            </a:r>
          </a:p>
          <a:p>
            <a:pPr algn="l">
              <a:lnSpc>
                <a:spcPct val="115000"/>
              </a:lnSpc>
              <a:spcAft>
                <a:spcPts val="0"/>
              </a:spcAft>
            </a:pPr>
            <a:r>
              <a:rPr sz="1050" i="0">
                <a:solidFill>
                  <a:srgbClr val="1C273A"/>
                </a:solidFill>
                <a:latin typeface="Consolas"/>
              </a:rPr>
              <a:t>    expect(data =&gt; 20, sc =&gt; 0, sym =&gt; 0, last =&gt; false);</a:t>
            </a:r>
          </a:p>
          <a:p>
            <a:pPr algn="l">
              <a:lnSpc>
                <a:spcPct val="115000"/>
              </a:lnSpc>
              <a:spcAft>
                <a:spcPts val="0"/>
              </a:spcAft>
            </a:pPr>
            <a:r>
              <a:rPr sz="1050" i="0">
                <a:solidFill>
                  <a:srgbClr val="1C273A"/>
                </a:solidFill>
                <a:latin typeface="Consolas"/>
              </a:rPr>
              <a:t>    send_beat(data =&gt; 20, last =&gt; false);</a:t>
            </a:r>
          </a:p>
          <a:p>
            <a:pPr algn="l">
              <a:lnSpc>
                <a:spcPct val="115000"/>
              </a:lnSpc>
              <a:spcAft>
                <a:spcPts val="0"/>
              </a:spcAft>
            </a:pPr>
            <a:r>
              <a:rPr sz="1050" i="0">
                <a:solidFill>
                  <a:srgbClr val="1C273A"/>
                </a:solidFill>
                <a:latin typeface="Consolas"/>
              </a:rPr>
              <a:t> </a:t>
            </a:r>
          </a:p>
          <a:p>
            <a:pPr algn="l">
              <a:lnSpc>
                <a:spcPct val="115000"/>
              </a:lnSpc>
              <a:spcAft>
                <a:spcPts val="0"/>
              </a:spcAft>
            </a:pPr>
            <a:r>
              <a:rPr sz="1050" i="0">
                <a:solidFill>
                  <a:srgbClr val="1C273A"/>
                </a:solidFill>
                <a:latin typeface="Consolas"/>
              </a:rPr>
              <a:t>    wait_cycles(5);</a:t>
            </a:r>
          </a:p>
          <a:p>
            <a:pPr algn="l">
              <a:lnSpc>
                <a:spcPct val="115000"/>
              </a:lnSpc>
              <a:spcAft>
                <a:spcPts val="0"/>
              </a:spcAft>
            </a:pPr>
            <a:r>
              <a:rPr sz="1050" i="0">
                <a:solidFill>
                  <a:srgbClr val="1C273A"/>
                </a:solidFill>
                <a:latin typeface="Consolas"/>
              </a:rPr>
              <a:t>    check(is_empty(exp_queue), "eksik beat: kuyrukta beklenti kaldi");</a:t>
            </a:r>
          </a:p>
          <a:p>
            <a:pPr algn="l">
              <a:lnSpc>
                <a:spcPct val="115000"/>
              </a:lnSpc>
              <a:spcAft>
                <a:spcPts val="0"/>
              </a:spcAft>
            </a:pPr>
            <a:r>
              <a:rPr sz="1050" i="0">
                <a:solidFill>
                  <a:srgbClr val="1C273A"/>
                </a:solidFill>
                <a:latin typeface="Consolas"/>
              </a:rPr>
              <a:t>    check_equal(beat_count - beats_at_start, 5, "toplam beat sayisi");</a:t>
            </a:r>
          </a:p>
        </p:txBody>
      </p:sp>
      <p:sp>
        <p:nvSpPr>
          <p:cNvPr id="6" name="Rounded Rectangle 5"/>
          <p:cNvSpPr/>
          <p:nvPr/>
        </p:nvSpPr>
        <p:spPr>
          <a:xfrm>
            <a:off x="7132320" y="1920240"/>
            <a:ext cx="3611880" cy="2832608"/>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33488" y="2121408"/>
            <a:ext cx="32095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İKİ AYRI İDDİA</a:t>
            </a:r>
          </a:p>
        </p:txBody>
      </p:sp>
      <p:sp>
        <p:nvSpPr>
          <p:cNvPr id="8" name="TextBox 7"/>
          <p:cNvSpPr txBox="1"/>
          <p:nvPr/>
        </p:nvSpPr>
        <p:spPr>
          <a:xfrm>
            <a:off x="7333488" y="2505456"/>
            <a:ext cx="3209544" cy="2137664"/>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is_empty(exp_queue)</a:t>
            </a:r>
          </a:p>
          <a:p>
            <a:pPr algn="l">
              <a:lnSpc>
                <a:spcPct val="112000"/>
              </a:lnSpc>
              <a:spcAft>
                <a:spcPts val="400"/>
              </a:spcAft>
            </a:pPr>
            <a:r>
              <a:rPr sz="1400" b="0" i="0">
                <a:solidFill>
                  <a:srgbClr val="4D4D4D"/>
                </a:solidFill>
                <a:latin typeface="Calibri"/>
              </a:rPr>
              <a:t>eksik beat'i yakalar — beklenti kuyrukta kaldıysa DUT üretmemiştir.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beat_count karşılaştırması</a:t>
            </a:r>
          </a:p>
          <a:p>
            <a:pPr algn="l">
              <a:lnSpc>
                <a:spcPct val="112000"/>
              </a:lnSpc>
              <a:spcAft>
                <a:spcPts val="400"/>
              </a:spcAft>
            </a:pPr>
            <a:r>
              <a:rPr sz="1400" b="0" i="0">
                <a:solidFill>
                  <a:srgbClr val="4D4D4D"/>
                </a:solidFill>
                <a:latin typeface="Calibri"/>
              </a:rPr>
              <a:t>fazla beat'i yakalar — DUT uydurma beat üretmişse sayı tutmaz.</a:t>
            </a:r>
          </a:p>
        </p:txBody>
      </p:sp>
      <p:sp>
        <p:nvSpPr>
          <p:cNvPr id="9" name="Rounded Rectangle 8"/>
          <p:cNvSpPr/>
          <p:nvPr/>
        </p:nvSpPr>
        <p:spPr>
          <a:xfrm>
            <a:off x="7132320" y="4206240"/>
            <a:ext cx="3611880" cy="2332736"/>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33488" y="4407407"/>
            <a:ext cx="3209544" cy="384048"/>
          </a:xfrm>
          <a:prstGeom prst="rect">
            <a:avLst/>
          </a:prstGeom>
          <a:noFill/>
        </p:spPr>
        <p:txBody>
          <a:bodyPr wrap="square" lIns="0" tIns="0" rIns="0" bIns="0">
            <a:spAutoFit/>
          </a:bodyPr>
          <a:lstStyle/>
          <a:p>
            <a:pPr algn="l">
              <a:spcAft>
                <a:spcPts val="600"/>
              </a:spcAft>
            </a:pPr>
            <a:r>
              <a:rPr sz="1700" b="1" i="0">
                <a:solidFill>
                  <a:srgbClr val="FF5620"/>
                </a:solidFill>
                <a:latin typeface="Segoe UI"/>
              </a:rPr>
              <a:t>NEDEN ELLE?</a:t>
            </a:r>
          </a:p>
        </p:txBody>
      </p:sp>
      <p:sp>
        <p:nvSpPr>
          <p:cNvPr id="11" name="TextBox 10"/>
          <p:cNvSpPr txBox="1"/>
          <p:nvPr/>
        </p:nvSpPr>
        <p:spPr>
          <a:xfrm>
            <a:off x="7333488" y="4791455"/>
            <a:ext cx="3209544" cy="1637792"/>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Beklenen değerler DUT'un indeks mantığı tekrar yazılarak değil, kâğıt üzerinde hesaplanarak yazıldı.</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Aynı mantığı iki kez yazmak hiçbir şey kanıtlamaz.</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ZAMANSAL KONTROL</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Sürekli koşan denetçi: sıradan bağımsız, her çevrimde aynı iddia</a:t>
            </a:r>
          </a:p>
        </p:txBody>
      </p:sp>
      <p:sp>
        <p:nvSpPr>
          <p:cNvPr id="4" name="Rounded Rectangle 3"/>
          <p:cNvSpPr/>
          <p:nvPr/>
        </p:nvSpPr>
        <p:spPr>
          <a:xfrm>
            <a:off x="411480" y="1920240"/>
            <a:ext cx="6446520" cy="401447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103120"/>
            <a:ext cx="6080759" cy="3648710"/>
          </a:xfrm>
          <a:prstGeom prst="rect">
            <a:avLst/>
          </a:prstGeom>
          <a:noFill/>
        </p:spPr>
        <p:txBody>
          <a:bodyPr wrap="square" lIns="0" tIns="0" rIns="0" bIns="0">
            <a:spAutoFit/>
          </a:bodyPr>
          <a:lstStyle/>
          <a:p>
            <a:pPr algn="l">
              <a:lnSpc>
                <a:spcPct val="115000"/>
              </a:lnSpc>
              <a:spcAft>
                <a:spcPts val="0"/>
              </a:spcAft>
            </a:pPr>
            <a:r>
              <a:rPr sz="850" i="1">
                <a:solidFill>
                  <a:srgbClr val="7A8699"/>
                </a:solidFill>
                <a:latin typeface="Consolas"/>
              </a:rPr>
              <a:t>-- 1) Elle yazilmis hali: onceki cevrimin degerini sakla, karsilastir</a:t>
            </a:r>
          </a:p>
          <a:p>
            <a:pPr algn="l">
              <a:lnSpc>
                <a:spcPct val="115000"/>
              </a:lnSpc>
              <a:spcAft>
                <a:spcPts val="0"/>
              </a:spcAft>
            </a:pPr>
            <a:r>
              <a:rPr sz="850" i="0">
                <a:solidFill>
                  <a:srgbClr val="1C273A"/>
                </a:solidFill>
                <a:latin typeface="Consolas"/>
              </a:rPr>
              <a:t>protokol : process</a:t>
            </a:r>
          </a:p>
          <a:p>
            <a:pPr algn="l">
              <a:lnSpc>
                <a:spcPct val="115000"/>
              </a:lnSpc>
              <a:spcAft>
                <a:spcPts val="0"/>
              </a:spcAft>
            </a:pPr>
            <a:r>
              <a:rPr sz="850" i="0">
                <a:solidFill>
                  <a:srgbClr val="1C273A"/>
                </a:solidFill>
                <a:latin typeface="Consolas"/>
              </a:rPr>
              <a:t>    variable prev_valid : std_logic := '0';</a:t>
            </a:r>
          </a:p>
          <a:p>
            <a:pPr algn="l">
              <a:lnSpc>
                <a:spcPct val="115000"/>
              </a:lnSpc>
              <a:spcAft>
                <a:spcPts val="0"/>
              </a:spcAft>
            </a:pPr>
            <a:r>
              <a:rPr sz="850" i="0">
                <a:solidFill>
                  <a:srgbClr val="1C273A"/>
                </a:solidFill>
                <a:latin typeface="Consolas"/>
              </a:rPr>
              <a:t>    variable prev_ready : std_logic := '0';</a:t>
            </a:r>
          </a:p>
          <a:p>
            <a:pPr algn="l">
              <a:lnSpc>
                <a:spcPct val="115000"/>
              </a:lnSpc>
              <a:spcAft>
                <a:spcPts val="0"/>
              </a:spcAft>
            </a:pPr>
            <a:r>
              <a:rPr sz="850" i="0">
                <a:solidFill>
                  <a:srgbClr val="1C273A"/>
                </a:solidFill>
                <a:latin typeface="Consolas"/>
              </a:rPr>
              <a:t>    variable prev_user  : std_logic_vector(TUSER_WIDTH-1 downto 0);</a:t>
            </a:r>
          </a:p>
          <a:p>
            <a:pPr algn="l">
              <a:lnSpc>
                <a:spcPct val="115000"/>
              </a:lnSpc>
              <a:spcAft>
                <a:spcPts val="0"/>
              </a:spcAft>
            </a:pPr>
            <a:r>
              <a:rPr sz="850" i="0">
                <a:solidFill>
                  <a:srgbClr val="1C273A"/>
                </a:solidFill>
                <a:latin typeface="Consolas"/>
              </a:rPr>
              <a:t>begin</a:t>
            </a:r>
          </a:p>
          <a:p>
            <a:pPr algn="l">
              <a:lnSpc>
                <a:spcPct val="115000"/>
              </a:lnSpc>
              <a:spcAft>
                <a:spcPts val="0"/>
              </a:spcAft>
            </a:pPr>
            <a:r>
              <a:rPr sz="850" i="0">
                <a:solidFill>
                  <a:srgbClr val="1C273A"/>
                </a:solidFill>
                <a:latin typeface="Consolas"/>
              </a:rPr>
              <a:t>    wait until rising_edge(clk);</a:t>
            </a:r>
          </a:p>
          <a:p>
            <a:pPr algn="l">
              <a:lnSpc>
                <a:spcPct val="115000"/>
              </a:lnSpc>
              <a:spcAft>
                <a:spcPts val="0"/>
              </a:spcAft>
            </a:pPr>
            <a:r>
              <a:rPr sz="850" i="0">
                <a:solidFill>
                  <a:srgbClr val="1C273A"/>
                </a:solidFill>
                <a:latin typeface="Consolas"/>
              </a:rPr>
              <a:t>    if rst_n = '0' then</a:t>
            </a:r>
          </a:p>
          <a:p>
            <a:pPr algn="l">
              <a:lnSpc>
                <a:spcPct val="115000"/>
              </a:lnSpc>
              <a:spcAft>
                <a:spcPts val="0"/>
              </a:spcAft>
            </a:pPr>
            <a:r>
              <a:rPr sz="850" i="0">
                <a:solidFill>
                  <a:srgbClr val="1C273A"/>
                </a:solidFill>
                <a:latin typeface="Consolas"/>
              </a:rPr>
              <a:t>        prev_valid := '0';</a:t>
            </a:r>
          </a:p>
          <a:p>
            <a:pPr algn="l">
              <a:lnSpc>
                <a:spcPct val="115000"/>
              </a:lnSpc>
              <a:spcAft>
                <a:spcPts val="0"/>
              </a:spcAft>
            </a:pPr>
            <a:r>
              <a:rPr sz="850" i="0">
                <a:solidFill>
                  <a:srgbClr val="1C273A"/>
                </a:solidFill>
                <a:latin typeface="Consolas"/>
              </a:rPr>
              <a:t>    else</a:t>
            </a:r>
          </a:p>
          <a:p>
            <a:pPr algn="l">
              <a:lnSpc>
                <a:spcPct val="115000"/>
              </a:lnSpc>
              <a:spcAft>
                <a:spcPts val="0"/>
              </a:spcAft>
            </a:pPr>
            <a:r>
              <a:rPr sz="850" i="0">
                <a:solidFill>
                  <a:srgbClr val="1C273A"/>
                </a:solidFill>
                <a:latin typeface="Consolas"/>
              </a:rPr>
              <a:t>        if prev_valid = '1' and prev_ready = '0' then</a:t>
            </a:r>
          </a:p>
          <a:p>
            <a:pPr algn="l">
              <a:lnSpc>
                <a:spcPct val="115000"/>
              </a:lnSpc>
              <a:spcAft>
                <a:spcPts val="0"/>
              </a:spcAft>
            </a:pPr>
            <a:r>
              <a:rPr sz="850" i="1">
                <a:solidFill>
                  <a:srgbClr val="7A8699"/>
                </a:solidFill>
                <a:latin typeface="Consolas"/>
              </a:rPr>
              <a:t>            -- asili bir beat'e dokunulamaz</a:t>
            </a:r>
          </a:p>
          <a:p>
            <a:pPr algn="l">
              <a:lnSpc>
                <a:spcPct val="115000"/>
              </a:lnSpc>
              <a:spcAft>
                <a:spcPts val="0"/>
              </a:spcAft>
            </a:pPr>
            <a:r>
              <a:rPr sz="850" i="0">
                <a:solidFill>
                  <a:srgbClr val="1C273A"/>
                </a:solidFill>
                <a:latin typeface="Consolas"/>
              </a:rPr>
              <a:t>            check_equal(m_axis_tvalid, '1',</a:t>
            </a:r>
          </a:p>
          <a:p>
            <a:pPr algn="l">
              <a:lnSpc>
                <a:spcPct val="115000"/>
              </a:lnSpc>
              <a:spcAft>
                <a:spcPts val="0"/>
              </a:spcAft>
            </a:pPr>
            <a:r>
              <a:rPr sz="850" i="0">
                <a:solidFill>
                  <a:srgbClr val="1C273A"/>
                </a:solidFill>
                <a:latin typeface="Consolas"/>
              </a:rPr>
              <a:t>                        "PROTOKOL: el sikisma olmadan tvalid cekildi");</a:t>
            </a:r>
          </a:p>
          <a:p>
            <a:pPr algn="l">
              <a:lnSpc>
                <a:spcPct val="115000"/>
              </a:lnSpc>
              <a:spcAft>
                <a:spcPts val="0"/>
              </a:spcAft>
            </a:pPr>
            <a:r>
              <a:rPr sz="850" i="0">
                <a:solidFill>
                  <a:srgbClr val="1C273A"/>
                </a:solidFill>
                <a:latin typeface="Consolas"/>
              </a:rPr>
              <a:t>            check_equal(m_axis_tuser, prev_user,</a:t>
            </a:r>
          </a:p>
          <a:p>
            <a:pPr algn="l">
              <a:lnSpc>
                <a:spcPct val="115000"/>
              </a:lnSpc>
              <a:spcAft>
                <a:spcPts val="0"/>
              </a:spcAft>
            </a:pPr>
            <a:r>
              <a:rPr sz="850" i="0">
                <a:solidFill>
                  <a:srgbClr val="1C273A"/>
                </a:solidFill>
                <a:latin typeface="Consolas"/>
              </a:rPr>
              <a:t>                        "PROTOKOL: el sikisma beklenirken tuser degisti");</a:t>
            </a:r>
          </a:p>
          <a:p>
            <a:pPr algn="l">
              <a:lnSpc>
                <a:spcPct val="115000"/>
              </a:lnSpc>
              <a:spcAft>
                <a:spcPts val="0"/>
              </a:spcAft>
            </a:pPr>
            <a:r>
              <a:rPr sz="850" i="0">
                <a:solidFill>
                  <a:srgbClr val="1C273A"/>
                </a:solidFill>
                <a:latin typeface="Consolas"/>
              </a:rPr>
              <a:t>        end if;</a:t>
            </a:r>
          </a:p>
          <a:p>
            <a:pPr algn="l">
              <a:lnSpc>
                <a:spcPct val="115000"/>
              </a:lnSpc>
              <a:spcAft>
                <a:spcPts val="0"/>
              </a:spcAft>
            </a:pPr>
            <a:r>
              <a:rPr sz="850" i="0">
                <a:solidFill>
                  <a:srgbClr val="1C273A"/>
                </a:solidFill>
                <a:latin typeface="Consolas"/>
              </a:rPr>
              <a:t>        prev_valid := m_axis_tvalid;</a:t>
            </a:r>
          </a:p>
          <a:p>
            <a:pPr algn="l">
              <a:lnSpc>
                <a:spcPct val="115000"/>
              </a:lnSpc>
              <a:spcAft>
                <a:spcPts val="0"/>
              </a:spcAft>
            </a:pPr>
            <a:r>
              <a:rPr sz="850" i="0">
                <a:solidFill>
                  <a:srgbClr val="1C273A"/>
                </a:solidFill>
                <a:latin typeface="Consolas"/>
              </a:rPr>
              <a:t>    end if;</a:t>
            </a:r>
          </a:p>
          <a:p>
            <a:pPr algn="l">
              <a:lnSpc>
                <a:spcPct val="115000"/>
              </a:lnSpc>
              <a:spcAft>
                <a:spcPts val="0"/>
              </a:spcAft>
            </a:pPr>
            <a:r>
              <a:rPr sz="850" i="0">
                <a:solidFill>
                  <a:srgbClr val="1C273A"/>
                </a:solidFill>
                <a:latin typeface="Consolas"/>
              </a:rPr>
              <a:t>    prev_ready := m_axis_tready;</a:t>
            </a:r>
          </a:p>
          <a:p>
            <a:pPr algn="l">
              <a:lnSpc>
                <a:spcPct val="115000"/>
              </a:lnSpc>
              <a:spcAft>
                <a:spcPts val="0"/>
              </a:spcAft>
            </a:pPr>
            <a:r>
              <a:rPr sz="850" i="0">
                <a:solidFill>
                  <a:srgbClr val="1C273A"/>
                </a:solidFill>
                <a:latin typeface="Consolas"/>
              </a:rPr>
              <a:t>    prev_user  := m_axis_tuser;</a:t>
            </a:r>
          </a:p>
          <a:p>
            <a:pPr algn="l">
              <a:lnSpc>
                <a:spcPct val="115000"/>
              </a:lnSpc>
              <a:spcAft>
                <a:spcPts val="0"/>
              </a:spcAft>
            </a:pPr>
            <a:r>
              <a:rPr sz="850" i="0">
                <a:solidFill>
                  <a:srgbClr val="1C273A"/>
                </a:solidFill>
                <a:latin typeface="Consolas"/>
              </a:rPr>
              <a:t>end process;</a:t>
            </a:r>
          </a:p>
          <a:p>
            <a:pPr algn="l">
              <a:lnSpc>
                <a:spcPct val="115000"/>
              </a:lnSpc>
              <a:spcAft>
                <a:spcPts val="0"/>
              </a:spcAft>
            </a:pPr>
            <a:r>
              <a:rPr sz="850" i="0">
                <a:solidFill>
                  <a:srgbClr val="1C273A"/>
                </a:solidFill>
                <a:latin typeface="Consolas"/>
              </a:rPr>
              <a:t> </a:t>
            </a:r>
          </a:p>
          <a:p>
            <a:pPr algn="l">
              <a:lnSpc>
                <a:spcPct val="115000"/>
              </a:lnSpc>
              <a:spcAft>
                <a:spcPts val="0"/>
              </a:spcAft>
            </a:pPr>
            <a:r>
              <a:rPr sz="850" i="1">
                <a:solidFill>
                  <a:srgbClr val="7A8699"/>
                </a:solidFill>
                <a:latin typeface="Consolas"/>
              </a:rPr>
              <a:t>-- 2) Hazir hali: ayni isi check kutuphanesi yapar</a:t>
            </a:r>
          </a:p>
          <a:p>
            <a:pPr algn="l">
              <a:lnSpc>
                <a:spcPct val="115000"/>
              </a:lnSpc>
              <a:spcAft>
                <a:spcPts val="0"/>
              </a:spcAft>
            </a:pPr>
            <a:r>
              <a:rPr sz="850" i="0">
                <a:solidFill>
                  <a:srgbClr val="1C273A"/>
                </a:solidFill>
                <a:latin typeface="Consolas"/>
              </a:rPr>
              <a:t>check_stable(clk, en =&gt; start_window, start_event =&gt; tvalid_rise,</a:t>
            </a:r>
          </a:p>
          <a:p>
            <a:pPr algn="l">
              <a:lnSpc>
                <a:spcPct val="115000"/>
              </a:lnSpc>
              <a:spcAft>
                <a:spcPts val="0"/>
              </a:spcAft>
            </a:pPr>
            <a:r>
              <a:rPr sz="850" i="0">
                <a:solidFill>
                  <a:srgbClr val="1C273A"/>
                </a:solidFill>
                <a:latin typeface="Consolas"/>
              </a:rPr>
              <a:t>             end_event =&gt; handshake, expr =&gt; m_axis_tuser);</a:t>
            </a:r>
          </a:p>
        </p:txBody>
      </p:sp>
      <p:sp>
        <p:nvSpPr>
          <p:cNvPr id="6" name="Rounded Rectangle 5"/>
          <p:cNvSpPr/>
          <p:nvPr/>
        </p:nvSpPr>
        <p:spPr>
          <a:xfrm>
            <a:off x="7132320" y="1920240"/>
            <a:ext cx="3611880" cy="2832608"/>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33488" y="2121408"/>
            <a:ext cx="32095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NEDEN ÖNCE ELLE?</a:t>
            </a:r>
          </a:p>
        </p:txBody>
      </p:sp>
      <p:sp>
        <p:nvSpPr>
          <p:cNvPr id="8" name="TextBox 7"/>
          <p:cNvSpPr txBox="1"/>
          <p:nvPr/>
        </p:nvSpPr>
        <p:spPr>
          <a:xfrm>
            <a:off x="7333488" y="2505456"/>
            <a:ext cx="3209544" cy="2137664"/>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VUnit'in axi_stream_protocol_checker'ı bu işin hazır hâli.</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Ama denetçi kırmızıya döndüğünde mesajın ne dediğini anlamak için bir kez elle yazmak gerekiyor.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Sonra hazırına geçilir.</a:t>
            </a:r>
          </a:p>
        </p:txBody>
      </p:sp>
      <p:sp>
        <p:nvSpPr>
          <p:cNvPr id="9" name="Rounded Rectangle 8"/>
          <p:cNvSpPr/>
          <p:nvPr/>
        </p:nvSpPr>
        <p:spPr>
          <a:xfrm>
            <a:off x="7132320" y="4434840"/>
            <a:ext cx="3611880" cy="1934464"/>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33488" y="4636007"/>
            <a:ext cx="3209544" cy="384048"/>
          </a:xfrm>
          <a:prstGeom prst="rect">
            <a:avLst/>
          </a:prstGeom>
          <a:noFill/>
        </p:spPr>
        <p:txBody>
          <a:bodyPr wrap="square" lIns="0" tIns="0" rIns="0" bIns="0">
            <a:spAutoFit/>
          </a:bodyPr>
          <a:lstStyle/>
          <a:p>
            <a:pPr algn="l">
              <a:spcAft>
                <a:spcPts val="600"/>
              </a:spcAft>
            </a:pPr>
            <a:r>
              <a:rPr sz="1700" b="1" i="0">
                <a:solidFill>
                  <a:srgbClr val="FF5620"/>
                </a:solidFill>
                <a:latin typeface="Segoe UI"/>
              </a:rPr>
              <a:t>PROSEDÜREL FARKI</a:t>
            </a:r>
          </a:p>
        </p:txBody>
      </p:sp>
      <p:sp>
        <p:nvSpPr>
          <p:cNvPr id="11" name="TextBox 10"/>
          <p:cNvSpPr txBox="1"/>
          <p:nvPr/>
        </p:nvSpPr>
        <p:spPr>
          <a:xfrm>
            <a:off x="7333488" y="5020055"/>
            <a:ext cx="3209544" cy="1239520"/>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Bu process hiçbir test case'ine ait değil — beşinin de altında sürekli koşar.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Prosedürel test bunu yapamaz.</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KAPALI FORMLU GOLDEN MODEL</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Şartnameyi taklit etmek serbest, implementasyonu taklit etmek değil</a:t>
            </a:r>
          </a:p>
        </p:txBody>
      </p:sp>
      <p:sp>
        <p:nvSpPr>
          <p:cNvPr id="4" name="Rounded Rectangle 3"/>
          <p:cNvSpPr/>
          <p:nvPr/>
        </p:nvSpPr>
        <p:spPr>
          <a:xfrm>
            <a:off x="411480" y="1920240"/>
            <a:ext cx="6446520" cy="4154805"/>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103120"/>
            <a:ext cx="6080759" cy="3789045"/>
          </a:xfrm>
          <a:prstGeom prst="rect">
            <a:avLst/>
          </a:prstGeom>
          <a:noFill/>
        </p:spPr>
        <p:txBody>
          <a:bodyPr wrap="square" lIns="0" tIns="0" rIns="0" bIns="0">
            <a:spAutoFit/>
          </a:bodyPr>
          <a:lstStyle/>
          <a:p>
            <a:pPr algn="l">
              <a:lnSpc>
                <a:spcPct val="115000"/>
              </a:lnSpc>
              <a:spcAft>
                <a:spcPts val="0"/>
              </a:spcAft>
            </a:pPr>
            <a:r>
              <a:rPr sz="850" i="1">
                <a:solidFill>
                  <a:srgbClr val="7A8699"/>
                </a:solidFill>
                <a:latin typeface="Consolas"/>
              </a:rPr>
              <a:t>-- Sartname kapali formda: beat i, grid'de nereye duser?</a:t>
            </a:r>
          </a:p>
          <a:p>
            <a:pPr algn="l">
              <a:lnSpc>
                <a:spcPct val="115000"/>
              </a:lnSpc>
              <a:spcAft>
                <a:spcPts val="0"/>
              </a:spcAft>
            </a:pPr>
            <a:r>
              <a:rPr sz="850" i="1">
                <a:solidFill>
                  <a:srgbClr val="7A8699"/>
                </a:solidFill>
                <a:latin typeface="Consolas"/>
              </a:rPr>
              <a:t>--   RTL bunu artimli sayacla yapiyor; model dogrudan hesapliyor.</a:t>
            </a:r>
          </a:p>
          <a:p>
            <a:pPr algn="l">
              <a:lnSpc>
                <a:spcPct val="115000"/>
              </a:lnSpc>
              <a:spcAft>
                <a:spcPts val="0"/>
              </a:spcAft>
            </a:pPr>
            <a:r>
              <a:rPr sz="850" i="0">
                <a:solidFill>
                  <a:srgbClr val="1C273A"/>
                </a:solidFill>
                <a:latin typeface="Consolas"/>
              </a:rPr>
              <a:t>exp_sc  := i mod sc_count;</a:t>
            </a:r>
          </a:p>
          <a:p>
            <a:pPr algn="l">
              <a:lnSpc>
                <a:spcPct val="115000"/>
              </a:lnSpc>
              <a:spcAft>
                <a:spcPts val="0"/>
              </a:spcAft>
            </a:pPr>
            <a:r>
              <a:rPr sz="850" i="0">
                <a:solidFill>
                  <a:srgbClr val="1C273A"/>
                </a:solidFill>
                <a:latin typeface="Consolas"/>
              </a:rPr>
              <a:t>exp_sym := (i / sc_count) mod sym_count;</a:t>
            </a:r>
          </a:p>
          <a:p>
            <a:pPr algn="l">
              <a:lnSpc>
                <a:spcPct val="115000"/>
              </a:lnSpc>
              <a:spcAft>
                <a:spcPts val="0"/>
              </a:spcAft>
            </a:pPr>
            <a:r>
              <a:rPr sz="850" i="0">
                <a:solidFill>
                  <a:srgbClr val="1C273A"/>
                </a:solidFill>
                <a:latin typeface="Consolas"/>
              </a:rPr>
              <a:t> </a:t>
            </a:r>
          </a:p>
          <a:p>
            <a:pPr algn="l">
              <a:lnSpc>
                <a:spcPct val="115000"/>
              </a:lnSpc>
              <a:spcAft>
                <a:spcPts val="0"/>
              </a:spcAft>
            </a:pPr>
            <a:r>
              <a:rPr sz="850" i="1">
                <a:solidFill>
                  <a:srgbClr val="7A8699"/>
                </a:solidFill>
                <a:latin typeface="Consolas"/>
              </a:rPr>
              <a:t>-- Kisitlanmis aday kumesi: rastgelelik DARALTARAK deger uretir</a:t>
            </a:r>
          </a:p>
          <a:p>
            <a:pPr algn="l">
              <a:lnSpc>
                <a:spcPct val="115000"/>
              </a:lnSpc>
              <a:spcAft>
                <a:spcPts val="0"/>
              </a:spcAft>
            </a:pPr>
            <a:r>
              <a:rPr sz="850" i="0">
                <a:solidFill>
                  <a:srgbClr val="1C273A"/>
                </a:solidFill>
                <a:latin typeface="Consolas"/>
              </a:rPr>
              <a:t>constant SC_CANDIDATES : integer_vector := (1, 2, 4, 12, 24, 100, 255);</a:t>
            </a:r>
          </a:p>
          <a:p>
            <a:pPr algn="l">
              <a:lnSpc>
                <a:spcPct val="115000"/>
              </a:lnSpc>
              <a:spcAft>
                <a:spcPts val="0"/>
              </a:spcAft>
            </a:pPr>
            <a:r>
              <a:rPr sz="850" i="1">
                <a:solidFill>
                  <a:srgbClr val="7A8699"/>
                </a:solidFill>
                <a:latin typeface="Consolas"/>
              </a:rPr>
              <a:t>--   1, 2   dejenere durumlar</a:t>
            </a:r>
          </a:p>
          <a:p>
            <a:pPr algn="l">
              <a:lnSpc>
                <a:spcPct val="115000"/>
              </a:lnSpc>
              <a:spcAft>
                <a:spcPts val="0"/>
              </a:spcAft>
            </a:pPr>
            <a:r>
              <a:rPr sz="850" i="1">
                <a:solidFill>
                  <a:srgbClr val="7A8699"/>
                </a:solidFill>
                <a:latin typeface="Consolas"/>
              </a:rPr>
              <a:t>--   12, 24 LTE'de gercekten gorulen RB boyutlari</a:t>
            </a:r>
          </a:p>
          <a:p>
            <a:pPr algn="l">
              <a:lnSpc>
                <a:spcPct val="115000"/>
              </a:lnSpc>
              <a:spcAft>
                <a:spcPts val="0"/>
              </a:spcAft>
            </a:pPr>
            <a:r>
              <a:rPr sz="850" i="1">
                <a:solidFill>
                  <a:srgbClr val="7A8699"/>
                </a:solidFill>
                <a:latin typeface="Consolas"/>
              </a:rPr>
              <a:t>--   255    tuser'in 8 bitlik alaninin siniri</a:t>
            </a:r>
          </a:p>
          <a:p>
            <a:pPr algn="l">
              <a:lnSpc>
                <a:spcPct val="115000"/>
              </a:lnSpc>
              <a:spcAft>
                <a:spcPts val="0"/>
              </a:spcAft>
            </a:pPr>
            <a:r>
              <a:rPr sz="850" i="0">
                <a:solidFill>
                  <a:srgbClr val="1C273A"/>
                </a:solidFill>
                <a:latin typeface="Consolas"/>
              </a:rPr>
              <a:t> </a:t>
            </a:r>
          </a:p>
          <a:p>
            <a:pPr algn="l">
              <a:lnSpc>
                <a:spcPct val="115000"/>
              </a:lnSpc>
              <a:spcAft>
                <a:spcPts val="0"/>
              </a:spcAft>
            </a:pPr>
            <a:r>
              <a:rPr sz="850" i="0">
                <a:solidFill>
                  <a:srgbClr val="1C273A"/>
                </a:solidFill>
                <a:latin typeface="Consolas"/>
              </a:rPr>
              <a:t>elsif run("rastgele_config") then</a:t>
            </a:r>
          </a:p>
          <a:p>
            <a:pPr algn="l">
              <a:lnSpc>
                <a:spcPct val="115000"/>
              </a:lnSpc>
              <a:spcAft>
                <a:spcPts val="0"/>
              </a:spcAft>
            </a:pPr>
            <a:r>
              <a:rPr sz="850" i="0">
                <a:solidFill>
                  <a:srgbClr val="1C273A"/>
                </a:solidFill>
                <a:latin typeface="Consolas"/>
              </a:rPr>
              <a:t>    for iter in 1 to 20 loop</a:t>
            </a:r>
          </a:p>
          <a:p>
            <a:pPr algn="l">
              <a:lnSpc>
                <a:spcPct val="115000"/>
              </a:lnSpc>
              <a:spcAft>
                <a:spcPts val="0"/>
              </a:spcAft>
            </a:pPr>
            <a:r>
              <a:rPr sz="850" i="0">
                <a:solidFill>
                  <a:srgbClr val="1C273A"/>
                </a:solidFill>
                <a:latin typeface="Consolas"/>
              </a:rPr>
              <a:t>        reset_dut;</a:t>
            </a:r>
          </a:p>
          <a:p>
            <a:pPr algn="l">
              <a:lnSpc>
                <a:spcPct val="115000"/>
              </a:lnSpc>
              <a:spcAft>
                <a:spcPts val="0"/>
              </a:spcAft>
            </a:pPr>
            <a:r>
              <a:rPr sz="850" i="0">
                <a:solidFill>
                  <a:srgbClr val="1C273A"/>
                </a:solidFill>
                <a:latin typeface="Consolas"/>
              </a:rPr>
              <a:t>        sc_count  := SC_CANDIDATES(rnd.RandInt(0, SC_CANDIDATES'length-1));</a:t>
            </a:r>
          </a:p>
          <a:p>
            <a:pPr algn="l">
              <a:lnSpc>
                <a:spcPct val="115000"/>
              </a:lnSpc>
              <a:spcAft>
                <a:spcPts val="0"/>
              </a:spcAft>
            </a:pPr>
            <a:r>
              <a:rPr sz="850" i="0">
                <a:solidFill>
                  <a:srgbClr val="1C273A"/>
                </a:solidFill>
                <a:latin typeface="Consolas"/>
              </a:rPr>
              <a:t>        sym_count := rnd.RandInt(1, 8);</a:t>
            </a:r>
          </a:p>
          <a:p>
            <a:pPr algn="l">
              <a:lnSpc>
                <a:spcPct val="115000"/>
              </a:lnSpc>
              <a:spcAft>
                <a:spcPts val="0"/>
              </a:spcAft>
            </a:pPr>
            <a:r>
              <a:rPr sz="850" i="0">
                <a:solidFill>
                  <a:srgbClr val="1C273A"/>
                </a:solidFill>
                <a:latin typeface="Consolas"/>
              </a:rPr>
              <a:t>        info("iter " &amp; to_string(iter) &amp; ": sc=" &amp; to_string(sc_count));</a:t>
            </a:r>
          </a:p>
          <a:p>
            <a:pPr algn="l">
              <a:lnSpc>
                <a:spcPct val="115000"/>
              </a:lnSpc>
              <a:spcAft>
                <a:spcPts val="0"/>
              </a:spcAft>
            </a:pPr>
            <a:r>
              <a:rPr sz="850" i="0">
                <a:solidFill>
                  <a:srgbClr val="1C273A"/>
                </a:solidFill>
                <a:latin typeface="Consolas"/>
              </a:rPr>
              <a:t> </a:t>
            </a:r>
          </a:p>
          <a:p>
            <a:pPr algn="l">
              <a:lnSpc>
                <a:spcPct val="115000"/>
              </a:lnSpc>
              <a:spcAft>
                <a:spcPts val="0"/>
              </a:spcAft>
            </a:pPr>
            <a:r>
              <a:rPr sz="850" i="0">
                <a:solidFill>
                  <a:srgbClr val="1C273A"/>
                </a:solidFill>
                <a:latin typeface="Consolas"/>
              </a:rPr>
              <a:t>        write_config(sc_count, sym_count);</a:t>
            </a:r>
          </a:p>
          <a:p>
            <a:pPr algn="l">
              <a:lnSpc>
                <a:spcPct val="115000"/>
              </a:lnSpc>
              <a:spcAft>
                <a:spcPts val="0"/>
              </a:spcAft>
            </a:pPr>
            <a:r>
              <a:rPr sz="850" i="0">
                <a:solidFill>
                  <a:srgbClr val="1C273A"/>
                </a:solidFill>
                <a:latin typeface="Consolas"/>
              </a:rPr>
              <a:t>        for i in 0 to 3 * sc_count * sym_count - 1 loop   -- grid'i 3 kez dolas</a:t>
            </a:r>
          </a:p>
          <a:p>
            <a:pPr algn="l">
              <a:lnSpc>
                <a:spcPct val="115000"/>
              </a:lnSpc>
              <a:spcAft>
                <a:spcPts val="0"/>
              </a:spcAft>
            </a:pPr>
            <a:r>
              <a:rPr sz="850" i="0">
                <a:solidFill>
                  <a:srgbClr val="1C273A"/>
                </a:solidFill>
                <a:latin typeface="Consolas"/>
              </a:rPr>
              <a:t>            expect(data =&gt; i, sc  =&gt; i mod sc_count,</a:t>
            </a:r>
          </a:p>
          <a:p>
            <a:pPr algn="l">
              <a:lnSpc>
                <a:spcPct val="115000"/>
              </a:lnSpc>
              <a:spcAft>
                <a:spcPts val="0"/>
              </a:spcAft>
            </a:pPr>
            <a:r>
              <a:rPr sz="850" i="0">
                <a:solidFill>
                  <a:srgbClr val="1C273A"/>
                </a:solidFill>
                <a:latin typeface="Consolas"/>
              </a:rPr>
              <a:t>                   sym  =&gt; (i / sc_count) mod sym_count, last =&gt; false);</a:t>
            </a:r>
          </a:p>
          <a:p>
            <a:pPr algn="l">
              <a:lnSpc>
                <a:spcPct val="115000"/>
              </a:lnSpc>
              <a:spcAft>
                <a:spcPts val="0"/>
              </a:spcAft>
            </a:pPr>
            <a:r>
              <a:rPr sz="850" i="0">
                <a:solidFill>
                  <a:srgbClr val="1C273A"/>
                </a:solidFill>
                <a:latin typeface="Consolas"/>
              </a:rPr>
              <a:t>            send_beat(data =&gt; i, last =&gt; false);</a:t>
            </a:r>
          </a:p>
          <a:p>
            <a:pPr algn="l">
              <a:lnSpc>
                <a:spcPct val="115000"/>
              </a:lnSpc>
              <a:spcAft>
                <a:spcPts val="0"/>
              </a:spcAft>
            </a:pPr>
            <a:r>
              <a:rPr sz="850" i="0">
                <a:solidFill>
                  <a:srgbClr val="1C273A"/>
                </a:solidFill>
                <a:latin typeface="Consolas"/>
              </a:rPr>
              <a:t>        end loop;</a:t>
            </a:r>
          </a:p>
          <a:p>
            <a:pPr algn="l">
              <a:lnSpc>
                <a:spcPct val="115000"/>
              </a:lnSpc>
              <a:spcAft>
                <a:spcPts val="0"/>
              </a:spcAft>
            </a:pPr>
            <a:r>
              <a:rPr sz="850" i="0">
                <a:solidFill>
                  <a:srgbClr val="1C273A"/>
                </a:solidFill>
                <a:latin typeface="Consolas"/>
              </a:rPr>
              <a:t>        wait_cycles(5);</a:t>
            </a:r>
          </a:p>
          <a:p>
            <a:pPr algn="l">
              <a:lnSpc>
                <a:spcPct val="115000"/>
              </a:lnSpc>
              <a:spcAft>
                <a:spcPts val="0"/>
              </a:spcAft>
            </a:pPr>
            <a:r>
              <a:rPr sz="850" i="0">
                <a:solidFill>
                  <a:srgbClr val="1C273A"/>
                </a:solidFill>
                <a:latin typeface="Consolas"/>
              </a:rPr>
              <a:t>        check(is_empty(exp_queue), "iter " &amp; to_string(iter) &amp; " eksik beat");</a:t>
            </a:r>
          </a:p>
          <a:p>
            <a:pPr algn="l">
              <a:lnSpc>
                <a:spcPct val="115000"/>
              </a:lnSpc>
              <a:spcAft>
                <a:spcPts val="0"/>
              </a:spcAft>
            </a:pPr>
            <a:r>
              <a:rPr sz="850" i="0">
                <a:solidFill>
                  <a:srgbClr val="1C273A"/>
                </a:solidFill>
                <a:latin typeface="Consolas"/>
              </a:rPr>
              <a:t>    end loop;</a:t>
            </a:r>
          </a:p>
        </p:txBody>
      </p:sp>
      <p:sp>
        <p:nvSpPr>
          <p:cNvPr id="6" name="Rounded Rectangle 5"/>
          <p:cNvSpPr/>
          <p:nvPr/>
        </p:nvSpPr>
        <p:spPr>
          <a:xfrm>
            <a:off x="7132320" y="1920240"/>
            <a:ext cx="3611880" cy="260604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33488" y="2121408"/>
            <a:ext cx="32095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NEDEN KAPALI FORM?</a:t>
            </a:r>
          </a:p>
        </p:txBody>
      </p:sp>
      <p:sp>
        <p:nvSpPr>
          <p:cNvPr id="8" name="TextBox 7"/>
          <p:cNvSpPr txBox="1"/>
          <p:nvPr/>
        </p:nvSpPr>
        <p:spPr>
          <a:xfrm>
            <a:off x="7333488" y="2505456"/>
            <a:ext cx="3209544" cy="1637792"/>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RTL'in sarma koşulunu sc_index = sc_count diye (bir fazla) yazsaydı, bu model yakalardı.</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Kopyalanmış artımlı bir model yakalayamazdı — aynı hatayı iki kez yapmış olurdun.</a:t>
            </a:r>
          </a:p>
        </p:txBody>
      </p:sp>
      <p:sp>
        <p:nvSpPr>
          <p:cNvPr id="9" name="Rounded Rectangle 8"/>
          <p:cNvSpPr/>
          <p:nvPr/>
        </p:nvSpPr>
        <p:spPr>
          <a:xfrm>
            <a:off x="7132320" y="4663440"/>
            <a:ext cx="3611880" cy="1434592"/>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33488" y="4864607"/>
            <a:ext cx="3209544" cy="384048"/>
          </a:xfrm>
          <a:prstGeom prst="rect">
            <a:avLst/>
          </a:prstGeom>
          <a:noFill/>
        </p:spPr>
        <p:txBody>
          <a:bodyPr wrap="square" lIns="0" tIns="0" rIns="0" bIns="0">
            <a:spAutoFit/>
          </a:bodyPr>
          <a:lstStyle/>
          <a:p>
            <a:pPr algn="l">
              <a:spcAft>
                <a:spcPts val="600"/>
              </a:spcAft>
            </a:pPr>
            <a:r>
              <a:rPr sz="1700" b="1" i="0">
                <a:solidFill>
                  <a:srgbClr val="FF5620"/>
                </a:solidFill>
                <a:latin typeface="Segoe UI"/>
              </a:rPr>
              <a:t>NEDEN 3 KEZ DOLAŞ?</a:t>
            </a:r>
          </a:p>
        </p:txBody>
      </p:sp>
      <p:sp>
        <p:nvSpPr>
          <p:cNvPr id="11" name="TextBox 10"/>
          <p:cNvSpPr txBox="1"/>
          <p:nvPr/>
        </p:nvSpPr>
        <p:spPr>
          <a:xfrm>
            <a:off x="7333488" y="5248655"/>
            <a:ext cx="3209544" cy="739648"/>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Sarmanın bir kez değil, tekrar tekrar doğru olduğunu görmek için.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500" b="1" i="0">
                <a:solidFill>
                  <a:srgbClr val="002D7A"/>
                </a:solidFill>
                <a:latin typeface="Segoe UI Black"/>
              </a:rPr>
              <a:t>TEKRAR ÜRETİLEMEYEN RASTGELE TEST DEĞERSİZDİR</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Seed'i generic yap, her seed'i ayrı bir test case olarak kaydet</a:t>
            </a:r>
          </a:p>
        </p:txBody>
      </p:sp>
      <p:sp>
        <p:nvSpPr>
          <p:cNvPr id="4" name="Rounded Rectangle 3"/>
          <p:cNvSpPr/>
          <p:nvPr/>
        </p:nvSpPr>
        <p:spPr>
          <a:xfrm>
            <a:off x="411480" y="1965960"/>
            <a:ext cx="5989320" cy="1694815"/>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148840"/>
            <a:ext cx="5623559" cy="1329055"/>
          </a:xfrm>
          <a:prstGeom prst="rect">
            <a:avLst/>
          </a:prstGeom>
          <a:noFill/>
        </p:spPr>
        <p:txBody>
          <a:bodyPr wrap="square" lIns="0" tIns="0" rIns="0" bIns="0">
            <a:spAutoFit/>
          </a:bodyPr>
          <a:lstStyle/>
          <a:p>
            <a:pPr algn="l">
              <a:lnSpc>
                <a:spcPct val="115000"/>
              </a:lnSpc>
              <a:spcAft>
                <a:spcPts val="0"/>
              </a:spcAft>
            </a:pPr>
            <a:r>
              <a:rPr sz="1150" i="1">
                <a:solidFill>
                  <a:srgbClr val="7A8699"/>
                </a:solidFill>
                <a:latin typeface="Consolas"/>
              </a:rPr>
              <a:t># run.py</a:t>
            </a:r>
          </a:p>
          <a:p>
            <a:pPr algn="l">
              <a:lnSpc>
                <a:spcPct val="115000"/>
              </a:lnSpc>
              <a:spcAft>
                <a:spcPts val="0"/>
              </a:spcAft>
            </a:pPr>
            <a:r>
              <a:rPr sz="1150" i="0">
                <a:solidFill>
                  <a:srgbClr val="1C273A"/>
                </a:solidFill>
                <a:latin typeface="Consolas"/>
              </a:rPr>
              <a:t>tb = lib.test_bench("tb_rb_mapper")</a:t>
            </a:r>
          </a:p>
          <a:p>
            <a:pPr algn="l">
              <a:lnSpc>
                <a:spcPct val="115000"/>
              </a:lnSpc>
              <a:spcAft>
                <a:spcPts val="0"/>
              </a:spcAft>
            </a:pPr>
            <a:r>
              <a:rPr sz="1150" i="0">
                <a:solidFill>
                  <a:srgbClr val="1C273A"/>
                </a:solidFill>
                <a:latin typeface="Consolas"/>
              </a:rPr>
              <a:t> </a:t>
            </a:r>
          </a:p>
          <a:p>
            <a:pPr algn="l">
              <a:lnSpc>
                <a:spcPct val="115000"/>
              </a:lnSpc>
              <a:spcAft>
                <a:spcPts val="0"/>
              </a:spcAft>
            </a:pPr>
            <a:r>
              <a:rPr sz="1150" i="0">
                <a:solidFill>
                  <a:srgbClr val="1C273A"/>
                </a:solidFill>
                <a:latin typeface="Consolas"/>
              </a:rPr>
              <a:t>for s in range(10):</a:t>
            </a:r>
          </a:p>
          <a:p>
            <a:pPr algn="l">
              <a:lnSpc>
                <a:spcPct val="115000"/>
              </a:lnSpc>
              <a:spcAft>
                <a:spcPts val="0"/>
              </a:spcAft>
            </a:pPr>
            <a:r>
              <a:rPr sz="1150" i="0">
                <a:solidFill>
                  <a:srgbClr val="1C273A"/>
                </a:solidFill>
                <a:latin typeface="Consolas"/>
              </a:rPr>
              <a:t>    tb.test("rastgele_config").add_config(</a:t>
            </a:r>
          </a:p>
          <a:p>
            <a:pPr algn="l">
              <a:lnSpc>
                <a:spcPct val="115000"/>
              </a:lnSpc>
              <a:spcAft>
                <a:spcPts val="0"/>
              </a:spcAft>
            </a:pPr>
            <a:r>
              <a:rPr sz="1150" i="0">
                <a:solidFill>
                  <a:srgbClr val="1C273A"/>
                </a:solidFill>
                <a:latin typeface="Consolas"/>
              </a:rPr>
              <a:t>        name=f"seed_{s}",</a:t>
            </a:r>
          </a:p>
          <a:p>
            <a:pPr algn="l">
              <a:lnSpc>
                <a:spcPct val="115000"/>
              </a:lnSpc>
              <a:spcAft>
                <a:spcPts val="0"/>
              </a:spcAft>
            </a:pPr>
            <a:r>
              <a:rPr sz="1150" i="0">
                <a:solidFill>
                  <a:srgbClr val="1C273A"/>
                </a:solidFill>
                <a:latin typeface="Consolas"/>
              </a:rPr>
              <a:t>        generics=dict(seed=s))</a:t>
            </a:r>
          </a:p>
        </p:txBody>
      </p:sp>
      <p:sp>
        <p:nvSpPr>
          <p:cNvPr id="6" name="Rounded Rectangle 5"/>
          <p:cNvSpPr/>
          <p:nvPr/>
        </p:nvSpPr>
        <p:spPr>
          <a:xfrm>
            <a:off x="411480" y="3657600"/>
            <a:ext cx="5989320" cy="1579245"/>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94360" y="3840480"/>
            <a:ext cx="5623559" cy="1213485"/>
          </a:xfrm>
          <a:prstGeom prst="rect">
            <a:avLst/>
          </a:prstGeom>
          <a:noFill/>
        </p:spPr>
        <p:txBody>
          <a:bodyPr wrap="square" lIns="0" tIns="0" rIns="0" bIns="0">
            <a:spAutoFit/>
          </a:bodyPr>
          <a:lstStyle/>
          <a:p>
            <a:pPr algn="l">
              <a:lnSpc>
                <a:spcPct val="115000"/>
              </a:lnSpc>
              <a:spcAft>
                <a:spcPts val="0"/>
              </a:spcAft>
            </a:pPr>
            <a:r>
              <a:rPr sz="1050" i="0">
                <a:solidFill>
                  <a:srgbClr val="1C273A"/>
                </a:solidFill>
                <a:latin typeface="Consolas"/>
              </a:rPr>
              <a:t>$ python run.py --list "*rastgele*"</a:t>
            </a:r>
          </a:p>
          <a:p>
            <a:pPr algn="l">
              <a:lnSpc>
                <a:spcPct val="115000"/>
              </a:lnSpc>
              <a:spcAft>
                <a:spcPts val="0"/>
              </a:spcAft>
            </a:pPr>
            <a:r>
              <a:rPr sz="1050" i="0">
                <a:solidFill>
                  <a:srgbClr val="1C273A"/>
                </a:solidFill>
                <a:latin typeface="Consolas"/>
              </a:rPr>
              <a:t>lib.tb_rb_mapper.seed_0.rastgele_config</a:t>
            </a:r>
          </a:p>
          <a:p>
            <a:pPr algn="l">
              <a:lnSpc>
                <a:spcPct val="115000"/>
              </a:lnSpc>
              <a:spcAft>
                <a:spcPts val="0"/>
              </a:spcAft>
            </a:pPr>
            <a:r>
              <a:rPr sz="1050" i="0">
                <a:solidFill>
                  <a:srgbClr val="1C273A"/>
                </a:solidFill>
                <a:latin typeface="Consolas"/>
              </a:rPr>
              <a:t>lib.tb_rb_mapper.seed_1.rastgele_config</a:t>
            </a:r>
          </a:p>
          <a:p>
            <a:pPr algn="l">
              <a:lnSpc>
                <a:spcPct val="115000"/>
              </a:lnSpc>
              <a:spcAft>
                <a:spcPts val="0"/>
              </a:spcAft>
            </a:pPr>
            <a:r>
              <a:rPr sz="1050" i="0">
                <a:solidFill>
                  <a:srgbClr val="1C273A"/>
                </a:solidFill>
                <a:latin typeface="Consolas"/>
              </a:rPr>
              <a:t>...</a:t>
            </a:r>
          </a:p>
          <a:p>
            <a:pPr algn="l">
              <a:lnSpc>
                <a:spcPct val="115000"/>
              </a:lnSpc>
              <a:spcAft>
                <a:spcPts val="0"/>
              </a:spcAft>
            </a:pPr>
            <a:r>
              <a:rPr sz="1050" i="0">
                <a:solidFill>
                  <a:srgbClr val="1C273A"/>
                </a:solidFill>
                <a:latin typeface="Consolas"/>
              </a:rPr>
              <a:t>lib.tb_rb_mapper.seed_9.rastgele_config</a:t>
            </a:r>
          </a:p>
          <a:p>
            <a:pPr algn="l">
              <a:lnSpc>
                <a:spcPct val="115000"/>
              </a:lnSpc>
              <a:spcAft>
                <a:spcPts val="0"/>
              </a:spcAft>
            </a:pPr>
            <a:r>
              <a:rPr sz="1050" i="0">
                <a:solidFill>
                  <a:srgbClr val="1C273A"/>
                </a:solidFill>
                <a:latin typeface="Consolas"/>
              </a:rPr>
              <a:t> </a:t>
            </a:r>
          </a:p>
          <a:p>
            <a:pPr algn="l">
              <a:lnSpc>
                <a:spcPct val="115000"/>
              </a:lnSpc>
              <a:spcAft>
                <a:spcPts val="0"/>
              </a:spcAft>
            </a:pPr>
            <a:r>
              <a:rPr sz="1050" i="0">
                <a:solidFill>
                  <a:srgbClr val="1C273A"/>
                </a:solidFill>
                <a:latin typeface="Consolas"/>
              </a:rPr>
              <a:t>$ python run.py "*seed_7*" -v      # dusen kosuyu tek basina tekrarla</a:t>
            </a:r>
          </a:p>
        </p:txBody>
      </p:sp>
      <p:sp>
        <p:nvSpPr>
          <p:cNvPr id="8" name="Rounded Rectangle 7"/>
          <p:cNvSpPr/>
          <p:nvPr/>
        </p:nvSpPr>
        <p:spPr>
          <a:xfrm>
            <a:off x="6675120" y="1965960"/>
            <a:ext cx="4069080" cy="3929887"/>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76288" y="2167128"/>
            <a:ext cx="3666744" cy="384048"/>
          </a:xfrm>
          <a:prstGeom prst="rect">
            <a:avLst/>
          </a:prstGeom>
          <a:noFill/>
        </p:spPr>
        <p:txBody>
          <a:bodyPr wrap="square" lIns="0" tIns="0" rIns="0" bIns="0">
            <a:spAutoFit/>
          </a:bodyPr>
          <a:lstStyle/>
          <a:p>
            <a:pPr algn="l">
              <a:spcAft>
                <a:spcPts val="600"/>
              </a:spcAft>
            </a:pPr>
            <a:r>
              <a:rPr sz="1700" b="1" i="0">
                <a:solidFill>
                  <a:srgbClr val="002D7A"/>
                </a:solidFill>
                <a:latin typeface="Segoe UI"/>
              </a:rPr>
              <a:t>İKİ KAZANÇ</a:t>
            </a:r>
          </a:p>
        </p:txBody>
      </p:sp>
      <p:sp>
        <p:nvSpPr>
          <p:cNvPr id="10" name="TextBox 9"/>
          <p:cNvSpPr txBox="1"/>
          <p:nvPr/>
        </p:nvSpPr>
        <p:spPr>
          <a:xfrm>
            <a:off x="6876288" y="2551176"/>
            <a:ext cx="3666744" cy="3234944"/>
          </a:xfrm>
          <a:prstGeom prst="rect">
            <a:avLst/>
          </a:prstGeom>
          <a:noFill/>
        </p:spPr>
        <p:txBody>
          <a:bodyPr wrap="square" lIns="0" tIns="0" rIns="0" bIns="0">
            <a:spAutoFit/>
          </a:bodyPr>
          <a:lstStyle/>
          <a:p>
            <a:pPr algn="l">
              <a:lnSpc>
                <a:spcPct val="112000"/>
              </a:lnSpc>
              <a:spcAft>
                <a:spcPts val="400"/>
              </a:spcAft>
            </a:pPr>
            <a:r>
              <a:rPr sz="1400" b="0" i="0">
                <a:solidFill>
                  <a:srgbClr val="4D4D4D"/>
                </a:solidFill>
                <a:latin typeface="Calibri"/>
              </a:rPr>
              <a:t>Tekrar üretilebilirlik</a:t>
            </a:r>
          </a:p>
          <a:p>
            <a:pPr algn="l">
              <a:lnSpc>
                <a:spcPct val="112000"/>
              </a:lnSpc>
              <a:spcAft>
                <a:spcPts val="400"/>
              </a:spcAft>
            </a:pPr>
            <a:r>
              <a:rPr sz="1400" b="0" i="0">
                <a:solidFill>
                  <a:srgbClr val="4D4D4D"/>
                </a:solidFill>
                <a:latin typeface="Calibri"/>
              </a:rPr>
              <a:t>Düşen koşu tek başına, aynı tohumla, saniyeler içinde tekrar çalıştırılabilir.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Görünürlük</a:t>
            </a:r>
          </a:p>
          <a:p>
            <a:pPr algn="l">
              <a:lnSpc>
                <a:spcPct val="112000"/>
              </a:lnSpc>
              <a:spcAft>
                <a:spcPts val="400"/>
              </a:spcAft>
            </a:pPr>
            <a:r>
              <a:rPr sz="1400" b="0" i="0">
                <a:solidFill>
                  <a:srgbClr val="4D4D4D"/>
                </a:solidFill>
                <a:latin typeface="Calibri"/>
              </a:rPr>
              <a:t>Rastgele testin on ayrı koşusu raporda on ayrı satır olarak görünür. Tek satırda gizlenen "bazen düşüyor" davranışı ortaya çıkar.</a:t>
            </a:r>
          </a:p>
          <a:p>
            <a:pPr algn="l">
              <a:lnSpc>
                <a:spcPct val="112000"/>
              </a:lnSpc>
              <a:spcAft>
                <a:spcPts val="400"/>
              </a:spcAft>
            </a:pPr>
            <a:endParaRPr sz="1400" b="0" i="0">
              <a:solidFill>
                <a:srgbClr val="4D4D4D"/>
              </a:solidFill>
              <a:latin typeface="Calibri"/>
            </a:endParaRPr>
          </a:p>
          <a:p>
            <a:pPr algn="l">
              <a:lnSpc>
                <a:spcPct val="112000"/>
              </a:lnSpc>
              <a:spcAft>
                <a:spcPts val="400"/>
              </a:spcAft>
            </a:pPr>
            <a:r>
              <a:rPr sz="1400" b="0" i="0">
                <a:solidFill>
                  <a:srgbClr val="4D4D4D"/>
                </a:solidFill>
                <a:latin typeface="Calibri"/>
              </a:rPr>
              <a:t>info(...) ile loglanan sc ve sym değerleri de hangi iterasyonda patladığını söyler.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TEST NE YAKALADI?</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Rastgeleliğin ürettiği gürültü değil, gerçek bir tasarım sorunu</a:t>
            </a:r>
          </a:p>
        </p:txBody>
      </p:sp>
      <p:sp>
        <p:nvSpPr>
          <p:cNvPr id="4" name="Rounded Rectangle 3"/>
          <p:cNvSpPr/>
          <p:nvPr/>
        </p:nvSpPr>
        <p:spPr>
          <a:xfrm>
            <a:off x="411480" y="1965960"/>
            <a:ext cx="6446520" cy="2446020"/>
          </a:xfrm>
          <a:prstGeom prst="roundRect">
            <a:avLst>
              <a:gd name="adj" fmla="val 45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94360" y="2148840"/>
            <a:ext cx="6080759" cy="2080260"/>
          </a:xfrm>
          <a:prstGeom prst="rect">
            <a:avLst/>
          </a:prstGeom>
          <a:noFill/>
        </p:spPr>
        <p:txBody>
          <a:bodyPr wrap="square" lIns="0" tIns="0" rIns="0" bIns="0">
            <a:spAutoFit/>
          </a:bodyPr>
          <a:lstStyle/>
          <a:p>
            <a:pPr algn="l">
              <a:lnSpc>
                <a:spcPct val="115000"/>
              </a:lnSpc>
              <a:spcAft>
                <a:spcPts val="0"/>
              </a:spcAft>
            </a:pPr>
            <a:r>
              <a:rPr sz="1050" i="1">
                <a:solidFill>
                  <a:srgbClr val="7A8699"/>
                </a:solidFill>
                <a:latin typeface="Consolas"/>
              </a:rPr>
              <a:t>-- SC_CANDIDATES listesine 256 eklendigi anda:</a:t>
            </a:r>
          </a:p>
          <a:p>
            <a:pPr algn="l">
              <a:lnSpc>
                <a:spcPct val="115000"/>
              </a:lnSpc>
              <a:spcAft>
                <a:spcPts val="0"/>
              </a:spcAft>
            </a:pPr>
            <a:r>
              <a:rPr sz="1050" i="0">
                <a:solidFill>
                  <a:srgbClr val="1C273A"/>
                </a:solidFill>
                <a:latin typeface="Consolas"/>
              </a:rPr>
              <a:t> </a:t>
            </a:r>
          </a:p>
          <a:p>
            <a:pPr algn="l">
              <a:lnSpc>
                <a:spcPct val="115000"/>
              </a:lnSpc>
              <a:spcAft>
                <a:spcPts val="0"/>
              </a:spcAft>
            </a:pPr>
            <a:r>
              <a:rPr sz="1050" i="0">
                <a:solidFill>
                  <a:srgbClr val="1C273A"/>
                </a:solidFill>
                <a:latin typeface="Consolas"/>
              </a:rPr>
              <a:t>iter 4: sc=256 sym=3</a:t>
            </a:r>
          </a:p>
          <a:p>
            <a:pPr algn="l">
              <a:lnSpc>
                <a:spcPct val="115000"/>
              </a:lnSpc>
              <a:spcAft>
                <a:spcPts val="0"/>
              </a:spcAft>
            </a:pPr>
            <a:r>
              <a:rPr sz="1050" i="0">
                <a:solidFill>
                  <a:srgbClr val="1C273A"/>
                </a:solidFill>
                <a:latin typeface="Consolas"/>
              </a:rPr>
              <a:t>lib.tb_rb_mapper.seed_2.rastgele_config</a:t>
            </a:r>
          </a:p>
          <a:p>
            <a:pPr algn="l">
              <a:lnSpc>
                <a:spcPct val="115000"/>
              </a:lnSpc>
              <a:spcAft>
                <a:spcPts val="0"/>
              </a:spcAft>
            </a:pPr>
            <a:r>
              <a:rPr sz="1050" i="0">
                <a:solidFill>
                  <a:srgbClr val="1C273A"/>
                </a:solidFill>
                <a:latin typeface="Consolas"/>
              </a:rPr>
              <a:t>  tb_rb_mapper.vhd:214  check_equal failed</a:t>
            </a:r>
          </a:p>
          <a:p>
            <a:pPr algn="l">
              <a:lnSpc>
                <a:spcPct val="115000"/>
              </a:lnSpc>
              <a:spcAft>
                <a:spcPts val="0"/>
              </a:spcAft>
            </a:pPr>
            <a:r>
              <a:rPr sz="1050" i="0">
                <a:solidFill>
                  <a:srgbClr val="1C273A"/>
                </a:solidFill>
                <a:latin typeface="Consolas"/>
              </a:rPr>
              <a:t>  sc_index - Got 0. Expected 256.</a:t>
            </a:r>
          </a:p>
          <a:p>
            <a:pPr algn="l">
              <a:lnSpc>
                <a:spcPct val="115000"/>
              </a:lnSpc>
              <a:spcAft>
                <a:spcPts val="0"/>
              </a:spcAft>
            </a:pPr>
            <a:r>
              <a:rPr sz="1050" i="0">
                <a:solidFill>
                  <a:srgbClr val="1C273A"/>
                </a:solidFill>
                <a:latin typeface="Consolas"/>
              </a:rPr>
              <a:t> </a:t>
            </a:r>
          </a:p>
          <a:p>
            <a:pPr algn="l">
              <a:lnSpc>
                <a:spcPct val="115000"/>
              </a:lnSpc>
              <a:spcAft>
                <a:spcPts val="0"/>
              </a:spcAft>
            </a:pPr>
            <a:r>
              <a:rPr sz="1050" i="1">
                <a:solidFill>
                  <a:srgbClr val="7A8699"/>
                </a:solidFill>
                <a:latin typeface="Consolas"/>
              </a:rPr>
              <a:t>-- Sebep: sc_index 16 bit, ama tuser'a yalnizca ALT 8 BITI gidiyor.</a:t>
            </a:r>
          </a:p>
          <a:p>
            <a:pPr algn="l">
              <a:lnSpc>
                <a:spcPct val="115000"/>
              </a:lnSpc>
              <a:spcAft>
                <a:spcPts val="0"/>
              </a:spcAft>
            </a:pPr>
            <a:r>
              <a:rPr sz="1050" i="1">
                <a:solidFill>
                  <a:srgbClr val="7A8699"/>
                </a:solidFill>
                <a:latin typeface="Consolas"/>
              </a:rPr>
              <a:t>--   m_axis_tuser &lt;= sym_index(7 downto 0) &amp; sc_index(7 downto 0);</a:t>
            </a:r>
          </a:p>
          <a:p>
            <a:pPr algn="l">
              <a:lnSpc>
                <a:spcPct val="115000"/>
              </a:lnSpc>
              <a:spcAft>
                <a:spcPts val="0"/>
              </a:spcAft>
            </a:pPr>
            <a:r>
              <a:rPr sz="1050" i="1">
                <a:solidFill>
                  <a:srgbClr val="7A8699"/>
                </a:solidFill>
                <a:latin typeface="Consolas"/>
              </a:rPr>
              <a:t>--</a:t>
            </a:r>
          </a:p>
          <a:p>
            <a:pPr algn="l">
              <a:lnSpc>
                <a:spcPct val="115000"/>
              </a:lnSpc>
              <a:spcAft>
                <a:spcPts val="0"/>
              </a:spcAft>
            </a:pPr>
            <a:r>
              <a:rPr sz="1050" i="1">
                <a:solidFill>
                  <a:srgbClr val="7A8699"/>
                </a:solidFill>
                <a:latin typeface="Consolas"/>
              </a:rPr>
              <a:t>-- sc_count = 256'da: 255'ten sonra tuser 0'a duser,</a:t>
            </a:r>
          </a:p>
          <a:p>
            <a:pPr algn="l">
              <a:lnSpc>
                <a:spcPct val="115000"/>
              </a:lnSpc>
              <a:spcAft>
                <a:spcPts val="0"/>
              </a:spcAft>
            </a:pPr>
            <a:r>
              <a:rPr sz="1050" i="1">
                <a:solidFill>
                  <a:srgbClr val="7A8699"/>
                </a:solidFill>
                <a:latin typeface="Consolas"/>
              </a:rPr>
              <a:t>--   sc_index ise dogru saymaya devam eder. Sessiz ortusme (aliasing).</a:t>
            </a:r>
          </a:p>
        </p:txBody>
      </p:sp>
      <p:sp>
        <p:nvSpPr>
          <p:cNvPr id="6" name="Rounded Rectangle 5"/>
          <p:cNvSpPr/>
          <p:nvPr/>
        </p:nvSpPr>
        <p:spPr>
          <a:xfrm>
            <a:off x="7132320" y="1965960"/>
            <a:ext cx="3611880" cy="4563110"/>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33488" y="2167128"/>
            <a:ext cx="3209544" cy="631190"/>
          </a:xfrm>
          <a:prstGeom prst="rect">
            <a:avLst/>
          </a:prstGeom>
          <a:noFill/>
        </p:spPr>
        <p:txBody>
          <a:bodyPr wrap="square" lIns="0" tIns="0" rIns="0" bIns="0">
            <a:spAutoFit/>
          </a:bodyPr>
          <a:lstStyle/>
          <a:p>
            <a:pPr algn="l">
              <a:spcAft>
                <a:spcPts val="600"/>
              </a:spcAft>
            </a:pPr>
            <a:r>
              <a:rPr sz="1700" b="1" i="0">
                <a:solidFill>
                  <a:srgbClr val="FF5620"/>
                </a:solidFill>
                <a:latin typeface="Segoe UI"/>
              </a:rPr>
              <a:t>ÖNCE SÖZLEŞMEYE KARAR VER</a:t>
            </a:r>
          </a:p>
        </p:txBody>
      </p:sp>
      <p:sp>
        <p:nvSpPr>
          <p:cNvPr id="8" name="TextBox 7"/>
          <p:cNvSpPr txBox="1"/>
          <p:nvPr/>
        </p:nvSpPr>
        <p:spPr>
          <a:xfrm>
            <a:off x="7333488" y="2798318"/>
            <a:ext cx="3209544" cy="3621024"/>
          </a:xfrm>
          <a:prstGeom prst="rect">
            <a:avLst/>
          </a:prstGeom>
          <a:noFill/>
        </p:spPr>
        <p:txBody>
          <a:bodyPr wrap="square" lIns="0" tIns="0" rIns="0" bIns="0">
            <a:spAutoFit/>
          </a:bodyPr>
          <a:lstStyle/>
          <a:p>
            <a:pPr algn="l">
              <a:lnSpc>
                <a:spcPct val="112000"/>
              </a:lnSpc>
              <a:spcAft>
                <a:spcPts val="400"/>
              </a:spcAft>
            </a:pPr>
            <a:r>
              <a:rPr sz="1350" b="0" i="0">
                <a:solidFill>
                  <a:srgbClr val="4D4D4D"/>
                </a:solidFill>
                <a:latin typeface="Calibri"/>
              </a:rPr>
              <a:t>İki seçenek var, ikisi de meşru:</a:t>
            </a:r>
          </a:p>
          <a:p>
            <a:pPr algn="l">
              <a:lnSpc>
                <a:spcPct val="112000"/>
              </a:lnSpc>
              <a:spcAft>
                <a:spcPts val="400"/>
              </a:spcAft>
            </a:pPr>
            <a:endParaRPr sz="1350" b="0" i="0">
              <a:solidFill>
                <a:srgbClr val="4D4D4D"/>
              </a:solidFill>
              <a:latin typeface="Calibri"/>
            </a:endParaRPr>
          </a:p>
          <a:p>
            <a:pPr algn="l">
              <a:lnSpc>
                <a:spcPct val="112000"/>
              </a:lnSpc>
              <a:spcAft>
                <a:spcPts val="400"/>
              </a:spcAft>
            </a:pPr>
            <a:r>
              <a:rPr sz="1350" b="0" i="0">
                <a:solidFill>
                  <a:srgbClr val="4D4D4D"/>
                </a:solidFill>
                <a:latin typeface="Calibri"/>
              </a:rPr>
              <a:t>a)  SC_COUNT ≤ 256 bir ön koşuldur</a:t>
            </a:r>
          </a:p>
          <a:p>
            <a:pPr algn="l">
              <a:lnSpc>
                <a:spcPct val="112000"/>
              </a:lnSpc>
              <a:spcAft>
                <a:spcPts val="400"/>
              </a:spcAft>
            </a:pPr>
            <a:r>
              <a:rPr sz="1350" b="0" i="0">
                <a:solidFill>
                  <a:srgbClr val="4D4D4D"/>
                </a:solidFill>
                <a:latin typeface="Calibri"/>
              </a:rPr>
              <a:t>     → testbench'te assert ile belgele</a:t>
            </a:r>
          </a:p>
          <a:p>
            <a:pPr algn="l">
              <a:lnSpc>
                <a:spcPct val="112000"/>
              </a:lnSpc>
              <a:spcAft>
                <a:spcPts val="400"/>
              </a:spcAft>
            </a:pPr>
            <a:endParaRPr sz="1350" b="0" i="0">
              <a:solidFill>
                <a:srgbClr val="4D4D4D"/>
              </a:solidFill>
              <a:latin typeface="Calibri"/>
            </a:endParaRPr>
          </a:p>
          <a:p>
            <a:pPr algn="l">
              <a:lnSpc>
                <a:spcPct val="112000"/>
              </a:lnSpc>
              <a:spcAft>
                <a:spcPts val="400"/>
              </a:spcAft>
            </a:pPr>
            <a:r>
              <a:rPr sz="1350" b="0" i="0">
                <a:solidFill>
                  <a:srgbClr val="4D4D4D"/>
                </a:solidFill>
                <a:latin typeface="Calibri"/>
              </a:rPr>
              <a:t>b)  TUSER_WIDTH büyümeli</a:t>
            </a:r>
          </a:p>
          <a:p>
            <a:pPr algn="l">
              <a:lnSpc>
                <a:spcPct val="112000"/>
              </a:lnSpc>
              <a:spcAft>
                <a:spcPts val="400"/>
              </a:spcAft>
            </a:pPr>
            <a:r>
              <a:rPr sz="1350" b="0" i="0">
                <a:solidFill>
                  <a:srgbClr val="4D4D4D"/>
                </a:solidFill>
                <a:latin typeface="Calibri"/>
              </a:rPr>
              <a:t>     → RTL değişir, sözleşme genişler</a:t>
            </a:r>
          </a:p>
          <a:p>
            <a:pPr algn="l">
              <a:lnSpc>
                <a:spcPct val="112000"/>
              </a:lnSpc>
              <a:spcAft>
                <a:spcPts val="400"/>
              </a:spcAft>
            </a:pPr>
            <a:endParaRPr sz="1350" b="0" i="0">
              <a:solidFill>
                <a:srgbClr val="4D4D4D"/>
              </a:solidFill>
              <a:latin typeface="Calibri"/>
            </a:endParaRPr>
          </a:p>
          <a:p>
            <a:pPr algn="l">
              <a:lnSpc>
                <a:spcPct val="112000"/>
              </a:lnSpc>
              <a:spcAft>
                <a:spcPts val="400"/>
              </a:spcAft>
            </a:pPr>
            <a:r>
              <a:rPr sz="1350" b="0" i="0">
                <a:solidFill>
                  <a:srgbClr val="4D4D4D"/>
                </a:solidFill>
                <a:latin typeface="Calibri"/>
              </a:rPr>
              <a:t>Karar vermeden koşarsan test her seferinde aynı bilinen hatayı raporlar — ve kısa sürede görmezden gelinir.</a:t>
            </a:r>
          </a:p>
        </p:txBody>
      </p:sp>
      <p:sp>
        <p:nvSpPr>
          <p:cNvPr id="9" name="TextBox 8"/>
          <p:cNvSpPr txBox="1"/>
          <p:nvPr/>
        </p:nvSpPr>
        <p:spPr>
          <a:xfrm>
            <a:off x="411480" y="5440680"/>
            <a:ext cx="6446520" cy="640080"/>
          </a:xfrm>
          <a:prstGeom prst="rect">
            <a:avLst/>
          </a:prstGeom>
          <a:noFill/>
        </p:spPr>
        <p:txBody>
          <a:bodyPr wrap="square" lIns="0" tIns="0" rIns="0" bIns="0">
            <a:spAutoFit/>
          </a:bodyPr>
          <a:lstStyle/>
          <a:p>
            <a:pPr algn="l">
              <a:spcAft>
                <a:spcPts val="600"/>
              </a:spcAft>
            </a:pPr>
            <a:r>
              <a:rPr sz="1500" b="1" i="0">
                <a:solidFill>
                  <a:srgbClr val="FF5620"/>
                </a:solidFill>
                <a:latin typeface="Segoe UI Semibold"/>
              </a:rPr>
              <a:t>İkinci latent sorun: TUSER_WIDTH &lt; 16 olduğunda sym_index sessizce tamamen düşüyor.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84048"/>
            <a:ext cx="9509760" cy="731520"/>
          </a:xfrm>
          <a:prstGeom prst="rect">
            <a:avLst/>
          </a:prstGeom>
          <a:noFill/>
        </p:spPr>
        <p:txBody>
          <a:bodyPr wrap="square" lIns="0" tIns="0" rIns="0" bIns="0">
            <a:spAutoFit/>
          </a:bodyPr>
          <a:lstStyle/>
          <a:p>
            <a:pPr algn="l">
              <a:spcAft>
                <a:spcPts val="600"/>
              </a:spcAft>
            </a:pPr>
            <a:r>
              <a:rPr sz="2800" b="1" i="0">
                <a:solidFill>
                  <a:srgbClr val="002D7A"/>
                </a:solidFill>
                <a:latin typeface="Segoe UI Black"/>
              </a:rPr>
              <a:t>ÖZET</a:t>
            </a:r>
          </a:p>
        </p:txBody>
      </p:sp>
      <p:sp>
        <p:nvSpPr>
          <p:cNvPr id="3" name="TextBox 2"/>
          <p:cNvSpPr txBox="1"/>
          <p:nvPr/>
        </p:nvSpPr>
        <p:spPr>
          <a:xfrm>
            <a:off x="411480" y="1179576"/>
            <a:ext cx="9509760" cy="384048"/>
          </a:xfrm>
          <a:prstGeom prst="rect">
            <a:avLst/>
          </a:prstGeom>
          <a:noFill/>
        </p:spPr>
        <p:txBody>
          <a:bodyPr wrap="square" lIns="0" tIns="0" rIns="0" bIns="0">
            <a:spAutoFit/>
          </a:bodyPr>
          <a:lstStyle/>
          <a:p>
            <a:pPr algn="l">
              <a:spcAft>
                <a:spcPts val="600"/>
              </a:spcAft>
            </a:pPr>
            <a:r>
              <a:rPr sz="1700" b="0" i="0">
                <a:solidFill>
                  <a:srgbClr val="FF5620"/>
                </a:solidFill>
                <a:latin typeface="Segoe UI Semibold"/>
              </a:rPr>
              <a:t>Beş cümlede bugünkü teklif</a:t>
            </a:r>
          </a:p>
        </p:txBody>
      </p:sp>
      <p:sp>
        <p:nvSpPr>
          <p:cNvPr id="4" name="Oval 3"/>
          <p:cNvSpPr/>
          <p:nvPr/>
        </p:nvSpPr>
        <p:spPr>
          <a:xfrm>
            <a:off x="438912" y="1944303"/>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874519"/>
            <a:ext cx="10058400" cy="487680"/>
          </a:xfrm>
          <a:prstGeom prst="rect">
            <a:avLst/>
          </a:prstGeom>
          <a:noFill/>
        </p:spPr>
        <p:txBody>
          <a:bodyPr wrap="square" lIns="0" tIns="0" rIns="0" bIns="0">
            <a:spAutoFit/>
          </a:bodyPr>
          <a:lstStyle/>
          <a:p>
            <a:pPr algn="l">
              <a:lnSpc>
                <a:spcPct val="118000"/>
              </a:lnSpc>
              <a:spcAft>
                <a:spcPts val="0"/>
              </a:spcAft>
            </a:pPr>
            <a:r>
              <a:rPr sz="1450" b="1">
                <a:solidFill>
                  <a:srgbClr val="002D7A"/>
                </a:solidFill>
                <a:latin typeface="Segoe UI"/>
              </a:rPr>
              <a:t>VUnit bir simülatör değil, bir test koşucusudur. </a:t>
            </a:r>
            <a:r>
              <a:rPr sz="1450">
                <a:solidFill>
                  <a:srgbClr val="4D4D4D"/>
                </a:solidFill>
                <a:latin typeface="Calibri"/>
              </a:rPr>
              <a:t>Mevcut akışınızı değiştirmez, üstüne bir regresyon katmanı ekler.</a:t>
            </a:r>
          </a:p>
        </p:txBody>
      </p:sp>
      <p:sp>
        <p:nvSpPr>
          <p:cNvPr id="6" name="Oval 5"/>
          <p:cNvSpPr/>
          <p:nvPr/>
        </p:nvSpPr>
        <p:spPr>
          <a:xfrm>
            <a:off x="438912" y="2768787"/>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699003"/>
            <a:ext cx="10058400" cy="487680"/>
          </a:xfrm>
          <a:prstGeom prst="rect">
            <a:avLst/>
          </a:prstGeom>
          <a:noFill/>
        </p:spPr>
        <p:txBody>
          <a:bodyPr wrap="square" lIns="0" tIns="0" rIns="0" bIns="0">
            <a:spAutoFit/>
          </a:bodyPr>
          <a:lstStyle/>
          <a:p>
            <a:pPr algn="l">
              <a:lnSpc>
                <a:spcPct val="118000"/>
              </a:lnSpc>
              <a:spcAft>
                <a:spcPts val="0"/>
              </a:spcAft>
            </a:pPr>
            <a:r>
              <a:rPr sz="1450" b="1">
                <a:solidFill>
                  <a:srgbClr val="002D7A"/>
                </a:solidFill>
                <a:latin typeface="Segoe UI"/>
              </a:rPr>
              <a:t>Testin sonucunu makine okur. </a:t>
            </a:r>
            <a:r>
              <a:rPr sz="1450">
                <a:solidFill>
                  <a:srgbClr val="4D4D4D"/>
                </a:solidFill>
                <a:latin typeface="Calibri"/>
              </a:rPr>
              <a:t>Exit code, xUnit raporu ve isimle filtreleme — CI'ın ihtiyaç duyduğu her şey hazır gelir.</a:t>
            </a:r>
          </a:p>
        </p:txBody>
      </p:sp>
      <p:sp>
        <p:nvSpPr>
          <p:cNvPr id="8" name="Oval 7"/>
          <p:cNvSpPr/>
          <p:nvPr/>
        </p:nvSpPr>
        <p:spPr>
          <a:xfrm>
            <a:off x="438912" y="3593271"/>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3523487"/>
            <a:ext cx="10058400" cy="487680"/>
          </a:xfrm>
          <a:prstGeom prst="rect">
            <a:avLst/>
          </a:prstGeom>
          <a:noFill/>
        </p:spPr>
        <p:txBody>
          <a:bodyPr wrap="square" lIns="0" tIns="0" rIns="0" bIns="0">
            <a:spAutoFit/>
          </a:bodyPr>
          <a:lstStyle/>
          <a:p>
            <a:pPr algn="l">
              <a:lnSpc>
                <a:spcPct val="118000"/>
              </a:lnSpc>
              <a:spcAft>
                <a:spcPts val="0"/>
              </a:spcAft>
            </a:pPr>
            <a:r>
              <a:rPr sz="1450" b="1">
                <a:solidFill>
                  <a:srgbClr val="002D7A"/>
                </a:solidFill>
                <a:latin typeface="Segoe UI"/>
              </a:rPr>
              <a:t>Python, VHDL'in yapamadığı iddiayı üstlenir. </a:t>
            </a:r>
            <a:r>
              <a:rPr sz="1450">
                <a:solidFill>
                  <a:srgbClr val="4D4D4D"/>
                </a:solidFill>
                <a:latin typeface="Calibri"/>
              </a:rPr>
              <a:t>Golden model ve spektral ölçüm post_check ile devreye girer.</a:t>
            </a:r>
          </a:p>
        </p:txBody>
      </p:sp>
      <p:sp>
        <p:nvSpPr>
          <p:cNvPr id="10" name="Oval 9"/>
          <p:cNvSpPr/>
          <p:nvPr/>
        </p:nvSpPr>
        <p:spPr>
          <a:xfrm>
            <a:off x="438912" y="4417755"/>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4347971"/>
            <a:ext cx="10058400" cy="487680"/>
          </a:xfrm>
          <a:prstGeom prst="rect">
            <a:avLst/>
          </a:prstGeom>
          <a:noFill/>
        </p:spPr>
        <p:txBody>
          <a:bodyPr wrap="square" lIns="0" tIns="0" rIns="0" bIns="0">
            <a:spAutoFit/>
          </a:bodyPr>
          <a:lstStyle/>
          <a:p>
            <a:pPr algn="l">
              <a:lnSpc>
                <a:spcPct val="118000"/>
              </a:lnSpc>
              <a:spcAft>
                <a:spcPts val="0"/>
              </a:spcAft>
            </a:pPr>
            <a:r>
              <a:rPr sz="1450" b="1">
                <a:solidFill>
                  <a:srgbClr val="002D7A"/>
                </a:solidFill>
                <a:latin typeface="Segoe UI"/>
              </a:rPr>
              <a:t>Verification Component'lar hacmi bedava getirir. </a:t>
            </a:r>
            <a:r>
              <a:rPr sz="1450">
                <a:solidFill>
                  <a:srgbClr val="4D4D4D"/>
                </a:solidFill>
                <a:latin typeface="Calibri"/>
              </a:rPr>
              <a:t>Yapıyı elle doğrularsınız, senaryo hacmini VC üretir.</a:t>
            </a:r>
          </a:p>
        </p:txBody>
      </p:sp>
      <p:sp>
        <p:nvSpPr>
          <p:cNvPr id="12" name="Oval 11"/>
          <p:cNvSpPr/>
          <p:nvPr/>
        </p:nvSpPr>
        <p:spPr>
          <a:xfrm>
            <a:off x="438912" y="5242239"/>
            <a:ext cx="82296" cy="82296"/>
          </a:xfrm>
          <a:prstGeom prst="ellipse">
            <a:avLst/>
          </a:prstGeom>
          <a:solidFill>
            <a:srgbClr val="FF5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5172455"/>
            <a:ext cx="10058400" cy="487680"/>
          </a:xfrm>
          <a:prstGeom prst="rect">
            <a:avLst/>
          </a:prstGeom>
          <a:noFill/>
        </p:spPr>
        <p:txBody>
          <a:bodyPr wrap="square" lIns="0" tIns="0" rIns="0" bIns="0">
            <a:spAutoFit/>
          </a:bodyPr>
          <a:lstStyle/>
          <a:p>
            <a:pPr algn="l">
              <a:lnSpc>
                <a:spcPct val="118000"/>
              </a:lnSpc>
              <a:spcAft>
                <a:spcPts val="0"/>
              </a:spcAft>
            </a:pPr>
            <a:r>
              <a:rPr sz="1450" b="1">
                <a:solidFill>
                  <a:srgbClr val="002D7A"/>
                </a:solidFill>
                <a:latin typeface="Segoe UI"/>
              </a:rPr>
              <a:t>Ölçüt "testler geçiyor" değildir. </a:t>
            </a:r>
            <a:r>
              <a:rPr sz="1450">
                <a:solidFill>
                  <a:srgbClr val="4D4D4D"/>
                </a:solidFill>
                <a:latin typeface="Calibri"/>
              </a:rPr>
              <a:t>Kasten sokulan hata testi kırmıyorsa, o hata sınıfı test edilmiyordur.</a:t>
            </a:r>
          </a:p>
        </p:txBody>
      </p:sp>
      <p:sp>
        <p:nvSpPr>
          <p:cNvPr id="14" name="Rounded Rectangle 13"/>
          <p:cNvSpPr/>
          <p:nvPr/>
        </p:nvSpPr>
        <p:spPr>
          <a:xfrm>
            <a:off x="411480" y="5504688"/>
            <a:ext cx="10332720" cy="658368"/>
          </a:xfrm>
          <a:prstGeom prst="roundRect">
            <a:avLst>
              <a:gd name="adj" fmla="val 4500"/>
            </a:avLst>
          </a:prstGeom>
          <a:solidFill>
            <a:srgbClr val="FE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67512" y="5650992"/>
            <a:ext cx="9784080" cy="411480"/>
          </a:xfrm>
          <a:prstGeom prst="rect">
            <a:avLst/>
          </a:prstGeom>
          <a:noFill/>
        </p:spPr>
        <p:txBody>
          <a:bodyPr wrap="square" lIns="0" tIns="0" rIns="0" bIns="0">
            <a:spAutoFit/>
          </a:bodyPr>
          <a:lstStyle/>
          <a:p>
            <a:pPr algn="l">
              <a:spcAft>
                <a:spcPts val="600"/>
              </a:spcAft>
            </a:pPr>
            <a:r>
              <a:rPr sz="1600" b="1" i="0">
                <a:solidFill>
                  <a:srgbClr val="FF5620"/>
                </a:solidFill>
                <a:latin typeface="Segoe UI Semibold"/>
              </a:rPr>
              <a:t>Öneri: bir modül, bir hafta, sıfır lisans maliyeti. Sonucu birlikte değerlendirelim.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788920"/>
            <a:ext cx="12191695" cy="914400"/>
          </a:xfrm>
          <a:prstGeom prst="rect">
            <a:avLst/>
          </a:prstGeom>
          <a:noFill/>
        </p:spPr>
        <p:txBody>
          <a:bodyPr wrap="square" lIns="0" tIns="0" rIns="0" bIns="0">
            <a:spAutoFit/>
          </a:bodyPr>
          <a:lstStyle/>
          <a:p>
            <a:pPr algn="ctr">
              <a:spcAft>
                <a:spcPts val="600"/>
              </a:spcAft>
            </a:pPr>
            <a:r>
              <a:rPr sz="4000" b="1" i="0">
                <a:solidFill>
                  <a:srgbClr val="002D7A"/>
                </a:solidFill>
                <a:latin typeface="Segoe UI Black"/>
              </a:rPr>
              <a:t>TEŞEKKÜRLER</a:t>
            </a:r>
          </a:p>
        </p:txBody>
      </p:sp>
    </p:spTree>
  </p:cSld>
  <p:clrMapOvr>
    <a:masterClrMapping/>
  </p:clrMapOvr>
</p:sld>
</file>

<file path=ppt/theme/theme1.xml><?xml version="1.0" encoding="utf-8"?>
<a:theme xmlns:a="http://schemas.openxmlformats.org/drawingml/2006/main" name="Office Teması">
  <a:themeElements>
    <a:clrScheme name="Custom 3">
      <a:dk1>
        <a:srgbClr val="3F3F3F"/>
      </a:dk1>
      <a:lt1>
        <a:srgbClr val="FFFFFF"/>
      </a:lt1>
      <a:dk2>
        <a:srgbClr val="003087"/>
      </a:dk2>
      <a:lt2>
        <a:srgbClr val="F7931D"/>
      </a:lt2>
      <a:accent1>
        <a:srgbClr val="003087"/>
      </a:accent1>
      <a:accent2>
        <a:srgbClr val="F7931D"/>
      </a:accent2>
      <a:accent3>
        <a:srgbClr val="0088EE"/>
      </a:accent3>
      <a:accent4>
        <a:srgbClr val="0070C0"/>
      </a:accent4>
      <a:accent5>
        <a:srgbClr val="C76F07"/>
      </a:accent5>
      <a:accent6>
        <a:srgbClr val="FABE77"/>
      </a:accent6>
      <a:hlink>
        <a:srgbClr val="003087"/>
      </a:hlink>
      <a:folHlink>
        <a:srgbClr val="F7931D"/>
      </a:folHlink>
    </a:clrScheme>
    <a:fontScheme name="UGES">
      <a:majorFont>
        <a:latin typeface="Posterama"/>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51addbf6-cd97-4f3e-bcc7-a2381a20af9f">AKVJQPKRQQH7-344864422-441</_dlc_DocId>
    <_dlc_DocIdUrl xmlns="51addbf6-cd97-4f3e-bcc7-a2381a20af9f">
      <Url>https://ebilgi.aselsan.com.tr/gnysite/fbyon/kim/_layouts/15/DocIdRedir.aspx?ID=AKVJQPKRQQH7-344864422-441</Url>
      <Description>AKVJQPKRQQH7-344864422-441</Description>
    </_dlc_DocIdUrl>
    <PublishingExpirationDate xmlns="http://schemas.microsoft.com/sharepoint/v3" xsi:nil="true"/>
    <PublishingStartDate xmlns="http://schemas.microsoft.com/sharepoint/v3" xsi:nil="true"/>
    <SharedWithUsers xmlns="800cdfac-3bb6-46ea-8cac-b3a86bc27941">
      <UserInfo>
        <DisplayName>Evrim Ayşen ANIL</DisplayName>
        <AccountId>13715</AccountId>
        <AccountType/>
      </UserInfo>
      <UserInfo>
        <DisplayName>Başak NALBANTOĞLU</DisplayName>
        <AccountId>18177</AccountId>
        <AccountType/>
      </UserInfo>
      <UserInfo>
        <DisplayName>Can Onur GERGER</DisplayName>
        <AccountId>917</AccountId>
        <AccountType/>
      </UserInfo>
      <UserInfo>
        <DisplayName>Battal ACAR</DisplayName>
        <AccountId>25627</AccountId>
        <AccountType/>
      </UserInfo>
      <UserInfo>
        <DisplayName>Ali KÜÇÜKÖZKUL</DisplayName>
        <AccountId>19562</AccountId>
        <AccountType/>
      </UserInfo>
      <UserInfo>
        <DisplayName>Yasin DEMİR</DisplayName>
        <AccountId>19432</AccountId>
        <AccountType/>
      </UserInfo>
      <UserInfo>
        <DisplayName>Oğuzhan DAŞTAN</DisplayName>
        <AccountId>29242</AccountId>
        <AccountType/>
      </UserInfo>
      <UserInfo>
        <DisplayName>Ali Serhat YILMAZ</DisplayName>
        <AccountId>20754</AccountId>
        <AccountType/>
      </UserInfo>
      <UserInfo>
        <DisplayName>Esra AYTEPE</DisplayName>
        <AccountId>22559</AccountId>
        <AccountType/>
      </UserInfo>
      <UserInfo>
        <DisplayName>İbrahim Can TEMİZ</DisplayName>
        <AccountId>31643</AccountId>
        <AccountType/>
      </UserInfo>
      <UserInfo>
        <DisplayName>Zühre YILMAZER</DisplayName>
        <AccountId>99</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FBD396816AEB941A00F4DC137BAFD8F" ma:contentTypeVersion="3" ma:contentTypeDescription="Create a new document." ma:contentTypeScope="" ma:versionID="52e952c5ef54db361ac247bb5c84aeac">
  <xsd:schema xmlns:xsd="http://www.w3.org/2001/XMLSchema" xmlns:xs="http://www.w3.org/2001/XMLSchema" xmlns:p="http://schemas.microsoft.com/office/2006/metadata/properties" xmlns:ns1="http://schemas.microsoft.com/sharepoint/v3" xmlns:ns2="51addbf6-cd97-4f3e-bcc7-a2381a20af9f" xmlns:ns3="800cdfac-3bb6-46ea-8cac-b3a86bc27941" targetNamespace="http://schemas.microsoft.com/office/2006/metadata/properties" ma:root="true" ma:fieldsID="3ee15cf3b5c84fd0120f2521fd1ca569" ns1:_="" ns2:_="" ns3:_="">
    <xsd:import namespace="http://schemas.microsoft.com/sharepoint/v3"/>
    <xsd:import namespace="51addbf6-cd97-4f3e-bcc7-a2381a20af9f"/>
    <xsd:import namespace="800cdfac-3bb6-46ea-8cac-b3a86bc27941"/>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 ma:hidden="true" ma:internalName="PublishingStartDate">
      <xsd:simpleType>
        <xsd:restriction base="dms:Unknown"/>
      </xsd:simpleType>
    </xsd:element>
    <xsd:element name="PublishingExpirationDate" ma:index="12"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1addbf6-cd97-4f3e-bcc7-a2381a20af9f"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00cdfac-3bb6-46ea-8cac-b3a86bc2794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titus xmlns="http://schemas.titus.com/TitusProperties/">
  <TitusGUID xmlns="">d45359ed-079b-4ac9-b049-57dad483a8a6</TitusGUID>
  <TitusMetadata xmlns="">eyJucyI6IkFTRUxTQU4iLCJwcm9wcyI6W3sibiI6IkxBTkdVQUdFIiwidmFscyI6W3sidmFsdWUiOiJUUiJ9XX0seyJuIjoiQ0FURUdPUlkiLCJ2YWxzIjpbeyJ2YWx1ZSI6IkNUMSJ9XX0seyJuIjoiTUlMTElDTEFTU0lGSUNBVElPTiIsInZhbHMiOlt7InZhbHVlIjoiQUhjMm4zQjlzIn1dfSx7Im4iOiJOQVRPQ0xBU1NJRklDQVRJT04iLCJ2YWxzIjpbXX0seyJuIjoiS1ZLSyIsInZhbHMiOlt7InZhbHVlIjoiQTY1dmVFN0FLIn1dfSx7Im4iOiJMQUJFTElORyIsInZhbHMiOlt7InZhbHVlIjoiTGFiZWxpbmcyIn1dfV19</TitusMetadata>
</titus>
</file>

<file path=customXml/item5.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C709281E-227A-43E0-BF29-1716AB5499AA}">
  <ds:schemaRefs>
    <ds:schemaRef ds:uri="http://schemas.microsoft.com/office/2006/metadata/properties"/>
    <ds:schemaRef ds:uri="http://schemas.microsoft.com/office/infopath/2007/PartnerControls"/>
    <ds:schemaRef ds:uri="51addbf6-cd97-4f3e-bcc7-a2381a20af9f"/>
    <ds:schemaRef ds:uri="http://schemas.microsoft.com/sharepoint/v3"/>
    <ds:schemaRef ds:uri="800cdfac-3bb6-46ea-8cac-b3a86bc27941"/>
  </ds:schemaRefs>
</ds:datastoreItem>
</file>

<file path=customXml/itemProps2.xml><?xml version="1.0" encoding="utf-8"?>
<ds:datastoreItem xmlns:ds="http://schemas.openxmlformats.org/officeDocument/2006/customXml" ds:itemID="{78E85DD4-F03E-44EB-8DE4-4DD7C8B080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1addbf6-cd97-4f3e-bcc7-a2381a20af9f"/>
    <ds:schemaRef ds:uri="800cdfac-3bb6-46ea-8cac-b3a86bc279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C776708-A014-4D09-84CC-31521924571B}">
  <ds:schemaRefs>
    <ds:schemaRef ds:uri="http://schemas.microsoft.com/sharepoint/v3/contenttype/forms"/>
  </ds:schemaRefs>
</ds:datastoreItem>
</file>

<file path=customXml/itemProps4.xml><?xml version="1.0" encoding="utf-8"?>
<ds:datastoreItem xmlns:ds="http://schemas.openxmlformats.org/officeDocument/2006/customXml" ds:itemID="{874ECE91-D256-41A1-98BD-156FDEEA250B}">
  <ds:schemaRefs>
    <ds:schemaRef ds:uri="http://schemas.titus.com/TitusProperties/"/>
    <ds:schemaRef ds:uri=""/>
  </ds:schemaRefs>
</ds:datastoreItem>
</file>

<file path=customXml/itemProps5.xml><?xml version="1.0" encoding="utf-8"?>
<ds:datastoreItem xmlns:ds="http://schemas.openxmlformats.org/officeDocument/2006/customXml" ds:itemID="{DE7B94FA-DB44-42E5-86CF-1299DE871408}">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TotalTime>15391</TotalTime>
  <Words>6332</Words>
  <Application>Microsoft Office PowerPoint</Application>
  <PresentationFormat>Geniş ekran</PresentationFormat>
  <Paragraphs>838</Paragraphs>
  <Slides>42</Slides>
  <Notes>0</Notes>
  <HiddenSlides>0</HiddenSlides>
  <MMClips>0</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42</vt:i4>
      </vt:variant>
    </vt:vector>
  </HeadingPairs>
  <TitlesOfParts>
    <vt:vector size="51" baseType="lpstr">
      <vt:lpstr>Calibri</vt:lpstr>
      <vt:lpstr>Segoe UI</vt:lpstr>
      <vt:lpstr>Segoe UI Semibold</vt:lpstr>
      <vt:lpstr>Source Sans Pro</vt:lpstr>
      <vt:lpstr>Consolas</vt:lpstr>
      <vt:lpstr>Segoe UI Black</vt:lpstr>
      <vt:lpstr>Arial</vt:lpstr>
      <vt:lpstr>Posterama</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ASELSAN</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ASELSAN</dc:title>
  <dc:subject>ASELSAN</dc:subject>
  <dc:creator>Cemil Seyis</dc:creator>
  <cp:keywords>Gizlilik Derecesini Seçiniz</cp:keywords>
  <cp:lastModifiedBy>Eren GEÇER</cp:lastModifiedBy>
  <cp:revision>345</cp:revision>
  <cp:lastPrinted>2024-07-04T05:35:52Z</cp:lastPrinted>
  <dcterms:created xsi:type="dcterms:W3CDTF">2022-10-12T20:35:02Z</dcterms:created>
  <dcterms:modified xsi:type="dcterms:W3CDTF">2026-08-23T15:15:49Z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d45359ed-079b-4ac9-b049-57dad483a8a6</vt:lpwstr>
  </property>
  <property fmtid="{D5CDD505-2E9C-101B-9397-08002B2CF9AE}" pid="3" name="LANGUAGE">
    <vt:lpwstr>TR</vt:lpwstr>
  </property>
  <property fmtid="{D5CDD505-2E9C-101B-9397-08002B2CF9AE}" pid="4" name="CATEGORY">
    <vt:lpwstr>CT1</vt:lpwstr>
  </property>
  <property fmtid="{D5CDD505-2E9C-101B-9397-08002B2CF9AE}" pid="5" name="MILLICLASSIFICATION">
    <vt:lpwstr>AHc2n3B9s</vt:lpwstr>
  </property>
  <property fmtid="{D5CDD505-2E9C-101B-9397-08002B2CF9AE}" pid="6" name="KVKK">
    <vt:lpwstr>A65veE7AK</vt:lpwstr>
  </property>
  <property fmtid="{D5CDD505-2E9C-101B-9397-08002B2CF9AE}" pid="7" name="LABELING">
    <vt:lpwstr>Labeling2</vt:lpwstr>
  </property>
  <property fmtid="{D5CDD505-2E9C-101B-9397-08002B2CF9AE}" pid="8" name="ContentTypeId">
    <vt:lpwstr>0x0101003FBD396816AEB941A00F4DC137BAFD8F</vt:lpwstr>
  </property>
  <property fmtid="{D5CDD505-2E9C-101B-9397-08002B2CF9AE}" pid="9" name="_dlc_DocIdItemGuid">
    <vt:lpwstr>ac6551ba-a4aa-4dca-93a3-ba935f5f2ac3</vt:lpwstr>
  </property>
</Properties>
</file>